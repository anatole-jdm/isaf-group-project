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First stop of the day</c:v>
                </c:pt>
              </c:strCache>
            </c:strRef>
          </c:tx>
          <c:spPr>
            <a:solidFill>
              <a:srgbClr val="1976D2"/>
            </a:solidFill>
          </c:spPr>
          <c:cat>
            <c:strRef>
              <c:f>Sheet1!$A$2:$A$7</c:f>
              <c:strCache>
                <c:ptCount val="6"/>
                <c:pt idx="0">
                  <c:v>00–03</c:v>
                </c:pt>
                <c:pt idx="1">
                  <c:v>04–07</c:v>
                </c:pt>
                <c:pt idx="2">
                  <c:v>08–11</c:v>
                </c:pt>
                <c:pt idx="3">
                  <c:v>12–15</c:v>
                </c:pt>
                <c:pt idx="4">
                  <c:v>16–19</c:v>
                </c:pt>
                <c:pt idx="5">
                  <c:v>20–23</c:v>
                </c:pt>
              </c:strCache>
            </c:strRef>
          </c:cat>
          <c:val>
            <c:numRef>
              <c:f>Sheet1!$B$2:$B$7</c:f>
              <c:numCache>
                <c:formatCode>General</c:formatCode>
                <c:ptCount val="6"/>
                <c:pt idx="0">
                  <c:v>0.2026</c:v>
                </c:pt>
                <c:pt idx="1">
                  <c:v>0.2483</c:v>
                </c:pt>
                <c:pt idx="2">
                  <c:v>0.1541</c:v>
                </c:pt>
                <c:pt idx="3">
                  <c:v>0.2272</c:v>
                </c:pt>
                <c:pt idx="4">
                  <c:v>0.2361</c:v>
                </c:pt>
                <c:pt idx="5">
                  <c:v>0.1976</c:v>
                </c:pt>
              </c:numCache>
            </c:numRef>
          </c:val>
        </c:ser>
        <c:ser>
          <c:idx val="1"/>
          <c:order val="1"/>
          <c:tx>
            <c:strRef>
              <c:f>Sheet1!$C$1</c:f>
              <c:strCache>
                <c:ptCount val="1"/>
                <c:pt idx="0">
                  <c:v>Later stops</c:v>
                </c:pt>
              </c:strCache>
            </c:strRef>
          </c:tx>
          <c:spPr>
            <a:solidFill>
              <a:srgbClr val="B0B8BE"/>
            </a:solidFill>
          </c:spPr>
          <c:cat>
            <c:strRef>
              <c:f>Sheet1!$A$2:$A$7</c:f>
              <c:strCache>
                <c:ptCount val="6"/>
                <c:pt idx="0">
                  <c:v>00–03</c:v>
                </c:pt>
                <c:pt idx="1">
                  <c:v>04–07</c:v>
                </c:pt>
                <c:pt idx="2">
                  <c:v>08–11</c:v>
                </c:pt>
                <c:pt idx="3">
                  <c:v>12–15</c:v>
                </c:pt>
                <c:pt idx="4">
                  <c:v>16–19</c:v>
                </c:pt>
                <c:pt idx="5">
                  <c:v>20–23</c:v>
                </c:pt>
              </c:strCache>
            </c:strRef>
          </c:cat>
          <c:val>
            <c:numRef>
              <c:f>Sheet1!$C$2:$C$7</c:f>
              <c:numCache>
                <c:formatCode>General</c:formatCode>
                <c:ptCount val="6"/>
                <c:pt idx="0">
                  <c:v>0.1506</c:v>
                </c:pt>
                <c:pt idx="1">
                  <c:v>0.1929</c:v>
                </c:pt>
                <c:pt idx="2">
                  <c:v>0.1042</c:v>
                </c:pt>
                <c:pt idx="3">
                  <c:v>0.1623</c:v>
                </c:pt>
                <c:pt idx="4">
                  <c:v>0.1548</c:v>
                </c:pt>
                <c:pt idx="5">
                  <c:v>0.1699</c:v>
                </c:pt>
              </c:numCache>
            </c:numRef>
          </c:val>
        </c:ser>
        <c:dLbls>
          <c:numFmt formatCode="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EE3"/>
            </a:solidFill>
          </a:ln>
        </c:sp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legend>
      <c:legendPos val="t"/>
      <c:overlay val="0"/>
    </c:legend>
    <c:dispBlanksAs val="gap"/>
  </c:chart>
  <c:txPr>
    <a:bodyPr/>
    <a:lstStyle/>
    <a:p>
      <a:pPr>
        <a:defRPr sz="105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MNPD asked us a simple question: can a scoring model tell officers which traffic stops are worth a consent search? We built the score three ways, a white box, XGBoost and a tabular foundation model, and tested each on performance, interpretability, stability and fairness. The answer is not the one the client expected, and that is what makes it useful.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Nashville recorded 3.08 million traffic stops from 2010 to 2018. About 4% led to a search, and almost half of those were consent searches: no warrant, no probable cause, the driver agrees. 83% of them found nothing. Each fruitless search costs officer time, the driver's time and dignity, and community trust, and MNPD's searches have documented racial disparities. Our success criteria: fewer fruitless searches, finds preserved, no discrimination, and a tool explainable to a driver, a court and the oversight board.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consent searches only? The outcome test, comparing hit rates by race, depends on the legal basis. Where the officer judges the driver, probable cause or consent, searches of Black drivers find less: minus 16 and minus 5 points. Mechanical searches after an arrest don't. Pooled together, the sign flips: you would conclude, wrongly, that Black drivers are searched on better evidence. We train on 2010 to 2015 and test on 2016 to 2018, with 20% of officers never seen in training. And one fact shapes everything: we only observe contraband when an officer chose to search.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train on the 49,752 consent searches of 2010 to 2015 and test on the 9,113 of 2016 to 2018. For a fair comparison, all three models are trained on the same random 2,000 training searches, the most TabPFN could run on CPU; the right-hand column shows each model on all 49,752 rows. AUCs are 0.53 to 0.55, next to the 0.50 of a coin flip, and none beats a constant prediction on the Brier score. XGBoost and TabPFN are statistically tied; the white box is 0.015 to 0.020 below. Economically, keeping the 2,000 top-scored searches, the best model finds 509 where random ranking finds 427: 82 more finds, for 1,491 innocent drivers searched. With all the training data the AUCs rise only to 0.55 to 0.57: it is the information, not the model. Note the two different 2,000s: 2,000 training rows, and a budget of 2,000 searches out of 9,113.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 the models learn? The same stop and driver features predict the driver's race at AUC 0.69 to 0.73, far better than they predict contraband. In the white box, race is 73.5% of the above-chance signal; its largest coefficient is 'driver Hispanic'. TabPFN's largest feature is race, fifteen times its weight in XGBoost. And explanations: the white box is its own explanation; XGBoost has exact SHAP; TabPFN only has approximations. XGBoost and TabPFN reach the same AUC for opposite reasons: their importance rankings correlate at minus 0.32.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problem before we get to what actually matters: none of these models is stable. If we retrain on a slightly different random sample of the same years, about 93% of the 200 highest-scored searches change. A stop flagged as high-risk today might not be flagged tomorrow, for the exact same driver and officer, just because the training data shifted a little. TabPFN is the most sensitive: which historical searches happen to be in its memory moves its score by more than the entire gap between all three models. A model whose shortlist changes every time you retrain it is not something officers or a court can rely 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the task fail? Contraband is only seen when an officer chose to search, so we gave the models the searching officer's own past record. Every family gains 0.07 AUC, on officers never seen in training, in every year. But an officer decides among their own stops. Measured inside each officer's own searches, the white box with the record is at 0.50, a coin flip, and XGBoost at 0.555. The record tells you which officer, never which driver. So we use it to explain where outcomes come from, not as an input to deploy.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officer record, the white box is 19 readable rules. 81% of their weight involves the officer: first the officer's past consent hit rate, then a poor record on this driver's race and overall, an experienced officer at their first stop of the day, a search within two hours of the previous one. Driver race is still there, at 8% each. XGBoost agrees: 62% of its SHAP attribution is the officer record. On the right, one decision made exact: the two highest-scored test searches. Same score, same reasons, almost all from the officer's record. One found contraband, one found nothing. The score describes who searches.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describe the records, no model. Group the 2016 to 2018 searches by the searching officer's past consent hit rate. The lowest fifth, made by 140 officers, finds contraband 12% of the time, against 21% for the median fifth, and searches Hispanic drivers twice as often. Compare each officer with themselves: the median officer asks Black drivers for consent 1.4 times as often as white drivers, Hispanic drivers 2.3 times. The more skewed the officer, the less they find, on white drivers too. We say 'consistent with a lower evidentiary bar', never intent.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last problem, and this one no model can fix. Historically, searches of white drivers found something more often than searches of Black or Hispanic drivers: 25.5% versus 19.5% versus 15.1%. So any model that just chases accuracy learns to copy that pattern, and mostly flags white drivers. TabPFN does this worst: 56.5% of white drivers flagged against 1.7% of Black drivers. So, obvious idea: hide the driver's race from the model. Does that fix it? Only halfway. It does flag groups more evenly. But now, among the drivers it flags, the Black and Hispanic ones are 5 to 7 points less likely to actually be carrying anything than the white ones it flags. It swapped one unfairness for another. The reason is simple: you cannot force a model to treat groups equally AND to be equally right about each of them, when the groups' true rates already differ in the data. That is not a modelling mistake. It means the fix has to happen upstream, in how searches are decided, not inside the model. That is exactly what our recommendation targets, next.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the three side by side and accuracy is almost a wash: the two black boxes are statistically tied, and the white box gives up only a small amount. What actually separates them: only the white box explains itself exactly, its results hold up best when retrained, it runs on any laptop, and no stop data ever leaves MNPD. Fairness fails for all three, for the reason we just saw, so that row is not a point in anyone's favour.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should MNPD do? Not put a score in officers' hands: at the roadside the best model is at chance inside an officer's own stops, and without the officer record its signal is race. What a model can do is support a review of consent-search practice. Each quarter, supervisors see, per officer, the consent-search rate, the hit rate with an interval, the ratios and hit-rate gaps by race, and a white-box benchmark for the stops they made. The value: had the least successful fifth of searches reached the median hit rate, about 764 fewer fruitless searches, two thirds of them of Black or Hispanic drivers. Why the white box: a review of people's conduct must be exact and contestable.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our five answers. No model predicts a successful consent search usefully. What they learn is mostly race, and only the white box is exact. Their shortlists are unstable, and no version treats every group fairly. Outcomes come from search practice. So: no roadside score, and the white box in an officer-level review. This also happens to satisfy the trustworthy-AI checklist the course asks for: a human stays in charge, the method is published, and the target is the practice that produces the disparity, not the drivers. We ask MNPD to approve a six-month pilot: human review only, retrained every year, published to the oversight board.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417320"/>
            <a:ext cx="6949440" cy="274320"/>
          </a:xfrm>
          <a:prstGeom prst="rect">
            <a:avLst/>
          </a:prstGeom>
          <a:noFill/>
        </p:spPr>
        <p:txBody>
          <a:bodyPr wrap="square" lIns="0" rIns="0" tIns="0" bIns="0" anchor="t">
            <a:spAutoFit/>
          </a:bodyPr>
          <a:lstStyle/>
          <a:p>
            <a:pPr algn="l"/>
            <a:r>
              <a:rPr sz="1300" b="1" i="0">
                <a:solidFill>
                  <a:srgbClr val="1976D2"/>
                </a:solidFill>
                <a:latin typeface="Arial"/>
              </a:rPr>
              <a:t>HEC Paris · ISAF group project · Client: Metro Nashville Police Department (role play)</a:t>
            </a:r>
          </a:p>
        </p:txBody>
      </p:sp>
      <p:sp>
        <p:nvSpPr>
          <p:cNvPr id="3" name="TextBox 2"/>
          <p:cNvSpPr txBox="1"/>
          <p:nvPr/>
        </p:nvSpPr>
        <p:spPr>
          <a:xfrm>
            <a:off x="548640" y="1828800"/>
            <a:ext cx="6949440" cy="1737360"/>
          </a:xfrm>
          <a:prstGeom prst="rect">
            <a:avLst/>
          </a:prstGeom>
          <a:noFill/>
        </p:spPr>
        <p:txBody>
          <a:bodyPr wrap="square" lIns="0" rIns="0" tIns="0" bIns="0" anchor="t">
            <a:spAutoFit/>
          </a:bodyPr>
          <a:lstStyle/>
          <a:p>
            <a:pPr algn="l"/>
            <a:r>
              <a:rPr sz="4000" b="1" i="0">
                <a:solidFill>
                  <a:srgbClr val="222222"/>
                </a:solidFill>
                <a:latin typeface="Arial"/>
              </a:rPr>
              <a:t>Can a model tell an officer whom to search?</a:t>
            </a:r>
          </a:p>
        </p:txBody>
      </p:sp>
      <p:sp>
        <p:nvSpPr>
          <p:cNvPr id="4" name="TextBox 3"/>
          <p:cNvSpPr txBox="1"/>
          <p:nvPr/>
        </p:nvSpPr>
        <p:spPr>
          <a:xfrm>
            <a:off x="548640" y="3611880"/>
            <a:ext cx="6766560" cy="822960"/>
          </a:xfrm>
          <a:prstGeom prst="rect">
            <a:avLst/>
          </a:prstGeom>
          <a:noFill/>
        </p:spPr>
        <p:txBody>
          <a:bodyPr wrap="square" lIns="0" rIns="0" tIns="0" bIns="0" anchor="t">
            <a:spAutoFit/>
          </a:bodyPr>
          <a:lstStyle/>
          <a:p>
            <a:pPr algn="l"/>
            <a:r>
              <a:rPr sz="1800" b="0" i="0">
                <a:solidFill>
                  <a:srgbClr val="6B7C85"/>
                </a:solidFill>
                <a:latin typeface="Arial"/>
              </a:rPr>
              <a:t>Scoring consent searches in Nashville: three models, four tests, one recommendation</a:t>
            </a:r>
          </a:p>
        </p:txBody>
      </p:sp>
      <p:sp>
        <p:nvSpPr>
          <p:cNvPr id="5" name="TextBox 4"/>
          <p:cNvSpPr txBox="1"/>
          <p:nvPr/>
        </p:nvSpPr>
        <p:spPr>
          <a:xfrm>
            <a:off x="548640" y="5989320"/>
            <a:ext cx="6949440" cy="457200"/>
          </a:xfrm>
          <a:prstGeom prst="rect">
            <a:avLst/>
          </a:prstGeom>
          <a:noFill/>
        </p:spPr>
        <p:txBody>
          <a:bodyPr wrap="square" lIns="0" rIns="0" tIns="0" bIns="0" anchor="t">
            <a:spAutoFit/>
          </a:bodyPr>
          <a:lstStyle/>
          <a:p>
            <a:pPr algn="l"/>
            <a:r>
              <a:rPr sz="1000" b="0" i="0">
                <a:solidFill>
                  <a:srgbClr val="6B7C85"/>
                </a:solidFill>
                <a:latin typeface="Arial"/>
              </a:rPr>
              <a:t>Data: Stanford Open Policing Project, Nashville traffic stops 2010–2018</a:t>
            </a:r>
          </a:p>
          <a:p>
            <a:pPr algn="l"/>
            <a:r>
              <a:rPr sz="1000" b="0" i="0">
                <a:solidFill>
                  <a:srgbClr val="6B7C85"/>
                </a:solidFill>
                <a:latin typeface="Arial"/>
              </a:rPr>
              <a:t>28 September 2026 · Team: xx</a:t>
            </a:r>
          </a:p>
        </p:txBody>
      </p:sp>
      <p:sp>
        <p:nvSpPr>
          <p:cNvPr id="6" name="TextBox 5"/>
          <p:cNvSpPr txBox="1"/>
          <p:nvPr/>
        </p:nvSpPr>
        <p:spPr>
          <a:xfrm>
            <a:off x="7589520" y="1874520"/>
            <a:ext cx="3657600" cy="274320"/>
          </a:xfrm>
          <a:prstGeom prst="rect">
            <a:avLst/>
          </a:prstGeom>
          <a:noFill/>
        </p:spPr>
        <p:txBody>
          <a:bodyPr wrap="square" lIns="0" rIns="0" tIns="0" bIns="0" anchor="t">
            <a:spAutoFit/>
          </a:bodyPr>
          <a:lstStyle/>
          <a:p>
            <a:pPr algn="l"/>
            <a:r>
              <a:rPr sz="1200" b="1" i="0">
                <a:solidFill>
                  <a:srgbClr val="222222"/>
                </a:solidFill>
                <a:latin typeface="Arial"/>
              </a:rPr>
              <a:t>How we evaluate each model</a:t>
            </a:r>
          </a:p>
        </p:txBody>
      </p:sp>
      <p:sp>
        <p:nvSpPr>
          <p:cNvPr id="7" name="TextBox 6"/>
          <p:cNvSpPr txBox="1"/>
          <p:nvPr/>
        </p:nvSpPr>
        <p:spPr>
          <a:xfrm>
            <a:off x="8731098" y="2286000"/>
            <a:ext cx="807514" cy="411480"/>
          </a:xfrm>
          <a:prstGeom prst="rect">
            <a:avLst/>
          </a:prstGeom>
          <a:noFill/>
        </p:spPr>
        <p:txBody>
          <a:bodyPr wrap="square" lIns="0" rIns="0" tIns="0" bIns="0" anchor="b">
            <a:spAutoFit/>
          </a:bodyPr>
          <a:lstStyle/>
          <a:p>
            <a:pPr algn="ctr"/>
            <a:r>
              <a:rPr sz="760" b="0" i="0">
                <a:solidFill>
                  <a:srgbClr val="6B7C85"/>
                </a:solidFill>
                <a:latin typeface="Arial"/>
              </a:rPr>
              <a:t>Performance</a:t>
            </a:r>
          </a:p>
        </p:txBody>
      </p:sp>
      <p:sp>
        <p:nvSpPr>
          <p:cNvPr id="8" name="TextBox 7"/>
          <p:cNvSpPr txBox="1"/>
          <p:nvPr/>
        </p:nvSpPr>
        <p:spPr>
          <a:xfrm>
            <a:off x="9516872" y="2286000"/>
            <a:ext cx="735583" cy="411480"/>
          </a:xfrm>
          <a:prstGeom prst="rect">
            <a:avLst/>
          </a:prstGeom>
          <a:noFill/>
        </p:spPr>
        <p:txBody>
          <a:bodyPr wrap="square" lIns="0" rIns="0" tIns="0" bIns="0" anchor="b">
            <a:spAutoFit/>
          </a:bodyPr>
          <a:lstStyle/>
          <a:p>
            <a:pPr algn="ctr"/>
            <a:r>
              <a:rPr sz="760" b="0" i="0">
                <a:solidFill>
                  <a:srgbClr val="6B7C85"/>
                </a:solidFill>
                <a:latin typeface="Arial"/>
              </a:rPr>
              <a:t>Interpret-ability</a:t>
            </a:r>
          </a:p>
        </p:txBody>
      </p:sp>
      <p:sp>
        <p:nvSpPr>
          <p:cNvPr id="9" name="TextBox 8"/>
          <p:cNvSpPr txBox="1"/>
          <p:nvPr/>
        </p:nvSpPr>
        <p:spPr>
          <a:xfrm>
            <a:off x="10277856" y="2286000"/>
            <a:ext cx="713232" cy="411480"/>
          </a:xfrm>
          <a:prstGeom prst="rect">
            <a:avLst/>
          </a:prstGeom>
          <a:noFill/>
        </p:spPr>
        <p:txBody>
          <a:bodyPr wrap="square" lIns="0" rIns="0" tIns="0" bIns="0" anchor="b">
            <a:spAutoFit/>
          </a:bodyPr>
          <a:lstStyle/>
          <a:p>
            <a:pPr algn="ctr"/>
            <a:r>
              <a:rPr sz="760" b="0" i="0">
                <a:solidFill>
                  <a:srgbClr val="6B7C85"/>
                </a:solidFill>
                <a:latin typeface="Arial"/>
              </a:rPr>
              <a:t>Stability</a:t>
            </a:r>
          </a:p>
        </p:txBody>
      </p:sp>
      <p:sp>
        <p:nvSpPr>
          <p:cNvPr id="10" name="TextBox 9"/>
          <p:cNvSpPr txBox="1"/>
          <p:nvPr/>
        </p:nvSpPr>
        <p:spPr>
          <a:xfrm>
            <a:off x="11027664" y="2286000"/>
            <a:ext cx="713232" cy="411480"/>
          </a:xfrm>
          <a:prstGeom prst="rect">
            <a:avLst/>
          </a:prstGeom>
          <a:noFill/>
        </p:spPr>
        <p:txBody>
          <a:bodyPr wrap="square" lIns="0" rIns="0" tIns="0" bIns="0" anchor="b">
            <a:spAutoFit/>
          </a:bodyPr>
          <a:lstStyle/>
          <a:p>
            <a:pPr algn="ctr"/>
            <a:r>
              <a:rPr sz="760" b="0" i="0">
                <a:solidFill>
                  <a:srgbClr val="6B7C85"/>
                </a:solidFill>
                <a:latin typeface="Arial"/>
              </a:rPr>
              <a:t>Fairness</a:t>
            </a:r>
          </a:p>
        </p:txBody>
      </p:sp>
      <p:sp>
        <p:nvSpPr>
          <p:cNvPr id="11" name="Oval 10"/>
          <p:cNvSpPr/>
          <p:nvPr/>
        </p:nvSpPr>
        <p:spPr>
          <a:xfrm>
            <a:off x="7607808" y="2944368"/>
            <a:ext cx="146304" cy="146304"/>
          </a:xfrm>
          <a:prstGeom prst="ellipse">
            <a:avLst/>
          </a:prstGeom>
          <a:solidFill>
            <a:srgbClr val="1976D2"/>
          </a:solidFill>
          <a:ln w="22225">
            <a:solidFill>
              <a:srgbClr val="197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45552" y="2907792"/>
            <a:ext cx="1005840" cy="228600"/>
          </a:xfrm>
          <a:prstGeom prst="rect">
            <a:avLst/>
          </a:prstGeom>
          <a:noFill/>
        </p:spPr>
        <p:txBody>
          <a:bodyPr wrap="square" lIns="0" rIns="0" tIns="0" bIns="0" anchor="t">
            <a:spAutoFit/>
          </a:bodyPr>
          <a:lstStyle/>
          <a:p>
            <a:pPr algn="l"/>
            <a:r>
              <a:rPr sz="1100" b="1" i="0">
                <a:solidFill>
                  <a:srgbClr val="222222"/>
                </a:solidFill>
                <a:latin typeface="Arial"/>
              </a:rPr>
              <a:t>White box</a:t>
            </a:r>
          </a:p>
        </p:txBody>
      </p:sp>
      <p:sp>
        <p:nvSpPr>
          <p:cNvPr id="13" name="Rectangle 12"/>
          <p:cNvSpPr/>
          <p:nvPr/>
        </p:nvSpPr>
        <p:spPr>
          <a:xfrm>
            <a:off x="8814816" y="2807208"/>
            <a:ext cx="640080" cy="420624"/>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564624" y="2807208"/>
            <a:ext cx="640080" cy="420624"/>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314432" y="2807208"/>
            <a:ext cx="640080" cy="420624"/>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064240" y="2807208"/>
            <a:ext cx="640080" cy="420624"/>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07808" y="3511296"/>
            <a:ext cx="146304" cy="146304"/>
          </a:xfrm>
          <a:prstGeom prst="ellipse">
            <a:avLst/>
          </a:prstGeom>
          <a:solidFill>
            <a:srgbClr val="5E6B75"/>
          </a:solidFill>
          <a:ln w="22225">
            <a:solidFill>
              <a:srgbClr val="5E6B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45552" y="3474720"/>
            <a:ext cx="1005840" cy="228600"/>
          </a:xfrm>
          <a:prstGeom prst="rect">
            <a:avLst/>
          </a:prstGeom>
          <a:noFill/>
        </p:spPr>
        <p:txBody>
          <a:bodyPr wrap="square" lIns="0" rIns="0" tIns="0" bIns="0" anchor="t">
            <a:spAutoFit/>
          </a:bodyPr>
          <a:lstStyle/>
          <a:p>
            <a:pPr algn="l"/>
            <a:r>
              <a:rPr sz="1100" b="1" i="0">
                <a:solidFill>
                  <a:srgbClr val="222222"/>
                </a:solidFill>
                <a:latin typeface="Arial"/>
              </a:rPr>
              <a:t>XGBoost</a:t>
            </a:r>
          </a:p>
        </p:txBody>
      </p:sp>
      <p:sp>
        <p:nvSpPr>
          <p:cNvPr id="19" name="Rectangle 18"/>
          <p:cNvSpPr/>
          <p:nvPr/>
        </p:nvSpPr>
        <p:spPr>
          <a:xfrm>
            <a:off x="8814816" y="3374136"/>
            <a:ext cx="640080" cy="420624"/>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564624" y="3374136"/>
            <a:ext cx="640080" cy="420624"/>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314432" y="3374136"/>
            <a:ext cx="640080" cy="420624"/>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064240" y="3374136"/>
            <a:ext cx="640080" cy="420624"/>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607808" y="4078224"/>
            <a:ext cx="146304" cy="146304"/>
          </a:xfrm>
          <a:prstGeom prst="ellipse">
            <a:avLst/>
          </a:prstGeom>
          <a:solidFill>
            <a:srgbClr val="98C1EB"/>
          </a:solidFill>
          <a:ln w="22225">
            <a:solidFill>
              <a:srgbClr val="98C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45552" y="4041648"/>
            <a:ext cx="1005840" cy="228600"/>
          </a:xfrm>
          <a:prstGeom prst="rect">
            <a:avLst/>
          </a:prstGeom>
          <a:noFill/>
        </p:spPr>
        <p:txBody>
          <a:bodyPr wrap="square" lIns="0" rIns="0" tIns="0" bIns="0" anchor="t">
            <a:spAutoFit/>
          </a:bodyPr>
          <a:lstStyle/>
          <a:p>
            <a:pPr algn="l"/>
            <a:r>
              <a:rPr sz="1100" b="1" i="0">
                <a:solidFill>
                  <a:srgbClr val="222222"/>
                </a:solidFill>
                <a:latin typeface="Arial"/>
              </a:rPr>
              <a:t>TabPFN</a:t>
            </a:r>
          </a:p>
        </p:txBody>
      </p:sp>
      <p:sp>
        <p:nvSpPr>
          <p:cNvPr id="25" name="Rectangle 24"/>
          <p:cNvSpPr/>
          <p:nvPr/>
        </p:nvSpPr>
        <p:spPr>
          <a:xfrm>
            <a:off x="8814816" y="3941064"/>
            <a:ext cx="640080" cy="420624"/>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564624" y="3941064"/>
            <a:ext cx="640080" cy="420624"/>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14432" y="3941064"/>
            <a:ext cx="640080" cy="420624"/>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064240" y="3941064"/>
            <a:ext cx="640080" cy="420624"/>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0" y="4617720"/>
            <a:ext cx="3657600" cy="822960"/>
          </a:xfrm>
          <a:prstGeom prst="rect">
            <a:avLst/>
          </a:prstGeom>
          <a:noFill/>
        </p:spPr>
        <p:txBody>
          <a:bodyPr wrap="square" lIns="0" rIns="0" tIns="0" bIns="0" anchor="t">
            <a:spAutoFit/>
          </a:bodyPr>
          <a:lstStyle/>
          <a:p>
            <a:pPr algn="l"/>
            <a:r>
              <a:rPr sz="1050" b="0" i="0">
                <a:solidFill>
                  <a:srgbClr val="6B7C85"/>
                </a:solidFill>
                <a:latin typeface="Arial"/>
              </a:rPr>
              <a:t>Then: the trade-offs, and which model to deploy</a:t>
            </a:r>
          </a:p>
          <a:p>
            <a:pPr algn="l"/>
            <a:r>
              <a:rPr sz="1050" b="0" i="0">
                <a:solidFill>
                  <a:srgbClr val="6B7C85"/>
                </a:solidFill>
                <a:latin typeface="Arial"/>
              </a:rPr>
              <a:t>under trustworthy-AI requirements.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The client's question</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Consent searches are MNPD's most discretionary searches, and 83% of them find nothing</a:t>
            </a:r>
          </a:p>
        </p:txBody>
      </p:sp>
      <p:sp>
        <p:nvSpPr>
          <p:cNvPr id="4" name="TextBox 3"/>
          <p:cNvSpPr txBox="1"/>
          <p:nvPr/>
        </p:nvSpPr>
        <p:spPr>
          <a:xfrm>
            <a:off x="548640" y="6035040"/>
            <a:ext cx="11094415" cy="365760"/>
          </a:xfrm>
          <a:prstGeom prst="rect">
            <a:avLst/>
          </a:prstGeom>
          <a:noFill/>
        </p:spPr>
        <p:txBody>
          <a:bodyPr wrap="square" lIns="0" rIns="0" tIns="0" bIns="0" anchor="b">
            <a:spAutoFit/>
          </a:bodyPr>
          <a:lstStyle/>
          <a:p>
            <a:pPr algn="l"/>
            <a:r>
              <a:rPr sz="900" b="0" i="0">
                <a:solidFill>
                  <a:srgbClr val="6B7C85"/>
                </a:solidFill>
                <a:latin typeface="Arial"/>
              </a:rPr>
              <a:t>Consent search = consent recorded and no arrest, warrant, inventory or plain-view authority. Race as perceived by the officer. MNPD is a role-play client.</a:t>
            </a:r>
          </a:p>
        </p:txBody>
      </p:sp>
      <p:sp>
        <p:nvSpPr>
          <p:cNvPr id="5" name="TextBox 4"/>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Stanford Open Policing Project, Nashville (Pierson et al., Nature Human Behaviour 2020), ODC-By; our cleaning. MASTER §1.2, §2.</a:t>
            </a:r>
          </a:p>
        </p:txBody>
      </p:sp>
      <p:sp>
        <p:nvSpPr>
          <p:cNvPr id="6" name="TextBox 5"/>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2</a:t>
            </a:r>
          </a:p>
        </p:txBody>
      </p:sp>
      <p:sp>
        <p:nvSpPr>
          <p:cNvPr id="7" name="TextBox 6"/>
          <p:cNvSpPr txBox="1"/>
          <p:nvPr/>
        </p:nvSpPr>
        <p:spPr>
          <a:xfrm>
            <a:off x="548640" y="1554480"/>
            <a:ext cx="6949440" cy="274320"/>
          </a:xfrm>
          <a:prstGeom prst="rect">
            <a:avLst/>
          </a:prstGeom>
          <a:noFill/>
        </p:spPr>
        <p:txBody>
          <a:bodyPr wrap="square" lIns="0" rIns="0" tIns="0" bIns="0" anchor="t">
            <a:spAutoFit/>
          </a:bodyPr>
          <a:lstStyle/>
          <a:p>
            <a:pPr algn="l"/>
            <a:r>
              <a:rPr sz="1200" b="1" i="0">
                <a:solidFill>
                  <a:srgbClr val="222222"/>
                </a:solidFill>
                <a:latin typeface="Arial"/>
              </a:rPr>
              <a:t>Nashville traffic stops to consent searches, 2010–2018</a:t>
            </a:r>
          </a:p>
        </p:txBody>
      </p:sp>
      <p:sp>
        <p:nvSpPr>
          <p:cNvPr id="8" name="TextBox 7"/>
          <p:cNvSpPr txBox="1"/>
          <p:nvPr/>
        </p:nvSpPr>
        <p:spPr>
          <a:xfrm>
            <a:off x="548640" y="1874520"/>
            <a:ext cx="2011680" cy="548640"/>
          </a:xfrm>
          <a:prstGeom prst="rect">
            <a:avLst/>
          </a:prstGeom>
          <a:noFill/>
        </p:spPr>
        <p:txBody>
          <a:bodyPr wrap="square" lIns="0" rIns="0" tIns="0" bIns="0" anchor="t">
            <a:spAutoFit/>
          </a:bodyPr>
          <a:lstStyle/>
          <a:p>
            <a:pPr algn="l"/>
            <a:r>
              <a:rPr sz="3000" b="1" i="0">
                <a:solidFill>
                  <a:srgbClr val="222222"/>
                </a:solidFill>
                <a:latin typeface="Arial"/>
              </a:rPr>
              <a:t>3.08 M</a:t>
            </a:r>
          </a:p>
        </p:txBody>
      </p:sp>
      <p:sp>
        <p:nvSpPr>
          <p:cNvPr id="9" name="TextBox 8"/>
          <p:cNvSpPr txBox="1"/>
          <p:nvPr/>
        </p:nvSpPr>
        <p:spPr>
          <a:xfrm>
            <a:off x="548640" y="2468880"/>
            <a:ext cx="2103120" cy="274320"/>
          </a:xfrm>
          <a:prstGeom prst="rect">
            <a:avLst/>
          </a:prstGeom>
          <a:noFill/>
        </p:spPr>
        <p:txBody>
          <a:bodyPr wrap="square" lIns="0" rIns="0" tIns="0" bIns="0" anchor="t">
            <a:spAutoFit/>
          </a:bodyPr>
          <a:lstStyle/>
          <a:p>
            <a:pPr algn="l"/>
            <a:r>
              <a:rPr sz="1100" b="0" i="0">
                <a:solidFill>
                  <a:srgbClr val="6B7C85"/>
                </a:solidFill>
                <a:latin typeface="Arial"/>
              </a:rPr>
              <a:t>traffic stops</a:t>
            </a:r>
          </a:p>
        </p:txBody>
      </p:sp>
      <p:sp>
        <p:nvSpPr>
          <p:cNvPr id="10" name="TextBox 9"/>
          <p:cNvSpPr txBox="1"/>
          <p:nvPr/>
        </p:nvSpPr>
        <p:spPr>
          <a:xfrm>
            <a:off x="2423160" y="1920240"/>
            <a:ext cx="457200" cy="457200"/>
          </a:xfrm>
          <a:prstGeom prst="rect">
            <a:avLst/>
          </a:prstGeom>
          <a:noFill/>
        </p:spPr>
        <p:txBody>
          <a:bodyPr wrap="square" lIns="0" rIns="0" tIns="0" bIns="0" anchor="t">
            <a:spAutoFit/>
          </a:bodyPr>
          <a:lstStyle/>
          <a:p>
            <a:pPr algn="ctr"/>
            <a:r>
              <a:rPr sz="2400" b="0" i="0">
                <a:solidFill>
                  <a:srgbClr val="B0B8BE"/>
                </a:solidFill>
                <a:latin typeface="Arial"/>
              </a:rPr>
              <a:t>→</a:t>
            </a:r>
          </a:p>
        </p:txBody>
      </p:sp>
      <p:sp>
        <p:nvSpPr>
          <p:cNvPr id="11" name="TextBox 10"/>
          <p:cNvSpPr txBox="1"/>
          <p:nvPr/>
        </p:nvSpPr>
        <p:spPr>
          <a:xfrm>
            <a:off x="2926080" y="1874520"/>
            <a:ext cx="2011680" cy="548640"/>
          </a:xfrm>
          <a:prstGeom prst="rect">
            <a:avLst/>
          </a:prstGeom>
          <a:noFill/>
        </p:spPr>
        <p:txBody>
          <a:bodyPr wrap="square" lIns="0" rIns="0" tIns="0" bIns="0" anchor="t">
            <a:spAutoFit/>
          </a:bodyPr>
          <a:lstStyle/>
          <a:p>
            <a:pPr algn="l"/>
            <a:r>
              <a:rPr sz="3000" b="1" i="0">
                <a:solidFill>
                  <a:srgbClr val="222222"/>
                </a:solidFill>
                <a:latin typeface="Arial"/>
              </a:rPr>
              <a:t>127,121</a:t>
            </a:r>
          </a:p>
        </p:txBody>
      </p:sp>
      <p:sp>
        <p:nvSpPr>
          <p:cNvPr id="12" name="TextBox 11"/>
          <p:cNvSpPr txBox="1"/>
          <p:nvPr/>
        </p:nvSpPr>
        <p:spPr>
          <a:xfrm>
            <a:off x="2926080" y="2468880"/>
            <a:ext cx="2103120" cy="274320"/>
          </a:xfrm>
          <a:prstGeom prst="rect">
            <a:avLst/>
          </a:prstGeom>
          <a:noFill/>
        </p:spPr>
        <p:txBody>
          <a:bodyPr wrap="square" lIns="0" rIns="0" tIns="0" bIns="0" anchor="t">
            <a:spAutoFit/>
          </a:bodyPr>
          <a:lstStyle/>
          <a:p>
            <a:pPr algn="l"/>
            <a:r>
              <a:rPr sz="1100" b="0" i="0">
                <a:solidFill>
                  <a:srgbClr val="6B7C85"/>
                </a:solidFill>
                <a:latin typeface="Arial"/>
              </a:rPr>
              <a:t>searches · 4.1% of stops</a:t>
            </a:r>
          </a:p>
        </p:txBody>
      </p:sp>
      <p:sp>
        <p:nvSpPr>
          <p:cNvPr id="13" name="TextBox 12"/>
          <p:cNvSpPr txBox="1"/>
          <p:nvPr/>
        </p:nvSpPr>
        <p:spPr>
          <a:xfrm>
            <a:off x="4800600" y="1920240"/>
            <a:ext cx="457200" cy="457200"/>
          </a:xfrm>
          <a:prstGeom prst="rect">
            <a:avLst/>
          </a:prstGeom>
          <a:noFill/>
        </p:spPr>
        <p:txBody>
          <a:bodyPr wrap="square" lIns="0" rIns="0" tIns="0" bIns="0" anchor="t">
            <a:spAutoFit/>
          </a:bodyPr>
          <a:lstStyle/>
          <a:p>
            <a:pPr algn="ctr"/>
            <a:r>
              <a:rPr sz="2400" b="0" i="0">
                <a:solidFill>
                  <a:srgbClr val="B0B8BE"/>
                </a:solidFill>
                <a:latin typeface="Arial"/>
              </a:rPr>
              <a:t>→</a:t>
            </a:r>
          </a:p>
        </p:txBody>
      </p:sp>
      <p:sp>
        <p:nvSpPr>
          <p:cNvPr id="14" name="TextBox 13"/>
          <p:cNvSpPr txBox="1"/>
          <p:nvPr/>
        </p:nvSpPr>
        <p:spPr>
          <a:xfrm>
            <a:off x="5303520" y="1874520"/>
            <a:ext cx="2011680" cy="548640"/>
          </a:xfrm>
          <a:prstGeom prst="rect">
            <a:avLst/>
          </a:prstGeom>
          <a:noFill/>
        </p:spPr>
        <p:txBody>
          <a:bodyPr wrap="square" lIns="0" rIns="0" tIns="0" bIns="0" anchor="t">
            <a:spAutoFit/>
          </a:bodyPr>
          <a:lstStyle/>
          <a:p>
            <a:pPr algn="l"/>
            <a:r>
              <a:rPr sz="3000" b="1" i="0">
                <a:solidFill>
                  <a:srgbClr val="1976D2"/>
                </a:solidFill>
                <a:latin typeface="Arial"/>
              </a:rPr>
              <a:t>58,865</a:t>
            </a:r>
          </a:p>
        </p:txBody>
      </p:sp>
      <p:sp>
        <p:nvSpPr>
          <p:cNvPr id="15" name="TextBox 14"/>
          <p:cNvSpPr txBox="1"/>
          <p:nvPr/>
        </p:nvSpPr>
        <p:spPr>
          <a:xfrm>
            <a:off x="5303520" y="2468880"/>
            <a:ext cx="2103120" cy="340868"/>
          </a:xfrm>
          <a:prstGeom prst="rect">
            <a:avLst/>
          </a:prstGeom>
          <a:noFill/>
        </p:spPr>
        <p:txBody>
          <a:bodyPr wrap="square" lIns="0" rIns="0" tIns="0" bIns="0" anchor="t">
            <a:spAutoFit/>
          </a:bodyPr>
          <a:lstStyle/>
          <a:p>
            <a:pPr algn="l"/>
            <a:r>
              <a:rPr sz="1100" b="0" i="0">
                <a:solidFill>
                  <a:srgbClr val="6B7C85"/>
                </a:solidFill>
                <a:latin typeface="Arial"/>
              </a:rPr>
              <a:t>consent searches · 46% of searches</a:t>
            </a:r>
          </a:p>
        </p:txBody>
      </p:sp>
      <p:sp>
        <p:nvSpPr>
          <p:cNvPr id="16" name="TextBox 15"/>
          <p:cNvSpPr txBox="1"/>
          <p:nvPr/>
        </p:nvSpPr>
        <p:spPr>
          <a:xfrm>
            <a:off x="548640" y="3063240"/>
            <a:ext cx="6949440" cy="274320"/>
          </a:xfrm>
          <a:prstGeom prst="rect">
            <a:avLst/>
          </a:prstGeom>
          <a:noFill/>
        </p:spPr>
        <p:txBody>
          <a:bodyPr wrap="square" lIns="0" rIns="0" tIns="0" bIns="0" anchor="t">
            <a:spAutoFit/>
          </a:bodyPr>
          <a:lstStyle/>
          <a:p>
            <a:pPr algn="l"/>
            <a:r>
              <a:rPr sz="1200" b="1" i="0">
                <a:solidFill>
                  <a:srgbClr val="222222"/>
                </a:solidFill>
                <a:latin typeface="Arial"/>
              </a:rPr>
              <a:t>Outcome of the 58,865 consent searches</a:t>
            </a:r>
          </a:p>
        </p:txBody>
      </p:sp>
      <p:sp>
        <p:nvSpPr>
          <p:cNvPr id="17" name="Rectangle 16"/>
          <p:cNvSpPr/>
          <p:nvPr/>
        </p:nvSpPr>
        <p:spPr>
          <a:xfrm>
            <a:off x="548640" y="3401568"/>
            <a:ext cx="1174455" cy="566928"/>
          </a:xfrm>
          <a:prstGeom prst="rect">
            <a:avLst/>
          </a:prstGeom>
          <a:solidFill>
            <a:srgbClr val="19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723095" y="3401568"/>
            <a:ext cx="5774985" cy="566928"/>
          </a:xfrm>
          <a:prstGeom prst="rect">
            <a:avLst/>
          </a:prstGeom>
          <a:solidFill>
            <a:srgbClr val="C6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01568"/>
            <a:ext cx="1174455" cy="566928"/>
          </a:xfrm>
          <a:prstGeom prst="rect">
            <a:avLst/>
          </a:prstGeom>
          <a:noFill/>
        </p:spPr>
        <p:txBody>
          <a:bodyPr wrap="square" lIns="0" rIns="0" tIns="0" bIns="0" anchor="ctr">
            <a:spAutoFit/>
          </a:bodyPr>
          <a:lstStyle/>
          <a:p>
            <a:pPr algn="ctr"/>
            <a:r>
              <a:rPr sz="1300" b="1" i="0">
                <a:solidFill>
                  <a:srgbClr val="FFFFFF"/>
                </a:solidFill>
                <a:latin typeface="Arial"/>
              </a:rPr>
              <a:t>16.9%</a:t>
            </a:r>
          </a:p>
        </p:txBody>
      </p:sp>
      <p:sp>
        <p:nvSpPr>
          <p:cNvPr id="20" name="TextBox 19"/>
          <p:cNvSpPr txBox="1"/>
          <p:nvPr/>
        </p:nvSpPr>
        <p:spPr>
          <a:xfrm>
            <a:off x="1860255" y="3401568"/>
            <a:ext cx="3657600" cy="566928"/>
          </a:xfrm>
          <a:prstGeom prst="rect">
            <a:avLst/>
          </a:prstGeom>
          <a:noFill/>
        </p:spPr>
        <p:txBody>
          <a:bodyPr wrap="square" lIns="0" rIns="0" tIns="0" bIns="0" anchor="ctr">
            <a:spAutoFit/>
          </a:bodyPr>
          <a:lstStyle/>
          <a:p>
            <a:pPr algn="l"/>
            <a:r>
              <a:rPr sz="1300" b="1" i="0">
                <a:solidFill>
                  <a:srgbClr val="222222"/>
                </a:solidFill>
                <a:latin typeface="Arial"/>
              </a:rPr>
              <a:t>83.1% </a:t>
            </a:r>
            <a:r>
              <a:rPr sz="1300" b="0" i="0">
                <a:solidFill>
                  <a:srgbClr val="222222"/>
                </a:solidFill>
                <a:latin typeface="Arial"/>
              </a:rPr>
              <a:t>found nothing</a:t>
            </a:r>
          </a:p>
        </p:txBody>
      </p:sp>
      <p:sp>
        <p:nvSpPr>
          <p:cNvPr id="21" name="TextBox 20"/>
          <p:cNvSpPr txBox="1"/>
          <p:nvPr/>
        </p:nvSpPr>
        <p:spPr>
          <a:xfrm>
            <a:off x="548640" y="4005072"/>
            <a:ext cx="2743200" cy="228600"/>
          </a:xfrm>
          <a:prstGeom prst="rect">
            <a:avLst/>
          </a:prstGeom>
          <a:noFill/>
        </p:spPr>
        <p:txBody>
          <a:bodyPr wrap="square" lIns="0" rIns="0" tIns="0" bIns="0" anchor="t">
            <a:spAutoFit/>
          </a:bodyPr>
          <a:lstStyle/>
          <a:p>
            <a:pPr algn="l"/>
            <a:r>
              <a:rPr sz="1050" b="1" i="0">
                <a:solidFill>
                  <a:srgbClr val="1976D2"/>
                </a:solidFill>
                <a:latin typeface="Arial"/>
              </a:rPr>
              <a:t>found contraband</a:t>
            </a:r>
          </a:p>
        </p:txBody>
      </p:sp>
      <p:sp>
        <p:nvSpPr>
          <p:cNvPr id="22" name="TextBox 21"/>
          <p:cNvSpPr txBox="1"/>
          <p:nvPr/>
        </p:nvSpPr>
        <p:spPr>
          <a:xfrm>
            <a:off x="548640" y="4434840"/>
            <a:ext cx="6949440" cy="274320"/>
          </a:xfrm>
          <a:prstGeom prst="rect">
            <a:avLst/>
          </a:prstGeom>
          <a:noFill/>
        </p:spPr>
        <p:txBody>
          <a:bodyPr wrap="square" lIns="0" rIns="0" tIns="0" bIns="0" anchor="t">
            <a:spAutoFit/>
          </a:bodyPr>
          <a:lstStyle/>
          <a:p>
            <a:pPr algn="l"/>
            <a:r>
              <a:rPr sz="1200" b="1" i="0">
                <a:solidFill>
                  <a:srgbClr val="222222"/>
                </a:solidFill>
                <a:latin typeface="Arial"/>
              </a:rPr>
              <a:t>Drivers searched with consent, by race</a:t>
            </a:r>
          </a:p>
        </p:txBody>
      </p:sp>
      <p:sp>
        <p:nvSpPr>
          <p:cNvPr id="23" name="Rectangle 22"/>
          <p:cNvSpPr/>
          <p:nvPr/>
        </p:nvSpPr>
        <p:spPr>
          <a:xfrm>
            <a:off x="548640" y="4773168"/>
            <a:ext cx="3815243" cy="566928"/>
          </a:xfrm>
          <a:prstGeom prst="rect">
            <a:avLst/>
          </a:prstGeom>
          <a:solidFill>
            <a:srgbClr val="8C6B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773168"/>
            <a:ext cx="3815243" cy="566928"/>
          </a:xfrm>
          <a:prstGeom prst="rect">
            <a:avLst/>
          </a:prstGeom>
          <a:noFill/>
        </p:spPr>
        <p:txBody>
          <a:bodyPr wrap="square" lIns="0" rIns="0" tIns="0" bIns="0" anchor="ctr">
            <a:spAutoFit/>
          </a:bodyPr>
          <a:lstStyle/>
          <a:p>
            <a:pPr algn="l"/>
            <a:r>
              <a:rPr sz="1200" b="0" i="0">
                <a:solidFill>
                  <a:srgbClr val="FFFFFF"/>
                </a:solidFill>
                <a:latin typeface="Arial"/>
              </a:rPr>
              <a:t>Black </a:t>
            </a:r>
            <a:r>
              <a:rPr sz="1200" b="1" i="0">
                <a:solidFill>
                  <a:srgbClr val="FFFFFF"/>
                </a:solidFill>
                <a:latin typeface="Arial"/>
              </a:rPr>
              <a:t>54.9%</a:t>
            </a:r>
          </a:p>
        </p:txBody>
      </p:sp>
      <p:sp>
        <p:nvSpPr>
          <p:cNvPr id="25" name="Rectangle 24"/>
          <p:cNvSpPr/>
          <p:nvPr/>
        </p:nvSpPr>
        <p:spPr>
          <a:xfrm>
            <a:off x="4363883" y="4773168"/>
            <a:ext cx="2508748" cy="566928"/>
          </a:xfrm>
          <a:prstGeom prst="rect">
            <a:avLst/>
          </a:prstGeom>
          <a:solidFill>
            <a:srgbClr val="4C6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3611" y="4773168"/>
            <a:ext cx="2508748" cy="566928"/>
          </a:xfrm>
          <a:prstGeom prst="rect">
            <a:avLst/>
          </a:prstGeom>
          <a:noFill/>
        </p:spPr>
        <p:txBody>
          <a:bodyPr wrap="square" lIns="0" rIns="0" tIns="0" bIns="0" anchor="ctr">
            <a:spAutoFit/>
          </a:bodyPr>
          <a:lstStyle/>
          <a:p>
            <a:pPr algn="l"/>
            <a:r>
              <a:rPr sz="1200" b="0" i="0">
                <a:solidFill>
                  <a:srgbClr val="FFFFFF"/>
                </a:solidFill>
                <a:latin typeface="Arial"/>
              </a:rPr>
              <a:t>White </a:t>
            </a:r>
            <a:r>
              <a:rPr sz="1200" b="1" i="0">
                <a:solidFill>
                  <a:srgbClr val="FFFFFF"/>
                </a:solidFill>
                <a:latin typeface="Arial"/>
              </a:rPr>
              <a:t>36.1%</a:t>
            </a:r>
          </a:p>
        </p:txBody>
      </p:sp>
      <p:sp>
        <p:nvSpPr>
          <p:cNvPr id="27" name="Rectangle 26"/>
          <p:cNvSpPr/>
          <p:nvPr/>
        </p:nvSpPr>
        <p:spPr>
          <a:xfrm>
            <a:off x="6872630" y="4773168"/>
            <a:ext cx="549006" cy="566928"/>
          </a:xfrm>
          <a:prstGeom prst="rect">
            <a:avLst/>
          </a:prstGeom>
          <a:solidFill>
            <a:srgbClr val="3A9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72630" y="4773168"/>
            <a:ext cx="549006" cy="566928"/>
          </a:xfrm>
          <a:prstGeom prst="rect">
            <a:avLst/>
          </a:prstGeom>
          <a:noFill/>
        </p:spPr>
        <p:txBody>
          <a:bodyPr wrap="square" lIns="0" rIns="0" tIns="0" bIns="0" anchor="ctr">
            <a:spAutoFit/>
          </a:bodyPr>
          <a:lstStyle/>
          <a:p>
            <a:pPr algn="ctr"/>
            <a:r>
              <a:rPr sz="1000" b="1" i="0">
                <a:solidFill>
                  <a:srgbClr val="FFFFFF"/>
                </a:solidFill>
                <a:latin typeface="Arial"/>
              </a:rPr>
              <a:t>7.9%</a:t>
            </a:r>
          </a:p>
        </p:txBody>
      </p:sp>
      <p:sp>
        <p:nvSpPr>
          <p:cNvPr id="29" name="Rectangle 28"/>
          <p:cNvSpPr/>
          <p:nvPr/>
        </p:nvSpPr>
        <p:spPr>
          <a:xfrm>
            <a:off x="7421636" y="4773168"/>
            <a:ext cx="83393" cy="566928"/>
          </a:xfrm>
          <a:prstGeom prst="rect">
            <a:avLst/>
          </a:prstGeom>
          <a:solidFill>
            <a:srgbClr val="B0B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0" y="5376672"/>
            <a:ext cx="3657600" cy="228600"/>
          </a:xfrm>
          <a:prstGeom prst="rect">
            <a:avLst/>
          </a:prstGeom>
          <a:noFill/>
        </p:spPr>
        <p:txBody>
          <a:bodyPr wrap="square" lIns="0" rIns="0" tIns="0" bIns="0" anchor="t">
            <a:spAutoFit/>
          </a:bodyPr>
          <a:lstStyle/>
          <a:p>
            <a:pPr algn="r"/>
            <a:r>
              <a:rPr sz="1050" b="0" i="0">
                <a:solidFill>
                  <a:srgbClr val="6B7C85"/>
                </a:solidFill>
                <a:latin typeface="Arial"/>
              </a:rPr>
              <a:t>Hispanic 7.9% · other or unknown 1.2%</a:t>
            </a:r>
          </a:p>
        </p:txBody>
      </p:sp>
      <p:sp>
        <p:nvSpPr>
          <p:cNvPr id="31" name="Rectangle 30"/>
          <p:cNvSpPr/>
          <p:nvPr/>
        </p:nvSpPr>
        <p:spPr>
          <a:xfrm>
            <a:off x="7818120" y="1554480"/>
            <a:ext cx="3824935" cy="443484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0" y="1737360"/>
            <a:ext cx="3383280" cy="4114800"/>
          </a:xfrm>
          <a:prstGeom prst="rect">
            <a:avLst/>
          </a:prstGeom>
          <a:noFill/>
        </p:spPr>
        <p:txBody>
          <a:bodyPr wrap="square" lIns="0" rIns="0" tIns="0" bIns="0" anchor="t">
            <a:spAutoFit/>
          </a:bodyPr>
          <a:lstStyle/>
          <a:p>
            <a:pPr algn="l">
              <a:spcAft>
                <a:spcPts val="600"/>
              </a:spcAft>
            </a:pPr>
            <a:r>
              <a:rPr sz="1200" b="1" i="0">
                <a:solidFill>
                  <a:srgbClr val="1976D2"/>
                </a:solidFill>
                <a:latin typeface="Arial"/>
              </a:rPr>
              <a:t>The client's question</a:t>
            </a:r>
          </a:p>
          <a:p>
            <a:pPr algn="l">
              <a:spcAft>
                <a:spcPts val="800"/>
              </a:spcAft>
            </a:pPr>
            <a:r>
              <a:rPr sz="1400" b="1" i="0">
                <a:solidFill>
                  <a:srgbClr val="222222"/>
                </a:solidFill>
                <a:latin typeface="Arial"/>
              </a:rPr>
              <a:t>"Can a scoring model tell our officers which stops are worth a consent request?"</a:t>
            </a:r>
          </a:p>
          <a:p>
            <a:pPr algn="l">
              <a:spcAft>
                <a:spcPts val="1400"/>
              </a:spcAft>
            </a:pPr>
            <a:r>
              <a:rPr sz="1100" b="0" i="0">
                <a:solidFill>
                  <a:srgbClr val="222222"/>
                </a:solidFill>
                <a:latin typeface="Arial"/>
              </a:rPr>
              <a:t>No warrant, no probable cause: the driver agrees. Each fruitless search costs officer time, the driver's time and dignity, and community trust.</a:t>
            </a:r>
          </a:p>
          <a:p>
            <a:pPr algn="l">
              <a:spcAft>
                <a:spcPts val="600"/>
              </a:spcAft>
            </a:pPr>
            <a:r>
              <a:rPr sz="1200" b="1" i="0">
                <a:solidFill>
                  <a:srgbClr val="1976D2"/>
                </a:solidFill>
                <a:latin typeface="Arial"/>
              </a:rPr>
              <a:t>Success criteria (ours to state, theirs to accept)</a:t>
            </a:r>
          </a:p>
          <a:p>
            <a:pPr algn="l">
              <a:spcAft>
                <a:spcPts val="400"/>
              </a:spcAft>
            </a:pPr>
            <a:r>
              <a:rPr sz="1100" b="1" i="0">
                <a:solidFill>
                  <a:srgbClr val="222222"/>
                </a:solidFill>
                <a:latin typeface="Arial"/>
              </a:rPr>
              <a:t>1  </a:t>
            </a:r>
            <a:r>
              <a:rPr sz="1100" b="0" i="0">
                <a:solidFill>
                  <a:srgbClr val="222222"/>
                </a:solidFill>
                <a:latin typeface="Arial"/>
              </a:rPr>
              <a:t>Fewer fruitless searches</a:t>
            </a:r>
          </a:p>
          <a:p>
            <a:pPr algn="l">
              <a:spcAft>
                <a:spcPts val="400"/>
              </a:spcAft>
            </a:pPr>
            <a:r>
              <a:rPr sz="1100" b="1" i="0">
                <a:solidFill>
                  <a:srgbClr val="222222"/>
                </a:solidFill>
                <a:latin typeface="Arial"/>
              </a:rPr>
              <a:t>2  </a:t>
            </a:r>
            <a:r>
              <a:rPr sz="1100" b="0" i="0">
                <a:solidFill>
                  <a:srgbClr val="222222"/>
                </a:solidFill>
                <a:latin typeface="Arial"/>
              </a:rPr>
              <a:t>Finds preserved</a:t>
            </a:r>
          </a:p>
          <a:p>
            <a:pPr algn="l">
              <a:spcAft>
                <a:spcPts val="400"/>
              </a:spcAft>
            </a:pPr>
            <a:r>
              <a:rPr sz="1100" b="1" i="0">
                <a:solidFill>
                  <a:srgbClr val="222222"/>
                </a:solidFill>
                <a:latin typeface="Arial"/>
              </a:rPr>
              <a:t>3  </a:t>
            </a:r>
            <a:r>
              <a:rPr sz="1100" b="0" i="0">
                <a:solidFill>
                  <a:srgbClr val="222222"/>
                </a:solidFill>
                <a:latin typeface="Arial"/>
              </a:rPr>
              <a:t>No discrimination</a:t>
            </a:r>
          </a:p>
          <a:p>
            <a:pPr algn="l"/>
            <a:r>
              <a:rPr sz="1100" b="1" i="0">
                <a:solidFill>
                  <a:srgbClr val="222222"/>
                </a:solidFill>
                <a:latin typeface="Arial"/>
              </a:rPr>
              <a:t>4  </a:t>
            </a:r>
            <a:r>
              <a:rPr sz="1100" b="0" i="0">
                <a:solidFill>
                  <a:srgbClr val="222222"/>
                </a:solidFill>
                <a:latin typeface="Arial"/>
              </a:rPr>
              <a:t>Explainable to a driver, a court and the oversight board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Scope and set-up</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Pooling all searches would reverse the disparity, so we score consent searches only</a:t>
            </a:r>
          </a:p>
        </p:txBody>
      </p:sp>
      <p:sp>
        <p:nvSpPr>
          <p:cNvPr id="4" name="TextBox 3"/>
          <p:cNvSpPr txBox="1"/>
          <p:nvPr/>
        </p:nvSpPr>
        <p:spPr>
          <a:xfrm>
            <a:off x="548640" y="6035040"/>
            <a:ext cx="11094415" cy="365760"/>
          </a:xfrm>
          <a:prstGeom prst="rect">
            <a:avLst/>
          </a:prstGeom>
          <a:noFill/>
        </p:spPr>
        <p:txBody>
          <a:bodyPr wrap="square" lIns="0" rIns="0" tIns="0" bIns="0" anchor="b">
            <a:spAutoFit/>
          </a:bodyPr>
          <a:lstStyle/>
          <a:p>
            <a:pPr algn="l"/>
            <a:r>
              <a:rPr sz="900" b="0" i="0">
                <a:solidFill>
                  <a:srgbClr val="6B7C85"/>
                </a:solidFill>
                <a:latin typeface="Arial"/>
              </a:rPr>
              <a:t>Legal-basis table from the earlier cleaning (58,836 consent searches); our sample is 58,865. Excluding plain-view and arrest cases, the consent gap is −5.16 pp (−4.60 pp with them).</a:t>
            </a:r>
          </a:p>
        </p:txBody>
      </p:sp>
      <p:sp>
        <p:nvSpPr>
          <p:cNvPr id="5" name="TextBox 4"/>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FINDINGS.md §1; MASTER §2. Illinois and North Carolina: same test on Open Policing data.</a:t>
            </a:r>
          </a:p>
        </p:txBody>
      </p:sp>
      <p:sp>
        <p:nvSpPr>
          <p:cNvPr id="6" name="TextBox 5"/>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3</a:t>
            </a:r>
          </a:p>
        </p:txBody>
      </p:sp>
      <p:sp>
        <p:nvSpPr>
          <p:cNvPr id="7" name="TextBox 6"/>
          <p:cNvSpPr txBox="1"/>
          <p:nvPr/>
        </p:nvSpPr>
        <p:spPr>
          <a:xfrm>
            <a:off x="548640" y="1554480"/>
            <a:ext cx="5852160" cy="274320"/>
          </a:xfrm>
          <a:prstGeom prst="rect">
            <a:avLst/>
          </a:prstGeom>
          <a:noFill/>
        </p:spPr>
        <p:txBody>
          <a:bodyPr wrap="square" lIns="0" rIns="0" tIns="0" bIns="0" anchor="t">
            <a:spAutoFit/>
          </a:bodyPr>
          <a:lstStyle/>
          <a:p>
            <a:pPr algn="l"/>
            <a:r>
              <a:rPr sz="1200" b="1" i="0">
                <a:solidFill>
                  <a:srgbClr val="222222"/>
                </a:solidFill>
                <a:latin typeface="Arial"/>
              </a:rPr>
              <a:t>Hit-rate gap, Black minus white drivers, by legal basis (pp)</a:t>
            </a:r>
          </a:p>
        </p:txBody>
      </p:sp>
      <p:sp>
        <p:nvSpPr>
          <p:cNvPr id="8" name="TextBox 7"/>
          <p:cNvSpPr txBox="1"/>
          <p:nvPr/>
        </p:nvSpPr>
        <p:spPr>
          <a:xfrm>
            <a:off x="548640" y="2011680"/>
            <a:ext cx="2103120" cy="384048"/>
          </a:xfrm>
          <a:prstGeom prst="rect">
            <a:avLst/>
          </a:prstGeom>
          <a:noFill/>
        </p:spPr>
        <p:txBody>
          <a:bodyPr wrap="square" lIns="0" rIns="0" tIns="0" bIns="0" anchor="ctr">
            <a:spAutoFit/>
          </a:bodyPr>
          <a:lstStyle/>
          <a:p>
            <a:pPr algn="l"/>
            <a:r>
              <a:rPr sz="1150" b="0" i="0">
                <a:solidFill>
                  <a:srgbClr val="222222"/>
                </a:solidFill>
                <a:latin typeface="Arial"/>
              </a:rPr>
              <a:t>Probable cause</a:t>
            </a:r>
          </a:p>
        </p:txBody>
      </p:sp>
      <p:sp>
        <p:nvSpPr>
          <p:cNvPr id="9" name="Rectangle 8"/>
          <p:cNvSpPr/>
          <p:nvPr/>
        </p:nvSpPr>
        <p:spPr>
          <a:xfrm>
            <a:off x="3282330" y="2011680"/>
            <a:ext cx="2268078" cy="384048"/>
          </a:xfrm>
          <a:prstGeom prst="rect">
            <a:avLst/>
          </a:prstGeom>
          <a:solidFill>
            <a:srgbClr val="B0B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96530" y="2011680"/>
            <a:ext cx="640080" cy="384048"/>
          </a:xfrm>
          <a:prstGeom prst="rect">
            <a:avLst/>
          </a:prstGeom>
          <a:noFill/>
        </p:spPr>
        <p:txBody>
          <a:bodyPr wrap="square" lIns="0" rIns="0" tIns="0" bIns="0" anchor="ctr">
            <a:spAutoFit/>
          </a:bodyPr>
          <a:lstStyle/>
          <a:p>
            <a:pPr algn="r"/>
            <a:r>
              <a:rPr sz="1150" b="1" i="0">
                <a:solidFill>
                  <a:srgbClr val="222222"/>
                </a:solidFill>
                <a:latin typeface="Arial"/>
              </a:rPr>
              <a:t>−15.9</a:t>
            </a:r>
          </a:p>
        </p:txBody>
      </p:sp>
      <p:sp>
        <p:nvSpPr>
          <p:cNvPr id="11" name="TextBox 10"/>
          <p:cNvSpPr txBox="1"/>
          <p:nvPr/>
        </p:nvSpPr>
        <p:spPr>
          <a:xfrm>
            <a:off x="548640" y="2670048"/>
            <a:ext cx="2103120" cy="384048"/>
          </a:xfrm>
          <a:prstGeom prst="rect">
            <a:avLst/>
          </a:prstGeom>
          <a:noFill/>
        </p:spPr>
        <p:txBody>
          <a:bodyPr wrap="square" lIns="0" rIns="0" tIns="0" bIns="0" anchor="ctr">
            <a:spAutoFit/>
          </a:bodyPr>
          <a:lstStyle/>
          <a:p>
            <a:pPr algn="l"/>
            <a:r>
              <a:rPr sz="1150" b="1" i="0">
                <a:solidFill>
                  <a:srgbClr val="1976D2"/>
                </a:solidFill>
                <a:latin typeface="Arial"/>
              </a:rPr>
              <a:t>Consent (our sample)</a:t>
            </a:r>
          </a:p>
        </p:txBody>
      </p:sp>
      <p:sp>
        <p:nvSpPr>
          <p:cNvPr id="12" name="Rectangle 11"/>
          <p:cNvSpPr/>
          <p:nvPr/>
        </p:nvSpPr>
        <p:spPr>
          <a:xfrm>
            <a:off x="4808647" y="2670048"/>
            <a:ext cx="741761" cy="384048"/>
          </a:xfrm>
          <a:prstGeom prst="rect">
            <a:avLst/>
          </a:prstGeom>
          <a:solidFill>
            <a:srgbClr val="19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22847" y="2670048"/>
            <a:ext cx="640080" cy="384048"/>
          </a:xfrm>
          <a:prstGeom prst="rect">
            <a:avLst/>
          </a:prstGeom>
          <a:noFill/>
        </p:spPr>
        <p:txBody>
          <a:bodyPr wrap="square" lIns="0" rIns="0" tIns="0" bIns="0" anchor="ctr">
            <a:spAutoFit/>
          </a:bodyPr>
          <a:lstStyle/>
          <a:p>
            <a:pPr algn="r"/>
            <a:r>
              <a:rPr sz="1150" b="1" i="0">
                <a:solidFill>
                  <a:srgbClr val="1976D2"/>
                </a:solidFill>
                <a:latin typeface="Arial"/>
              </a:rPr>
              <a:t>−5.2</a:t>
            </a:r>
          </a:p>
        </p:txBody>
      </p:sp>
      <p:sp>
        <p:nvSpPr>
          <p:cNvPr id="14" name="TextBox 13"/>
          <p:cNvSpPr txBox="1"/>
          <p:nvPr/>
        </p:nvSpPr>
        <p:spPr>
          <a:xfrm>
            <a:off x="548640" y="3328416"/>
            <a:ext cx="2103120" cy="384048"/>
          </a:xfrm>
          <a:prstGeom prst="rect">
            <a:avLst/>
          </a:prstGeom>
          <a:noFill/>
        </p:spPr>
        <p:txBody>
          <a:bodyPr wrap="square" lIns="0" rIns="0" tIns="0" bIns="0" anchor="ctr">
            <a:spAutoFit/>
          </a:bodyPr>
          <a:lstStyle/>
          <a:p>
            <a:pPr algn="l"/>
            <a:r>
              <a:rPr sz="1150" b="0" i="0">
                <a:solidFill>
                  <a:srgbClr val="222222"/>
                </a:solidFill>
                <a:latin typeface="Arial"/>
              </a:rPr>
              <a:t>Arrest, warrant, inventory</a:t>
            </a:r>
          </a:p>
        </p:txBody>
      </p:sp>
      <p:sp>
        <p:nvSpPr>
          <p:cNvPr id="15" name="Rectangle 14"/>
          <p:cNvSpPr/>
          <p:nvPr/>
        </p:nvSpPr>
        <p:spPr>
          <a:xfrm>
            <a:off x="5550408" y="3328416"/>
            <a:ext cx="256764" cy="384048"/>
          </a:xfrm>
          <a:prstGeom prst="rect">
            <a:avLst/>
          </a:prstGeom>
          <a:solidFill>
            <a:srgbClr val="B0B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62036" y="3328416"/>
            <a:ext cx="1463040" cy="384048"/>
          </a:xfrm>
          <a:prstGeom prst="rect">
            <a:avLst/>
          </a:prstGeom>
          <a:noFill/>
        </p:spPr>
        <p:txBody>
          <a:bodyPr wrap="square" lIns="0" rIns="0" tIns="0" bIns="0" anchor="ctr">
            <a:spAutoFit/>
          </a:bodyPr>
          <a:lstStyle/>
          <a:p>
            <a:pPr algn="l"/>
            <a:r>
              <a:rPr sz="1150" b="1" i="0">
                <a:solidFill>
                  <a:srgbClr val="222222"/>
                </a:solidFill>
                <a:latin typeface="Arial"/>
              </a:rPr>
              <a:t>+1.8</a:t>
            </a:r>
            <a:r>
              <a:rPr sz="1000" b="0" i="0">
                <a:solidFill>
                  <a:srgbClr val="6B7C85"/>
                </a:solidFill>
                <a:latin typeface="Arial"/>
              </a:rPr>
              <a:t/>
            </a:r>
          </a:p>
        </p:txBody>
      </p:sp>
      <p:sp>
        <p:nvSpPr>
          <p:cNvPr id="17" name="TextBox 16"/>
          <p:cNvSpPr txBox="1"/>
          <p:nvPr/>
        </p:nvSpPr>
        <p:spPr>
          <a:xfrm>
            <a:off x="548640" y="3986784"/>
            <a:ext cx="2103120" cy="384048"/>
          </a:xfrm>
          <a:prstGeom prst="rect">
            <a:avLst/>
          </a:prstGeom>
          <a:noFill/>
        </p:spPr>
        <p:txBody>
          <a:bodyPr wrap="square" lIns="0" rIns="0" tIns="0" bIns="0" anchor="ctr">
            <a:spAutoFit/>
          </a:bodyPr>
          <a:lstStyle/>
          <a:p>
            <a:pPr algn="l"/>
            <a:r>
              <a:rPr sz="1150" b="0" i="0">
                <a:solidFill>
                  <a:srgbClr val="222222"/>
                </a:solidFill>
                <a:latin typeface="Arial"/>
              </a:rPr>
              <a:t>All searches pooled</a:t>
            </a:r>
          </a:p>
        </p:txBody>
      </p:sp>
      <p:sp>
        <p:nvSpPr>
          <p:cNvPr id="18" name="Rectangle 17"/>
          <p:cNvSpPr/>
          <p:nvPr/>
        </p:nvSpPr>
        <p:spPr>
          <a:xfrm>
            <a:off x="5550408" y="3986784"/>
            <a:ext cx="114117" cy="384048"/>
          </a:xfrm>
          <a:prstGeom prst="rect">
            <a:avLst/>
          </a:prstGeom>
          <a:solidFill>
            <a:srgbClr val="B0B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19389" y="3986784"/>
            <a:ext cx="1463040" cy="384048"/>
          </a:xfrm>
          <a:prstGeom prst="rect">
            <a:avLst/>
          </a:prstGeom>
          <a:noFill/>
        </p:spPr>
        <p:txBody>
          <a:bodyPr wrap="square" lIns="0" rIns="0" tIns="0" bIns="0" anchor="ctr">
            <a:spAutoFit/>
          </a:bodyPr>
          <a:lstStyle/>
          <a:p>
            <a:pPr algn="l"/>
            <a:r>
              <a:rPr sz="1150" b="1" i="0">
                <a:solidFill>
                  <a:srgbClr val="222222"/>
                </a:solidFill>
                <a:latin typeface="Arial"/>
              </a:rPr>
              <a:t>+0.8</a:t>
            </a:r>
            <a:r>
              <a:rPr sz="1000" b="0" i="0">
                <a:solidFill>
                  <a:srgbClr val="6B7C85"/>
                </a:solidFill>
                <a:latin typeface="Arial"/>
              </a:rPr>
              <a:t>  wrong sign</a:t>
            </a:r>
          </a:p>
        </p:txBody>
      </p:sp>
      <p:cxnSp>
        <p:nvCxnSpPr>
          <p:cNvPr id="20" name="Connector 19"/>
          <p:cNvCxnSpPr/>
          <p:nvPr/>
        </p:nvCxnSpPr>
        <p:spPr>
          <a:xfrm>
            <a:off x="5550408" y="1901952"/>
            <a:ext cx="0" cy="2532888"/>
          </a:xfrm>
          <a:prstGeom prst="line">
            <a:avLst/>
          </a:prstGeom>
          <a:ln w="12700">
            <a:solidFill>
              <a:srgbClr val="222222"/>
            </a:solidFill>
          </a:ln>
        </p:spPr>
      </p:cxnSp>
      <p:sp>
        <p:nvSpPr>
          <p:cNvPr id="21" name="TextBox 20"/>
          <p:cNvSpPr txBox="1"/>
          <p:nvPr/>
        </p:nvSpPr>
        <p:spPr>
          <a:xfrm>
            <a:off x="548640" y="4663440"/>
            <a:ext cx="5760720" cy="1188720"/>
          </a:xfrm>
          <a:prstGeom prst="rect">
            <a:avLst/>
          </a:prstGeom>
          <a:noFill/>
        </p:spPr>
        <p:txBody>
          <a:bodyPr wrap="square" lIns="0" rIns="0" tIns="0" bIns="0" anchor="t">
            <a:spAutoFit/>
          </a:bodyPr>
          <a:lstStyle/>
          <a:p>
            <a:pPr algn="l"/>
            <a:r>
              <a:rPr sz="1100" b="0" i="0">
                <a:solidFill>
                  <a:srgbClr val="222222"/>
                </a:solidFill>
                <a:latin typeface="Arial"/>
              </a:rPr>
              <a:t>Below zero: consent searches of Black drivers find contraband less often, consistent with a lower bar for searching them. Discretionary searches show it, mechanical ones do not, and pooling hides it. The same pattern appears in Illinois (−7.3 pp) and North Carolina (−6.3 pp).</a:t>
            </a:r>
          </a:p>
        </p:txBody>
      </p:sp>
      <p:sp>
        <p:nvSpPr>
          <p:cNvPr id="22" name="TextBox 21"/>
          <p:cNvSpPr txBox="1"/>
          <p:nvPr/>
        </p:nvSpPr>
        <p:spPr>
          <a:xfrm>
            <a:off x="6812280" y="1554480"/>
            <a:ext cx="4830775" cy="274320"/>
          </a:xfrm>
          <a:prstGeom prst="rect">
            <a:avLst/>
          </a:prstGeom>
          <a:noFill/>
        </p:spPr>
        <p:txBody>
          <a:bodyPr wrap="square" lIns="0" rIns="0" tIns="0" bIns="0" anchor="t">
            <a:spAutoFit/>
          </a:bodyPr>
          <a:lstStyle/>
          <a:p>
            <a:pPr algn="l"/>
            <a:r>
              <a:rPr sz="1200" b="1" i="0">
                <a:solidFill>
                  <a:srgbClr val="222222"/>
                </a:solidFill>
                <a:latin typeface="Arial"/>
              </a:rPr>
              <a:t>How we test the models</a:t>
            </a:r>
          </a:p>
        </p:txBody>
      </p:sp>
      <p:sp>
        <p:nvSpPr>
          <p:cNvPr id="23" name="Rectangle 22"/>
          <p:cNvSpPr/>
          <p:nvPr/>
        </p:nvSpPr>
        <p:spPr>
          <a:xfrm>
            <a:off x="6812280" y="1965960"/>
            <a:ext cx="3220517" cy="868680"/>
          </a:xfrm>
          <a:prstGeom prst="rect">
            <a:avLst/>
          </a:prstGeom>
          <a:solidFill>
            <a:srgbClr val="C6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32797" y="1965960"/>
            <a:ext cx="1610258" cy="868680"/>
          </a:xfrm>
          <a:prstGeom prst="rect">
            <a:avLst/>
          </a:prstGeom>
          <a:solidFill>
            <a:srgbClr val="19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22008" y="1965960"/>
            <a:ext cx="3037637" cy="868680"/>
          </a:xfrm>
          <a:prstGeom prst="rect">
            <a:avLst/>
          </a:prstGeom>
          <a:noFill/>
        </p:spPr>
        <p:txBody>
          <a:bodyPr wrap="square" lIns="0" rIns="0" tIns="0" bIns="0" anchor="ctr">
            <a:spAutoFit/>
          </a:bodyPr>
          <a:lstStyle/>
          <a:p>
            <a:pPr algn="l"/>
            <a:r>
              <a:rPr sz="1200" b="1" i="0">
                <a:solidFill>
                  <a:srgbClr val="222222"/>
                </a:solidFill>
                <a:latin typeface="Arial"/>
              </a:rPr>
              <a:t>Train 2010–2015</a:t>
            </a:r>
          </a:p>
          <a:p>
            <a:pPr algn="l"/>
            <a:r>
              <a:rPr sz="1100" b="0" i="0">
                <a:solidFill>
                  <a:srgbClr val="222222"/>
                </a:solidFill>
                <a:latin typeface="Arial"/>
              </a:rPr>
              <a:t>49,752 searches · 16.1% hit</a:t>
            </a:r>
          </a:p>
        </p:txBody>
      </p:sp>
      <p:sp>
        <p:nvSpPr>
          <p:cNvPr id="26" name="TextBox 25"/>
          <p:cNvSpPr txBox="1"/>
          <p:nvPr/>
        </p:nvSpPr>
        <p:spPr>
          <a:xfrm>
            <a:off x="10124237" y="1965960"/>
            <a:ext cx="1473098" cy="868680"/>
          </a:xfrm>
          <a:prstGeom prst="rect">
            <a:avLst/>
          </a:prstGeom>
          <a:noFill/>
        </p:spPr>
        <p:txBody>
          <a:bodyPr wrap="square" lIns="0" rIns="0" tIns="0" bIns="0" anchor="ctr">
            <a:spAutoFit/>
          </a:bodyPr>
          <a:lstStyle/>
          <a:p>
            <a:pPr algn="l"/>
            <a:r>
              <a:rPr sz="1200" b="1" i="0">
                <a:solidFill>
                  <a:srgbClr val="FFFFFF"/>
                </a:solidFill>
                <a:latin typeface="Arial"/>
              </a:rPr>
              <a:t>Test 2016–2018</a:t>
            </a:r>
          </a:p>
          <a:p>
            <a:pPr algn="l"/>
            <a:r>
              <a:rPr sz="1100" b="0" i="0">
                <a:solidFill>
                  <a:srgbClr val="FFFFFF"/>
                </a:solidFill>
                <a:latin typeface="Arial"/>
              </a:rPr>
              <a:t>9,113 · 21.4% hit</a:t>
            </a:r>
          </a:p>
        </p:txBody>
      </p:sp>
      <p:sp>
        <p:nvSpPr>
          <p:cNvPr id="27" name="TextBox 26"/>
          <p:cNvSpPr txBox="1"/>
          <p:nvPr/>
        </p:nvSpPr>
        <p:spPr>
          <a:xfrm>
            <a:off x="6537960" y="2862072"/>
            <a:ext cx="548640" cy="201168"/>
          </a:xfrm>
          <a:prstGeom prst="rect">
            <a:avLst/>
          </a:prstGeom>
          <a:noFill/>
        </p:spPr>
        <p:txBody>
          <a:bodyPr wrap="square" lIns="0" rIns="0" tIns="0" bIns="0" anchor="t">
            <a:spAutoFit/>
          </a:bodyPr>
          <a:lstStyle/>
          <a:p>
            <a:pPr algn="ctr"/>
            <a:r>
              <a:rPr sz="950" b="0" i="0">
                <a:solidFill>
                  <a:srgbClr val="6B7C85"/>
                </a:solidFill>
                <a:latin typeface="Arial"/>
              </a:rPr>
              <a:t>2010</a:t>
            </a:r>
          </a:p>
        </p:txBody>
      </p:sp>
      <p:sp>
        <p:nvSpPr>
          <p:cNvPr id="28" name="TextBox 27"/>
          <p:cNvSpPr txBox="1"/>
          <p:nvPr/>
        </p:nvSpPr>
        <p:spPr>
          <a:xfrm>
            <a:off x="9758477" y="2862072"/>
            <a:ext cx="548640" cy="201168"/>
          </a:xfrm>
          <a:prstGeom prst="rect">
            <a:avLst/>
          </a:prstGeom>
          <a:noFill/>
        </p:spPr>
        <p:txBody>
          <a:bodyPr wrap="square" lIns="0" rIns="0" tIns="0" bIns="0" anchor="t">
            <a:spAutoFit/>
          </a:bodyPr>
          <a:lstStyle/>
          <a:p>
            <a:pPr algn="ctr"/>
            <a:r>
              <a:rPr sz="950" b="0" i="0">
                <a:solidFill>
                  <a:srgbClr val="6B7C85"/>
                </a:solidFill>
                <a:latin typeface="Arial"/>
              </a:rPr>
              <a:t>2016</a:t>
            </a:r>
          </a:p>
        </p:txBody>
      </p:sp>
      <p:sp>
        <p:nvSpPr>
          <p:cNvPr id="29" name="TextBox 28"/>
          <p:cNvSpPr txBox="1"/>
          <p:nvPr/>
        </p:nvSpPr>
        <p:spPr>
          <a:xfrm>
            <a:off x="11368735" y="2862072"/>
            <a:ext cx="548640" cy="201168"/>
          </a:xfrm>
          <a:prstGeom prst="rect">
            <a:avLst/>
          </a:prstGeom>
          <a:noFill/>
        </p:spPr>
        <p:txBody>
          <a:bodyPr wrap="square" lIns="0" rIns="0" tIns="0" bIns="0" anchor="t">
            <a:spAutoFit/>
          </a:bodyPr>
          <a:lstStyle/>
          <a:p>
            <a:pPr algn="ctr"/>
            <a:r>
              <a:rPr sz="950" b="0" i="0">
                <a:solidFill>
                  <a:srgbClr val="6B7C85"/>
                </a:solidFill>
                <a:latin typeface="Arial"/>
              </a:rPr>
              <a:t>2018</a:t>
            </a:r>
          </a:p>
        </p:txBody>
      </p:sp>
      <p:sp>
        <p:nvSpPr>
          <p:cNvPr id="30" name="TextBox 29"/>
          <p:cNvSpPr txBox="1"/>
          <p:nvPr/>
        </p:nvSpPr>
        <p:spPr>
          <a:xfrm>
            <a:off x="6812280" y="3200400"/>
            <a:ext cx="4830775" cy="1188720"/>
          </a:xfrm>
          <a:prstGeom prst="rect">
            <a:avLst/>
          </a:prstGeom>
          <a:noFill/>
        </p:spPr>
        <p:txBody>
          <a:bodyPr wrap="square" lIns="0" rIns="0" tIns="0" bIns="0" anchor="t">
            <a:spAutoFit/>
          </a:bodyPr>
          <a:lstStyle/>
          <a:p>
            <a:pPr algn="l" marL="155448" indent="-155448">
              <a:spcAft>
                <a:spcPts val="600"/>
              </a:spcAft>
              <a:buChar char="•"/>
            </a:pPr>
            <a:r>
              <a:rPr sz="1100" b="1" i="0">
                <a:solidFill>
                  <a:srgbClr val="222222"/>
                </a:solidFill>
                <a:latin typeface="Arial"/>
              </a:rPr>
              <a:t>Temporal split: </a:t>
            </a:r>
            <a:r>
              <a:rPr sz="1100" b="0" i="0">
                <a:solidFill>
                  <a:srgbClr val="222222"/>
                </a:solidFill>
                <a:latin typeface="Arial"/>
              </a:rPr>
              <a:t>no learning from the future, as in deployment. Consent searches fell from ~9,000 a year (2011–2014) to 2,167 in 2018 as the hit rate rose.</a:t>
            </a:r>
          </a:p>
          <a:p>
            <a:pPr algn="l" marL="155448" indent="-155448">
              <a:buChar char="•"/>
            </a:pPr>
            <a:r>
              <a:rPr sz="1100" b="1" i="0">
                <a:solidFill>
                  <a:srgbClr val="222222"/>
                </a:solidFill>
                <a:latin typeface="Arial"/>
              </a:rPr>
              <a:t>Officer holdout: </a:t>
            </a:r>
            <a:r>
              <a:rPr sz="1100" b="0" i="0">
                <a:solidFill>
                  <a:srgbClr val="222222"/>
                </a:solidFill>
                <a:latin typeface="Arial"/>
              </a:rPr>
              <a:t>20% of officers never seen in training.</a:t>
            </a:r>
          </a:p>
        </p:txBody>
      </p:sp>
      <p:sp>
        <p:nvSpPr>
          <p:cNvPr id="31" name="Rectangle 30"/>
          <p:cNvSpPr/>
          <p:nvPr/>
        </p:nvSpPr>
        <p:spPr>
          <a:xfrm>
            <a:off x="6812280" y="4526280"/>
            <a:ext cx="4830775" cy="109728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95160" y="4636008"/>
            <a:ext cx="4465015" cy="914400"/>
          </a:xfrm>
          <a:prstGeom prst="rect">
            <a:avLst/>
          </a:prstGeom>
          <a:noFill/>
        </p:spPr>
        <p:txBody>
          <a:bodyPr wrap="square" lIns="0" rIns="0" tIns="0" bIns="0" anchor="t">
            <a:spAutoFit/>
          </a:bodyPr>
          <a:lstStyle/>
          <a:p>
            <a:pPr algn="l">
              <a:spcAft>
                <a:spcPts val="400"/>
              </a:spcAft>
            </a:pPr>
            <a:r>
              <a:rPr sz="1200" b="1" i="0">
                <a:solidFill>
                  <a:srgbClr val="1976D2"/>
                </a:solidFill>
                <a:latin typeface="Arial"/>
              </a:rPr>
              <a:t>Selective labels shape everything</a:t>
            </a:r>
          </a:p>
          <a:p>
            <a:pPr algn="l"/>
            <a:r>
              <a:rPr sz="1100" b="0" i="0">
                <a:solidFill>
                  <a:srgbClr val="222222"/>
                </a:solidFill>
                <a:latin typeface="Arial"/>
              </a:rPr>
              <a:t>Contraband is observed only when an officer chose to search. Every model learns from officers' decisions, and every number is conditional on a search having been made.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Act I · The task as posed · Performance</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All three models rank searches barely better than chance, and the best adds 82 finds per 2,000 searches</a:t>
            </a:r>
          </a:p>
        </p:txBody>
      </p:sp>
      <p:sp>
        <p:nvSpPr>
          <p:cNvPr id="4" name="TextBox 3"/>
          <p:cNvSpPr txBox="1"/>
          <p:nvPr/>
        </p:nvSpPr>
        <p:spPr>
          <a:xfrm>
            <a:off x="548640" y="6035040"/>
            <a:ext cx="11094415" cy="365760"/>
          </a:xfrm>
          <a:prstGeom prst="rect">
            <a:avLst/>
          </a:prstGeom>
          <a:noFill/>
        </p:spPr>
        <p:txBody>
          <a:bodyPr wrap="square" lIns="0" rIns="0" tIns="0" bIns="0" anchor="b">
            <a:spAutoFit/>
          </a:bodyPr>
          <a:lstStyle/>
          <a:p>
            <a:pPr algn="l"/>
            <a:r>
              <a:rPr sz="900" b="0" i="0">
                <a:solidFill>
                  <a:srgbClr val="6B7C85"/>
                </a:solidFill>
                <a:latin typeface="Arial"/>
              </a:rPr>
              <a:t>*Break-even cost ratio = hit rate / (1 − hit rate) of the searches kept: the cost of searching an innocent driver, as a fraction of the value of a find, above which keeping the top 2,000 destroys value. The price is a policy judgement: we show it, we do not pick it.</a:t>
            </a:r>
          </a:p>
        </p:txBody>
      </p:sp>
      <p:sp>
        <p:nvSpPr>
          <p:cNvPr id="5" name="TextBox 4"/>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src, outputs/metrics__consent__matched.json and __full.json (release), DeLong tests; TabPFN on all rows: hosted inference, FINDINGS.md §10. MASTER §4.</a:t>
            </a:r>
          </a:p>
        </p:txBody>
      </p:sp>
      <p:sp>
        <p:nvSpPr>
          <p:cNvPr id="6" name="TextBox 5"/>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4</a:t>
            </a:r>
          </a:p>
        </p:txBody>
      </p:sp>
      <p:sp>
        <p:nvSpPr>
          <p:cNvPr id="7" name="TextBox 6"/>
          <p:cNvSpPr txBox="1"/>
          <p:nvPr/>
        </p:nvSpPr>
        <p:spPr>
          <a:xfrm>
            <a:off x="548640" y="1554480"/>
            <a:ext cx="5394960" cy="274320"/>
          </a:xfrm>
          <a:prstGeom prst="rect">
            <a:avLst/>
          </a:prstGeom>
          <a:noFill/>
        </p:spPr>
        <p:txBody>
          <a:bodyPr wrap="square" lIns="0" rIns="0" tIns="0" bIns="0" anchor="t">
            <a:spAutoFit/>
          </a:bodyPr>
          <a:lstStyle/>
          <a:p>
            <a:pPr algn="l"/>
            <a:r>
              <a:rPr sz="1200" b="1" i="0">
                <a:solidFill>
                  <a:srgbClr val="222222"/>
                </a:solidFill>
                <a:latin typeface="Arial"/>
              </a:rPr>
              <a:t>Test AUC on the 9,113 consent searches of 2016–2018</a:t>
            </a:r>
          </a:p>
        </p:txBody>
      </p:sp>
      <p:sp>
        <p:nvSpPr>
          <p:cNvPr id="8" name="TextBox 7"/>
          <p:cNvSpPr txBox="1"/>
          <p:nvPr/>
        </p:nvSpPr>
        <p:spPr>
          <a:xfrm>
            <a:off x="548640" y="1828800"/>
            <a:ext cx="5394960" cy="411480"/>
          </a:xfrm>
          <a:prstGeom prst="rect">
            <a:avLst/>
          </a:prstGeom>
          <a:noFill/>
        </p:spPr>
        <p:txBody>
          <a:bodyPr wrap="square" lIns="0" rIns="0" tIns="0" bIns="0" anchor="t">
            <a:spAutoFit/>
          </a:bodyPr>
          <a:lstStyle/>
          <a:p>
            <a:pPr algn="l"/>
            <a:r>
              <a:rPr sz="1000" b="0" i="0">
                <a:solidFill>
                  <a:srgbClr val="6B7C85"/>
                </a:solidFill>
                <a:latin typeface="Arial"/>
              </a:rPr>
              <a:t>Dots: all three trained on the same random 2,000 of the 49,752 searches of 2010–2015 (the most TabPFN could run on CPU), so only the model differs</a:t>
            </a:r>
          </a:p>
        </p:txBody>
      </p:sp>
      <p:sp>
        <p:nvSpPr>
          <p:cNvPr id="9" name="TextBox 8"/>
          <p:cNvSpPr txBox="1"/>
          <p:nvPr/>
        </p:nvSpPr>
        <p:spPr>
          <a:xfrm>
            <a:off x="5120640" y="2286000"/>
            <a:ext cx="1163320" cy="384048"/>
          </a:xfrm>
          <a:prstGeom prst="rect">
            <a:avLst/>
          </a:prstGeom>
          <a:noFill/>
        </p:spPr>
        <p:txBody>
          <a:bodyPr wrap="square" lIns="0" rIns="0" tIns="0" bIns="0" anchor="b">
            <a:spAutoFit/>
          </a:bodyPr>
          <a:lstStyle/>
          <a:p>
            <a:pPr algn="ctr"/>
            <a:r>
              <a:rPr sz="850" b="1" i="0">
                <a:solidFill>
                  <a:srgbClr val="6B7C85"/>
                </a:solidFill>
                <a:latin typeface="Arial"/>
              </a:rPr>
              <a:t>AUC, all 49,752 rows</a:t>
            </a:r>
          </a:p>
        </p:txBody>
      </p:sp>
      <p:sp>
        <p:nvSpPr>
          <p:cNvPr id="10" name="TextBox 9"/>
          <p:cNvSpPr txBox="1"/>
          <p:nvPr/>
        </p:nvSpPr>
        <p:spPr>
          <a:xfrm>
            <a:off x="4526280" y="2286000"/>
            <a:ext cx="594360" cy="384048"/>
          </a:xfrm>
          <a:prstGeom prst="rect">
            <a:avLst/>
          </a:prstGeom>
          <a:noFill/>
        </p:spPr>
        <p:txBody>
          <a:bodyPr wrap="square" lIns="0" rIns="0" tIns="0" bIns="0" anchor="b">
            <a:spAutoFit/>
          </a:bodyPr>
          <a:lstStyle/>
          <a:p>
            <a:pPr algn="ctr"/>
            <a:r>
              <a:rPr sz="850" b="1" i="0">
                <a:solidFill>
                  <a:srgbClr val="6B7C85"/>
                </a:solidFill>
                <a:latin typeface="Arial"/>
              </a:rPr>
              <a:t>Brier</a:t>
            </a:r>
          </a:p>
        </p:txBody>
      </p:sp>
      <p:sp>
        <p:nvSpPr>
          <p:cNvPr id="11" name="TextBox 10"/>
          <p:cNvSpPr txBox="1"/>
          <p:nvPr/>
        </p:nvSpPr>
        <p:spPr>
          <a:xfrm>
            <a:off x="548640" y="2743200"/>
            <a:ext cx="1737360" cy="274320"/>
          </a:xfrm>
          <a:prstGeom prst="rect">
            <a:avLst/>
          </a:prstGeom>
          <a:noFill/>
        </p:spPr>
        <p:txBody>
          <a:bodyPr wrap="square" lIns="0" rIns="0" tIns="0" bIns="0" anchor="ctr">
            <a:spAutoFit/>
          </a:bodyPr>
          <a:lstStyle/>
          <a:p>
            <a:pPr algn="l"/>
            <a:r>
              <a:rPr sz="1150" b="1" i="0">
                <a:solidFill>
                  <a:srgbClr val="222222"/>
                </a:solidFill>
                <a:latin typeface="Arial"/>
              </a:rPr>
              <a:t>White box (logistic)</a:t>
            </a:r>
          </a:p>
        </p:txBody>
      </p:sp>
      <p:cxnSp>
        <p:nvCxnSpPr>
          <p:cNvPr id="12" name="Connector 11"/>
          <p:cNvCxnSpPr/>
          <p:nvPr/>
        </p:nvCxnSpPr>
        <p:spPr>
          <a:xfrm>
            <a:off x="2194560" y="2880360"/>
            <a:ext cx="2240280" cy="0"/>
          </a:xfrm>
          <a:prstGeom prst="line">
            <a:avLst/>
          </a:prstGeom>
          <a:ln w="6350">
            <a:solidFill>
              <a:srgbClr val="D9DEE3"/>
            </a:solidFill>
          </a:ln>
        </p:spPr>
      </p:cxnSp>
      <p:sp>
        <p:nvSpPr>
          <p:cNvPr id="13" name="Oval 12"/>
          <p:cNvSpPr/>
          <p:nvPr/>
        </p:nvSpPr>
        <p:spPr>
          <a:xfrm>
            <a:off x="3095564" y="2788920"/>
            <a:ext cx="182880" cy="182880"/>
          </a:xfrm>
          <a:prstGeom prst="ellipse">
            <a:avLst/>
          </a:prstGeom>
          <a:solidFill>
            <a:srgbClr val="1976D2"/>
          </a:solidFill>
          <a:ln w="22225">
            <a:solidFill>
              <a:srgbClr val="197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15020" y="2743200"/>
            <a:ext cx="548640" cy="274320"/>
          </a:xfrm>
          <a:prstGeom prst="rect">
            <a:avLst/>
          </a:prstGeom>
          <a:noFill/>
        </p:spPr>
        <p:txBody>
          <a:bodyPr wrap="square" lIns="0" rIns="0" tIns="0" bIns="0" anchor="ctr">
            <a:spAutoFit/>
          </a:bodyPr>
          <a:lstStyle/>
          <a:p>
            <a:pPr algn="l"/>
            <a:r>
              <a:rPr sz="1100" b="1" i="0">
                <a:solidFill>
                  <a:srgbClr val="222222"/>
                </a:solidFill>
                <a:latin typeface="Arial"/>
              </a:rPr>
              <a:t>0.533</a:t>
            </a:r>
          </a:p>
        </p:txBody>
      </p:sp>
      <p:sp>
        <p:nvSpPr>
          <p:cNvPr id="15" name="TextBox 14"/>
          <p:cNvSpPr txBox="1"/>
          <p:nvPr/>
        </p:nvSpPr>
        <p:spPr>
          <a:xfrm>
            <a:off x="5120640" y="2743200"/>
            <a:ext cx="731520" cy="274320"/>
          </a:xfrm>
          <a:prstGeom prst="rect">
            <a:avLst/>
          </a:prstGeom>
          <a:noFill/>
        </p:spPr>
        <p:txBody>
          <a:bodyPr wrap="square" lIns="0" rIns="0" tIns="0" bIns="0" anchor="ctr">
            <a:spAutoFit/>
          </a:bodyPr>
          <a:lstStyle/>
          <a:p>
            <a:pPr algn="ctr"/>
            <a:r>
              <a:rPr sz="1100" b="0" i="0">
                <a:solidFill>
                  <a:srgbClr val="222222"/>
                </a:solidFill>
                <a:latin typeface="Arial"/>
              </a:rPr>
              <a:t>0.552</a:t>
            </a:r>
          </a:p>
        </p:txBody>
      </p:sp>
      <p:sp>
        <p:nvSpPr>
          <p:cNvPr id="16" name="TextBox 15"/>
          <p:cNvSpPr txBox="1"/>
          <p:nvPr/>
        </p:nvSpPr>
        <p:spPr>
          <a:xfrm>
            <a:off x="4526280" y="2743200"/>
            <a:ext cx="594360" cy="274320"/>
          </a:xfrm>
          <a:prstGeom prst="rect">
            <a:avLst/>
          </a:prstGeom>
          <a:noFill/>
        </p:spPr>
        <p:txBody>
          <a:bodyPr wrap="square" lIns="0" rIns="0" tIns="0" bIns="0" anchor="ctr">
            <a:spAutoFit/>
          </a:bodyPr>
          <a:lstStyle/>
          <a:p>
            <a:pPr algn="ctr"/>
            <a:r>
              <a:rPr sz="1100" b="0" i="0">
                <a:solidFill>
                  <a:srgbClr val="222222"/>
                </a:solidFill>
                <a:latin typeface="Arial"/>
              </a:rPr>
              <a:t>0.172</a:t>
            </a:r>
          </a:p>
        </p:txBody>
      </p:sp>
      <p:sp>
        <p:nvSpPr>
          <p:cNvPr id="17" name="TextBox 16"/>
          <p:cNvSpPr txBox="1"/>
          <p:nvPr/>
        </p:nvSpPr>
        <p:spPr>
          <a:xfrm>
            <a:off x="548640" y="3227832"/>
            <a:ext cx="1737360" cy="274320"/>
          </a:xfrm>
          <a:prstGeom prst="rect">
            <a:avLst/>
          </a:prstGeom>
          <a:noFill/>
        </p:spPr>
        <p:txBody>
          <a:bodyPr wrap="square" lIns="0" rIns="0" tIns="0" bIns="0" anchor="ctr">
            <a:spAutoFit/>
          </a:bodyPr>
          <a:lstStyle/>
          <a:p>
            <a:pPr algn="l"/>
            <a:r>
              <a:rPr sz="1150" b="1" i="0">
                <a:solidFill>
                  <a:srgbClr val="222222"/>
                </a:solidFill>
                <a:latin typeface="Arial"/>
              </a:rPr>
              <a:t>XGBoost</a:t>
            </a:r>
          </a:p>
        </p:txBody>
      </p:sp>
      <p:cxnSp>
        <p:nvCxnSpPr>
          <p:cNvPr id="18" name="Connector 17"/>
          <p:cNvCxnSpPr/>
          <p:nvPr/>
        </p:nvCxnSpPr>
        <p:spPr>
          <a:xfrm>
            <a:off x="2194560" y="3364992"/>
            <a:ext cx="2240280" cy="0"/>
          </a:xfrm>
          <a:prstGeom prst="line">
            <a:avLst/>
          </a:prstGeom>
          <a:ln w="6350">
            <a:solidFill>
              <a:srgbClr val="D9DEE3"/>
            </a:solidFill>
          </a:ln>
        </p:spPr>
      </p:cxnSp>
      <p:sp>
        <p:nvSpPr>
          <p:cNvPr id="19" name="Oval 18"/>
          <p:cNvSpPr/>
          <p:nvPr/>
        </p:nvSpPr>
        <p:spPr>
          <a:xfrm>
            <a:off x="3206831" y="3273552"/>
            <a:ext cx="182880" cy="182880"/>
          </a:xfrm>
          <a:prstGeom prst="ellipse">
            <a:avLst/>
          </a:prstGeom>
          <a:solidFill>
            <a:srgbClr val="5E6B75"/>
          </a:solidFill>
          <a:ln w="22225">
            <a:solidFill>
              <a:srgbClr val="5E6B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26287" y="3227832"/>
            <a:ext cx="548640" cy="274320"/>
          </a:xfrm>
          <a:prstGeom prst="rect">
            <a:avLst/>
          </a:prstGeom>
          <a:noFill/>
        </p:spPr>
        <p:txBody>
          <a:bodyPr wrap="square" lIns="0" rIns="0" tIns="0" bIns="0" anchor="ctr">
            <a:spAutoFit/>
          </a:bodyPr>
          <a:lstStyle/>
          <a:p>
            <a:pPr algn="l"/>
            <a:r>
              <a:rPr sz="1100" b="1" i="0">
                <a:solidFill>
                  <a:srgbClr val="222222"/>
                </a:solidFill>
                <a:latin typeface="Arial"/>
              </a:rPr>
              <a:t>0.548</a:t>
            </a:r>
          </a:p>
        </p:txBody>
      </p:sp>
      <p:sp>
        <p:nvSpPr>
          <p:cNvPr id="21" name="TextBox 20"/>
          <p:cNvSpPr txBox="1"/>
          <p:nvPr/>
        </p:nvSpPr>
        <p:spPr>
          <a:xfrm>
            <a:off x="5120640" y="3227832"/>
            <a:ext cx="731520" cy="274320"/>
          </a:xfrm>
          <a:prstGeom prst="rect">
            <a:avLst/>
          </a:prstGeom>
          <a:noFill/>
        </p:spPr>
        <p:txBody>
          <a:bodyPr wrap="square" lIns="0" rIns="0" tIns="0" bIns="0" anchor="ctr">
            <a:spAutoFit/>
          </a:bodyPr>
          <a:lstStyle/>
          <a:p>
            <a:pPr algn="ctr"/>
            <a:r>
              <a:rPr sz="1100" b="0" i="0">
                <a:solidFill>
                  <a:srgbClr val="222222"/>
                </a:solidFill>
                <a:latin typeface="Arial"/>
              </a:rPr>
              <a:t>0.566</a:t>
            </a:r>
          </a:p>
        </p:txBody>
      </p:sp>
      <p:sp>
        <p:nvSpPr>
          <p:cNvPr id="22" name="TextBox 21"/>
          <p:cNvSpPr txBox="1"/>
          <p:nvPr/>
        </p:nvSpPr>
        <p:spPr>
          <a:xfrm>
            <a:off x="4526280" y="3227832"/>
            <a:ext cx="594360" cy="274320"/>
          </a:xfrm>
          <a:prstGeom prst="rect">
            <a:avLst/>
          </a:prstGeom>
          <a:noFill/>
        </p:spPr>
        <p:txBody>
          <a:bodyPr wrap="square" lIns="0" rIns="0" tIns="0" bIns="0" anchor="ctr">
            <a:spAutoFit/>
          </a:bodyPr>
          <a:lstStyle/>
          <a:p>
            <a:pPr algn="ctr"/>
            <a:r>
              <a:rPr sz="1100" b="0" i="0">
                <a:solidFill>
                  <a:srgbClr val="222222"/>
                </a:solidFill>
                <a:latin typeface="Arial"/>
              </a:rPr>
              <a:t>0.182</a:t>
            </a:r>
          </a:p>
        </p:txBody>
      </p:sp>
      <p:sp>
        <p:nvSpPr>
          <p:cNvPr id="23" name="TextBox 22"/>
          <p:cNvSpPr txBox="1"/>
          <p:nvPr/>
        </p:nvSpPr>
        <p:spPr>
          <a:xfrm>
            <a:off x="548640" y="3712464"/>
            <a:ext cx="1737360" cy="274320"/>
          </a:xfrm>
          <a:prstGeom prst="rect">
            <a:avLst/>
          </a:prstGeom>
          <a:noFill/>
        </p:spPr>
        <p:txBody>
          <a:bodyPr wrap="square" lIns="0" rIns="0" tIns="0" bIns="0" anchor="ctr">
            <a:spAutoFit/>
          </a:bodyPr>
          <a:lstStyle/>
          <a:p>
            <a:pPr algn="l"/>
            <a:r>
              <a:rPr sz="1150" b="1" i="0">
                <a:solidFill>
                  <a:srgbClr val="222222"/>
                </a:solidFill>
                <a:latin typeface="Arial"/>
              </a:rPr>
              <a:t>TabPFN</a:t>
            </a:r>
          </a:p>
        </p:txBody>
      </p:sp>
      <p:cxnSp>
        <p:nvCxnSpPr>
          <p:cNvPr id="24" name="Connector 23"/>
          <p:cNvCxnSpPr/>
          <p:nvPr/>
        </p:nvCxnSpPr>
        <p:spPr>
          <a:xfrm>
            <a:off x="2194560" y="3849624"/>
            <a:ext cx="2240280" cy="0"/>
          </a:xfrm>
          <a:prstGeom prst="line">
            <a:avLst/>
          </a:prstGeom>
          <a:ln w="6350">
            <a:solidFill>
              <a:srgbClr val="D9DEE3"/>
            </a:solidFill>
          </a:ln>
        </p:spPr>
      </p:cxnSp>
      <p:sp>
        <p:nvSpPr>
          <p:cNvPr id="25" name="Oval 24"/>
          <p:cNvSpPr/>
          <p:nvPr/>
        </p:nvSpPr>
        <p:spPr>
          <a:xfrm>
            <a:off x="3244916" y="3758184"/>
            <a:ext cx="182880" cy="182880"/>
          </a:xfrm>
          <a:prstGeom prst="ellipse">
            <a:avLst/>
          </a:prstGeom>
          <a:solidFill>
            <a:srgbClr val="98C1EB"/>
          </a:solidFill>
          <a:ln w="22225">
            <a:solidFill>
              <a:srgbClr val="98C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64372" y="3712464"/>
            <a:ext cx="548640" cy="274320"/>
          </a:xfrm>
          <a:prstGeom prst="rect">
            <a:avLst/>
          </a:prstGeom>
          <a:noFill/>
        </p:spPr>
        <p:txBody>
          <a:bodyPr wrap="square" lIns="0" rIns="0" tIns="0" bIns="0" anchor="ctr">
            <a:spAutoFit/>
          </a:bodyPr>
          <a:lstStyle/>
          <a:p>
            <a:pPr algn="l"/>
            <a:r>
              <a:rPr sz="1100" b="1" i="0">
                <a:solidFill>
                  <a:srgbClr val="222222"/>
                </a:solidFill>
                <a:latin typeface="Arial"/>
              </a:rPr>
              <a:t>0.553</a:t>
            </a:r>
          </a:p>
        </p:txBody>
      </p:sp>
      <p:sp>
        <p:nvSpPr>
          <p:cNvPr id="27" name="TextBox 26"/>
          <p:cNvSpPr txBox="1"/>
          <p:nvPr/>
        </p:nvSpPr>
        <p:spPr>
          <a:xfrm>
            <a:off x="5120640" y="3712464"/>
            <a:ext cx="731520" cy="274320"/>
          </a:xfrm>
          <a:prstGeom prst="rect">
            <a:avLst/>
          </a:prstGeom>
          <a:noFill/>
        </p:spPr>
        <p:txBody>
          <a:bodyPr wrap="square" lIns="0" rIns="0" tIns="0" bIns="0" anchor="ctr">
            <a:spAutoFit/>
          </a:bodyPr>
          <a:lstStyle/>
          <a:p>
            <a:pPr algn="ctr"/>
            <a:r>
              <a:rPr sz="1100" b="0" i="0">
                <a:solidFill>
                  <a:srgbClr val="222222"/>
                </a:solidFill>
                <a:latin typeface="Arial"/>
              </a:rPr>
              <a:t>0.573</a:t>
            </a:r>
          </a:p>
        </p:txBody>
      </p:sp>
      <p:sp>
        <p:nvSpPr>
          <p:cNvPr id="28" name="TextBox 27"/>
          <p:cNvSpPr txBox="1"/>
          <p:nvPr/>
        </p:nvSpPr>
        <p:spPr>
          <a:xfrm>
            <a:off x="4526280" y="3712464"/>
            <a:ext cx="594360" cy="274320"/>
          </a:xfrm>
          <a:prstGeom prst="rect">
            <a:avLst/>
          </a:prstGeom>
          <a:noFill/>
        </p:spPr>
        <p:txBody>
          <a:bodyPr wrap="square" lIns="0" rIns="0" tIns="0" bIns="0" anchor="ctr">
            <a:spAutoFit/>
          </a:bodyPr>
          <a:lstStyle/>
          <a:p>
            <a:pPr algn="ctr"/>
            <a:r>
              <a:rPr sz="1100" b="0" i="0">
                <a:solidFill>
                  <a:srgbClr val="222222"/>
                </a:solidFill>
                <a:latin typeface="Arial"/>
              </a:rPr>
              <a:t>0.169</a:t>
            </a:r>
          </a:p>
        </p:txBody>
      </p:sp>
      <p:sp>
        <p:nvSpPr>
          <p:cNvPr id="29" name="TextBox 28"/>
          <p:cNvSpPr txBox="1"/>
          <p:nvPr/>
        </p:nvSpPr>
        <p:spPr>
          <a:xfrm>
            <a:off x="548640" y="4197096"/>
            <a:ext cx="1737360" cy="274320"/>
          </a:xfrm>
          <a:prstGeom prst="rect">
            <a:avLst/>
          </a:prstGeom>
          <a:noFill/>
        </p:spPr>
        <p:txBody>
          <a:bodyPr wrap="square" lIns="0" rIns="0" tIns="0" bIns="0" anchor="ctr">
            <a:spAutoFit/>
          </a:bodyPr>
          <a:lstStyle/>
          <a:p>
            <a:pPr algn="l"/>
            <a:r>
              <a:rPr sz="1150" b="0" i="0">
                <a:solidFill>
                  <a:srgbClr val="222222"/>
                </a:solidFill>
                <a:latin typeface="Arial"/>
              </a:rPr>
              <a:t>Constant prediction</a:t>
            </a:r>
          </a:p>
        </p:txBody>
      </p:sp>
      <p:cxnSp>
        <p:nvCxnSpPr>
          <p:cNvPr id="30" name="Connector 29"/>
          <p:cNvCxnSpPr/>
          <p:nvPr/>
        </p:nvCxnSpPr>
        <p:spPr>
          <a:xfrm>
            <a:off x="2194560" y="4334256"/>
            <a:ext cx="2240280" cy="0"/>
          </a:xfrm>
          <a:prstGeom prst="line">
            <a:avLst/>
          </a:prstGeom>
          <a:ln w="6350">
            <a:solidFill>
              <a:srgbClr val="D9DEE3"/>
            </a:solidFill>
          </a:ln>
        </p:spPr>
      </p:cxnSp>
      <p:sp>
        <p:nvSpPr>
          <p:cNvPr id="31" name="Oval 30"/>
          <p:cNvSpPr/>
          <p:nvPr/>
        </p:nvSpPr>
        <p:spPr>
          <a:xfrm>
            <a:off x="2849880" y="4242816"/>
            <a:ext cx="182880" cy="182880"/>
          </a:xfrm>
          <a:prstGeom prst="ellipse">
            <a:avLst/>
          </a:prstGeom>
          <a:solidFill>
            <a:srgbClr val="B0B8BE"/>
          </a:solidFill>
          <a:ln w="22225">
            <a:solidFill>
              <a:srgbClr val="B0B8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69336" y="4197096"/>
            <a:ext cx="548640" cy="274320"/>
          </a:xfrm>
          <a:prstGeom prst="rect">
            <a:avLst/>
          </a:prstGeom>
          <a:noFill/>
        </p:spPr>
        <p:txBody>
          <a:bodyPr wrap="square" lIns="0" rIns="0" tIns="0" bIns="0" anchor="ctr">
            <a:spAutoFit/>
          </a:bodyPr>
          <a:lstStyle/>
          <a:p>
            <a:pPr algn="l"/>
            <a:r>
              <a:rPr sz="1100" b="1" i="0">
                <a:solidFill>
                  <a:srgbClr val="222222"/>
                </a:solidFill>
                <a:latin typeface="Arial"/>
              </a:rPr>
              <a:t>0.500</a:t>
            </a:r>
          </a:p>
        </p:txBody>
      </p:sp>
      <p:sp>
        <p:nvSpPr>
          <p:cNvPr id="33" name="TextBox 32"/>
          <p:cNvSpPr txBox="1"/>
          <p:nvPr/>
        </p:nvSpPr>
        <p:spPr>
          <a:xfrm>
            <a:off x="5120640" y="4197096"/>
            <a:ext cx="731520" cy="274320"/>
          </a:xfrm>
          <a:prstGeom prst="rect">
            <a:avLst/>
          </a:prstGeom>
          <a:noFill/>
        </p:spPr>
        <p:txBody>
          <a:bodyPr wrap="square" lIns="0" rIns="0" tIns="0" bIns="0" anchor="ctr">
            <a:spAutoFit/>
          </a:bodyPr>
          <a:lstStyle/>
          <a:p>
            <a:pPr algn="ctr"/>
            <a:r>
              <a:rPr sz="1100" b="0" i="0">
                <a:solidFill>
                  <a:srgbClr val="222222"/>
                </a:solidFill>
                <a:latin typeface="Arial"/>
              </a:rPr>
              <a:t>0.500</a:t>
            </a:r>
          </a:p>
        </p:txBody>
      </p:sp>
      <p:sp>
        <p:nvSpPr>
          <p:cNvPr id="34" name="TextBox 33"/>
          <p:cNvSpPr txBox="1"/>
          <p:nvPr/>
        </p:nvSpPr>
        <p:spPr>
          <a:xfrm>
            <a:off x="4526280" y="4197096"/>
            <a:ext cx="594360" cy="274320"/>
          </a:xfrm>
          <a:prstGeom prst="rect">
            <a:avLst/>
          </a:prstGeom>
          <a:noFill/>
        </p:spPr>
        <p:txBody>
          <a:bodyPr wrap="square" lIns="0" rIns="0" tIns="0" bIns="0" anchor="ctr">
            <a:spAutoFit/>
          </a:bodyPr>
          <a:lstStyle/>
          <a:p>
            <a:pPr algn="ctr"/>
            <a:r>
              <a:rPr sz="1100" b="1" i="0">
                <a:solidFill>
                  <a:srgbClr val="222222"/>
                </a:solidFill>
                <a:latin typeface="Arial"/>
              </a:rPr>
              <a:t>0.168</a:t>
            </a:r>
          </a:p>
        </p:txBody>
      </p:sp>
      <p:sp>
        <p:nvSpPr>
          <p:cNvPr id="35" name="TextBox 34"/>
          <p:cNvSpPr txBox="1"/>
          <p:nvPr/>
        </p:nvSpPr>
        <p:spPr>
          <a:xfrm>
            <a:off x="1828800" y="4663440"/>
            <a:ext cx="731520" cy="201168"/>
          </a:xfrm>
          <a:prstGeom prst="rect">
            <a:avLst/>
          </a:prstGeom>
          <a:noFill/>
        </p:spPr>
        <p:txBody>
          <a:bodyPr wrap="square" lIns="0" rIns="0" tIns="0" bIns="0" anchor="t">
            <a:spAutoFit/>
          </a:bodyPr>
          <a:lstStyle/>
          <a:p>
            <a:pPr algn="ctr"/>
            <a:r>
              <a:rPr sz="1000" b="0" i="0">
                <a:solidFill>
                  <a:srgbClr val="6B7C85"/>
                </a:solidFill>
                <a:latin typeface="Arial"/>
              </a:rPr>
              <a:t>0.40</a:t>
            </a:r>
          </a:p>
        </p:txBody>
      </p:sp>
      <p:sp>
        <p:nvSpPr>
          <p:cNvPr id="36" name="TextBox 35"/>
          <p:cNvSpPr txBox="1"/>
          <p:nvPr/>
        </p:nvSpPr>
        <p:spPr>
          <a:xfrm>
            <a:off x="2575560" y="4663440"/>
            <a:ext cx="731520" cy="201168"/>
          </a:xfrm>
          <a:prstGeom prst="rect">
            <a:avLst/>
          </a:prstGeom>
          <a:noFill/>
        </p:spPr>
        <p:txBody>
          <a:bodyPr wrap="square" lIns="0" rIns="0" tIns="0" bIns="0" anchor="t">
            <a:spAutoFit/>
          </a:bodyPr>
          <a:lstStyle/>
          <a:p>
            <a:pPr algn="ctr"/>
            <a:r>
              <a:rPr sz="1000" b="0" i="0">
                <a:solidFill>
                  <a:srgbClr val="6B7C85"/>
                </a:solidFill>
                <a:latin typeface="Arial"/>
              </a:rPr>
              <a:t>0.50</a:t>
            </a:r>
          </a:p>
        </p:txBody>
      </p:sp>
      <p:sp>
        <p:nvSpPr>
          <p:cNvPr id="37" name="TextBox 36"/>
          <p:cNvSpPr txBox="1"/>
          <p:nvPr/>
        </p:nvSpPr>
        <p:spPr>
          <a:xfrm>
            <a:off x="3322320" y="4663440"/>
            <a:ext cx="731520" cy="201168"/>
          </a:xfrm>
          <a:prstGeom prst="rect">
            <a:avLst/>
          </a:prstGeom>
          <a:noFill/>
        </p:spPr>
        <p:txBody>
          <a:bodyPr wrap="square" lIns="0" rIns="0" tIns="0" bIns="0" anchor="t">
            <a:spAutoFit/>
          </a:bodyPr>
          <a:lstStyle/>
          <a:p>
            <a:pPr algn="ctr"/>
            <a:r>
              <a:rPr sz="1000" b="0" i="0">
                <a:solidFill>
                  <a:srgbClr val="6B7C85"/>
                </a:solidFill>
                <a:latin typeface="Arial"/>
              </a:rPr>
              <a:t>0.60</a:t>
            </a:r>
          </a:p>
        </p:txBody>
      </p:sp>
      <p:sp>
        <p:nvSpPr>
          <p:cNvPr id="38" name="TextBox 37"/>
          <p:cNvSpPr txBox="1"/>
          <p:nvPr/>
        </p:nvSpPr>
        <p:spPr>
          <a:xfrm>
            <a:off x="4069080" y="4663440"/>
            <a:ext cx="731520" cy="201168"/>
          </a:xfrm>
          <a:prstGeom prst="rect">
            <a:avLst/>
          </a:prstGeom>
          <a:noFill/>
        </p:spPr>
        <p:txBody>
          <a:bodyPr wrap="square" lIns="0" rIns="0" tIns="0" bIns="0" anchor="t">
            <a:spAutoFit/>
          </a:bodyPr>
          <a:lstStyle/>
          <a:p>
            <a:pPr algn="ctr"/>
            <a:r>
              <a:rPr sz="1000" b="0" i="0">
                <a:solidFill>
                  <a:srgbClr val="6B7C85"/>
                </a:solidFill>
                <a:latin typeface="Arial"/>
              </a:rPr>
              <a:t>0.70</a:t>
            </a:r>
          </a:p>
        </p:txBody>
      </p:sp>
      <p:cxnSp>
        <p:nvCxnSpPr>
          <p:cNvPr id="39" name="Connector 38"/>
          <p:cNvCxnSpPr/>
          <p:nvPr/>
        </p:nvCxnSpPr>
        <p:spPr>
          <a:xfrm>
            <a:off x="2194560" y="4617720"/>
            <a:ext cx="2240280" cy="0"/>
          </a:xfrm>
          <a:prstGeom prst="line">
            <a:avLst/>
          </a:prstGeom>
          <a:ln w="9525">
            <a:solidFill>
              <a:srgbClr val="D9DEE3"/>
            </a:solidFill>
          </a:ln>
        </p:spPr>
      </p:cxnSp>
      <p:cxnSp>
        <p:nvCxnSpPr>
          <p:cNvPr id="40" name="Connector 39"/>
          <p:cNvCxnSpPr/>
          <p:nvPr/>
        </p:nvCxnSpPr>
        <p:spPr>
          <a:xfrm>
            <a:off x="2941320" y="2697480"/>
            <a:ext cx="0" cy="1920240"/>
          </a:xfrm>
          <a:prstGeom prst="line">
            <a:avLst/>
          </a:prstGeom>
          <a:ln w="19050">
            <a:solidFill>
              <a:srgbClr val="B0B8BE"/>
            </a:solidFill>
            <a:prstDash val="sysDot"/>
          </a:ln>
        </p:spPr>
      </p:cxnSp>
      <p:sp>
        <p:nvSpPr>
          <p:cNvPr id="41" name="TextBox 40"/>
          <p:cNvSpPr txBox="1"/>
          <p:nvPr/>
        </p:nvSpPr>
        <p:spPr>
          <a:xfrm>
            <a:off x="2392680" y="4864608"/>
            <a:ext cx="1097280" cy="201168"/>
          </a:xfrm>
          <a:prstGeom prst="rect">
            <a:avLst/>
          </a:prstGeom>
          <a:noFill/>
        </p:spPr>
        <p:txBody>
          <a:bodyPr wrap="square" lIns="0" rIns="0" tIns="0" bIns="0" anchor="t">
            <a:spAutoFit/>
          </a:bodyPr>
          <a:lstStyle/>
          <a:p>
            <a:pPr algn="ctr"/>
            <a:r>
              <a:rPr sz="900" b="0" i="0">
                <a:solidFill>
                  <a:srgbClr val="6B7C85"/>
                </a:solidFill>
                <a:latin typeface="Arial"/>
              </a:rPr>
              <a:t>random</a:t>
            </a:r>
          </a:p>
        </p:txBody>
      </p:sp>
      <p:sp>
        <p:nvSpPr>
          <p:cNvPr id="42" name="TextBox 41"/>
          <p:cNvSpPr txBox="1"/>
          <p:nvPr/>
        </p:nvSpPr>
        <p:spPr>
          <a:xfrm>
            <a:off x="548640" y="5193792"/>
            <a:ext cx="5394960" cy="777240"/>
          </a:xfrm>
          <a:prstGeom prst="rect">
            <a:avLst/>
          </a:prstGeom>
          <a:noFill/>
        </p:spPr>
        <p:txBody>
          <a:bodyPr wrap="square" lIns="0" rIns="0" tIns="0" bIns="0" anchor="t">
            <a:spAutoFit/>
          </a:bodyPr>
          <a:lstStyle/>
          <a:p>
            <a:pPr algn="l">
              <a:spcAft>
                <a:spcPts val="300"/>
              </a:spcAft>
            </a:pPr>
            <a:r>
              <a:rPr sz="1000" b="1" i="0">
                <a:solidFill>
                  <a:srgbClr val="222222"/>
                </a:solidFill>
                <a:latin typeface="Arial"/>
              </a:rPr>
              <a:t>DeLong: </a:t>
            </a:r>
            <a:r>
              <a:rPr sz="1000" b="0" i="0">
                <a:solidFill>
                  <a:srgbClr val="222222"/>
                </a:solidFill>
                <a:latin typeface="Arial"/>
              </a:rPr>
              <a:t>XGBoost vs TabPFN −0.005 (p = 0.41), tied. The white box is below both (−0.015, p = 0.03; −0.020, p &lt; 0.001).</a:t>
            </a:r>
          </a:p>
          <a:p>
            <a:pPr algn="l"/>
            <a:r>
              <a:rPr sz="1000" b="1" i="0">
                <a:solidFill>
                  <a:srgbClr val="222222"/>
                </a:solidFill>
                <a:latin typeface="Arial"/>
              </a:rPr>
              <a:t>Brier: </a:t>
            </a:r>
            <a:r>
              <a:rPr sz="1000" b="0" i="0">
                <a:solidFill>
                  <a:srgbClr val="222222"/>
                </a:solidFill>
                <a:latin typeface="Arial"/>
              </a:rPr>
              <a:t>none beats a constant prediction (0.168). With all 49,752 rows, AUC rises by only 0.02 and the ranking is unchanged.</a:t>
            </a:r>
          </a:p>
        </p:txBody>
      </p:sp>
      <p:sp>
        <p:nvSpPr>
          <p:cNvPr id="43" name="TextBox 42"/>
          <p:cNvSpPr txBox="1"/>
          <p:nvPr/>
        </p:nvSpPr>
        <p:spPr>
          <a:xfrm>
            <a:off x="6309360" y="1554480"/>
            <a:ext cx="5303520" cy="371856"/>
          </a:xfrm>
          <a:prstGeom prst="rect">
            <a:avLst/>
          </a:prstGeom>
          <a:noFill/>
        </p:spPr>
        <p:txBody>
          <a:bodyPr wrap="square" lIns="0" rIns="0" tIns="0" bIns="0" anchor="t">
            <a:spAutoFit/>
          </a:bodyPr>
          <a:lstStyle/>
          <a:p>
            <a:pPr algn="l"/>
            <a:r>
              <a:rPr sz="1200" b="1" i="0">
                <a:solidFill>
                  <a:srgbClr val="222222"/>
                </a:solidFill>
                <a:latin typeface="Arial"/>
              </a:rPr>
              <a:t>Finds if MNPD searched only the 2,000 top-scored of the 9,113 test stops</a:t>
            </a:r>
          </a:p>
        </p:txBody>
      </p:sp>
      <p:sp>
        <p:nvSpPr>
          <p:cNvPr id="44" name="TextBox 43"/>
          <p:cNvSpPr txBox="1"/>
          <p:nvPr/>
        </p:nvSpPr>
        <p:spPr>
          <a:xfrm>
            <a:off x="6309360" y="1926336"/>
            <a:ext cx="5303520" cy="228600"/>
          </a:xfrm>
          <a:prstGeom prst="rect">
            <a:avLst/>
          </a:prstGeom>
          <a:noFill/>
        </p:spPr>
        <p:txBody>
          <a:bodyPr wrap="square" lIns="0" rIns="0" tIns="0" bIns="0" anchor="t">
            <a:spAutoFit/>
          </a:bodyPr>
          <a:lstStyle/>
          <a:p>
            <a:pPr algn="l"/>
            <a:r>
              <a:rPr sz="1000" b="0" i="0">
                <a:solidFill>
                  <a:srgbClr val="6B7C85"/>
                </a:solidFill>
                <a:latin typeface="Arial"/>
              </a:rPr>
              <a:t>A search budget of ≈ 22%; same models as on the left (2,000 training rows)</a:t>
            </a:r>
          </a:p>
        </p:txBody>
      </p:sp>
      <p:cxnSp>
        <p:nvCxnSpPr>
          <p:cNvPr id="45" name="Connector 44"/>
          <p:cNvCxnSpPr/>
          <p:nvPr/>
        </p:nvCxnSpPr>
        <p:spPr>
          <a:xfrm>
            <a:off x="7498080" y="4623816"/>
            <a:ext cx="4142232" cy="0"/>
          </a:xfrm>
          <a:prstGeom prst="line">
            <a:avLst/>
          </a:prstGeom>
          <a:ln w="9525">
            <a:solidFill>
              <a:srgbClr val="D9DEE3"/>
            </a:solidFill>
          </a:ln>
        </p:spPr>
      </p:cxnSp>
      <p:cxnSp>
        <p:nvCxnSpPr>
          <p:cNvPr id="46" name="Connector 45"/>
          <p:cNvCxnSpPr/>
          <p:nvPr/>
        </p:nvCxnSpPr>
        <p:spPr>
          <a:xfrm>
            <a:off x="7498080" y="2931871"/>
            <a:ext cx="4142232" cy="0"/>
          </a:xfrm>
          <a:prstGeom prst="line">
            <a:avLst/>
          </a:prstGeom>
          <a:ln w="15875">
            <a:solidFill>
              <a:srgbClr val="B0B8BE"/>
            </a:solidFill>
            <a:prstDash val="sysDot"/>
          </a:ln>
        </p:spPr>
      </p:cxnSp>
      <p:sp>
        <p:nvSpPr>
          <p:cNvPr id="47" name="Rectangle 46"/>
          <p:cNvSpPr/>
          <p:nvPr/>
        </p:nvSpPr>
        <p:spPr>
          <a:xfrm>
            <a:off x="7680960" y="2931871"/>
            <a:ext cx="640080" cy="1691945"/>
          </a:xfrm>
          <a:prstGeom prst="rect">
            <a:avLst/>
          </a:prstGeom>
          <a:solidFill>
            <a:srgbClr val="B0B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543800" y="2657551"/>
            <a:ext cx="914400" cy="237744"/>
          </a:xfrm>
          <a:prstGeom prst="rect">
            <a:avLst/>
          </a:prstGeom>
          <a:noFill/>
        </p:spPr>
        <p:txBody>
          <a:bodyPr wrap="square" lIns="0" rIns="0" tIns="0" bIns="0" anchor="t">
            <a:spAutoFit/>
          </a:bodyPr>
          <a:lstStyle/>
          <a:p>
            <a:pPr algn="ctr"/>
            <a:r>
              <a:rPr sz="1200" b="1" i="0">
                <a:solidFill>
                  <a:srgbClr val="222222"/>
                </a:solidFill>
                <a:latin typeface="Arial"/>
              </a:rPr>
              <a:t>427</a:t>
            </a:r>
          </a:p>
        </p:txBody>
      </p:sp>
      <p:sp>
        <p:nvSpPr>
          <p:cNvPr id="49" name="TextBox 48"/>
          <p:cNvSpPr txBox="1"/>
          <p:nvPr/>
        </p:nvSpPr>
        <p:spPr>
          <a:xfrm>
            <a:off x="7452360" y="4687824"/>
            <a:ext cx="1097280" cy="228600"/>
          </a:xfrm>
          <a:prstGeom prst="rect">
            <a:avLst/>
          </a:prstGeom>
          <a:noFill/>
        </p:spPr>
        <p:txBody>
          <a:bodyPr wrap="square" lIns="0" rIns="0" tIns="0" bIns="0" anchor="t">
            <a:spAutoFit/>
          </a:bodyPr>
          <a:lstStyle/>
          <a:p>
            <a:pPr algn="ctr"/>
            <a:r>
              <a:rPr sz="1100" b="1" i="0">
                <a:solidFill>
                  <a:srgbClr val="222222"/>
                </a:solidFill>
                <a:latin typeface="Arial"/>
              </a:rPr>
              <a:t>Random</a:t>
            </a:r>
          </a:p>
        </p:txBody>
      </p:sp>
      <p:sp>
        <p:nvSpPr>
          <p:cNvPr id="50" name="TextBox 49"/>
          <p:cNvSpPr txBox="1"/>
          <p:nvPr/>
        </p:nvSpPr>
        <p:spPr>
          <a:xfrm>
            <a:off x="7452360" y="5007864"/>
            <a:ext cx="1097280" cy="228600"/>
          </a:xfrm>
          <a:prstGeom prst="rect">
            <a:avLst/>
          </a:prstGeom>
          <a:noFill/>
        </p:spPr>
        <p:txBody>
          <a:bodyPr wrap="square" lIns="0" rIns="0" tIns="0" bIns="0" anchor="t">
            <a:spAutoFit/>
          </a:bodyPr>
          <a:lstStyle/>
          <a:p>
            <a:pPr algn="ctr"/>
            <a:r>
              <a:rPr sz="1100" b="0" i="0">
                <a:solidFill>
                  <a:srgbClr val="222222"/>
                </a:solidFill>
                <a:latin typeface="Arial"/>
              </a:rPr>
              <a:t>1,573</a:t>
            </a:r>
          </a:p>
        </p:txBody>
      </p:sp>
      <p:sp>
        <p:nvSpPr>
          <p:cNvPr id="51" name="TextBox 50"/>
          <p:cNvSpPr txBox="1"/>
          <p:nvPr/>
        </p:nvSpPr>
        <p:spPr>
          <a:xfrm>
            <a:off x="7452360" y="5282184"/>
            <a:ext cx="1097280" cy="228600"/>
          </a:xfrm>
          <a:prstGeom prst="rect">
            <a:avLst/>
          </a:prstGeom>
          <a:noFill/>
        </p:spPr>
        <p:txBody>
          <a:bodyPr wrap="square" lIns="0" rIns="0" tIns="0" bIns="0" anchor="t">
            <a:spAutoFit/>
          </a:bodyPr>
          <a:lstStyle/>
          <a:p>
            <a:pPr algn="ctr"/>
            <a:r>
              <a:rPr sz="1100" b="1" i="0">
                <a:solidFill>
                  <a:srgbClr val="6B7C85"/>
                </a:solidFill>
                <a:latin typeface="Arial"/>
              </a:rPr>
              <a:t>·</a:t>
            </a:r>
          </a:p>
        </p:txBody>
      </p:sp>
      <p:sp>
        <p:nvSpPr>
          <p:cNvPr id="52" name="TextBox 51"/>
          <p:cNvSpPr txBox="1"/>
          <p:nvPr/>
        </p:nvSpPr>
        <p:spPr>
          <a:xfrm>
            <a:off x="7452360" y="5556504"/>
            <a:ext cx="1097280" cy="228600"/>
          </a:xfrm>
          <a:prstGeom prst="rect">
            <a:avLst/>
          </a:prstGeom>
          <a:noFill/>
        </p:spPr>
        <p:txBody>
          <a:bodyPr wrap="square" lIns="0" rIns="0" tIns="0" bIns="0" anchor="t">
            <a:spAutoFit/>
          </a:bodyPr>
          <a:lstStyle/>
          <a:p>
            <a:pPr algn="ctr"/>
            <a:r>
              <a:rPr sz="1100" b="0" i="0">
                <a:solidFill>
                  <a:srgbClr val="222222"/>
                </a:solidFill>
                <a:latin typeface="Arial"/>
              </a:rPr>
              <a:t>0.27</a:t>
            </a:r>
          </a:p>
        </p:txBody>
      </p:sp>
      <p:sp>
        <p:nvSpPr>
          <p:cNvPr id="53" name="Rectangle 52"/>
          <p:cNvSpPr/>
          <p:nvPr/>
        </p:nvSpPr>
        <p:spPr>
          <a:xfrm>
            <a:off x="8778240" y="2801112"/>
            <a:ext cx="640080" cy="1822704"/>
          </a:xfrm>
          <a:prstGeom prst="rect">
            <a:avLst/>
          </a:prstGeom>
          <a:solidFill>
            <a:srgbClr val="19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41080" y="2526792"/>
            <a:ext cx="914400" cy="237744"/>
          </a:xfrm>
          <a:prstGeom prst="rect">
            <a:avLst/>
          </a:prstGeom>
          <a:noFill/>
        </p:spPr>
        <p:txBody>
          <a:bodyPr wrap="square" lIns="0" rIns="0" tIns="0" bIns="0" anchor="t">
            <a:spAutoFit/>
          </a:bodyPr>
          <a:lstStyle/>
          <a:p>
            <a:pPr algn="ctr"/>
            <a:r>
              <a:rPr sz="1200" b="1" i="0">
                <a:solidFill>
                  <a:srgbClr val="222222"/>
                </a:solidFill>
                <a:latin typeface="Arial"/>
              </a:rPr>
              <a:t>460</a:t>
            </a:r>
          </a:p>
        </p:txBody>
      </p:sp>
      <p:sp>
        <p:nvSpPr>
          <p:cNvPr id="55" name="TextBox 54"/>
          <p:cNvSpPr txBox="1"/>
          <p:nvPr/>
        </p:nvSpPr>
        <p:spPr>
          <a:xfrm>
            <a:off x="8549640" y="4687824"/>
            <a:ext cx="1097280" cy="228600"/>
          </a:xfrm>
          <a:prstGeom prst="rect">
            <a:avLst/>
          </a:prstGeom>
          <a:noFill/>
        </p:spPr>
        <p:txBody>
          <a:bodyPr wrap="square" lIns="0" rIns="0" tIns="0" bIns="0" anchor="t">
            <a:spAutoFit/>
          </a:bodyPr>
          <a:lstStyle/>
          <a:p>
            <a:pPr algn="ctr"/>
            <a:r>
              <a:rPr sz="1100" b="1" i="0">
                <a:solidFill>
                  <a:srgbClr val="222222"/>
                </a:solidFill>
                <a:latin typeface="Arial"/>
              </a:rPr>
              <a:t>White box</a:t>
            </a:r>
          </a:p>
        </p:txBody>
      </p:sp>
      <p:sp>
        <p:nvSpPr>
          <p:cNvPr id="56" name="TextBox 55"/>
          <p:cNvSpPr txBox="1"/>
          <p:nvPr/>
        </p:nvSpPr>
        <p:spPr>
          <a:xfrm>
            <a:off x="8549640" y="5007864"/>
            <a:ext cx="1097280" cy="228600"/>
          </a:xfrm>
          <a:prstGeom prst="rect">
            <a:avLst/>
          </a:prstGeom>
          <a:noFill/>
        </p:spPr>
        <p:txBody>
          <a:bodyPr wrap="square" lIns="0" rIns="0" tIns="0" bIns="0" anchor="t">
            <a:spAutoFit/>
          </a:bodyPr>
          <a:lstStyle/>
          <a:p>
            <a:pPr algn="ctr"/>
            <a:r>
              <a:rPr sz="1100" b="0" i="0">
                <a:solidFill>
                  <a:srgbClr val="222222"/>
                </a:solidFill>
                <a:latin typeface="Arial"/>
              </a:rPr>
              <a:t>1,540</a:t>
            </a:r>
          </a:p>
        </p:txBody>
      </p:sp>
      <p:sp>
        <p:nvSpPr>
          <p:cNvPr id="57" name="TextBox 56"/>
          <p:cNvSpPr txBox="1"/>
          <p:nvPr/>
        </p:nvSpPr>
        <p:spPr>
          <a:xfrm>
            <a:off x="8549640" y="5282184"/>
            <a:ext cx="1097280" cy="228600"/>
          </a:xfrm>
          <a:prstGeom prst="rect">
            <a:avLst/>
          </a:prstGeom>
          <a:noFill/>
        </p:spPr>
        <p:txBody>
          <a:bodyPr wrap="square" lIns="0" rIns="0" tIns="0" bIns="0" anchor="t">
            <a:spAutoFit/>
          </a:bodyPr>
          <a:lstStyle/>
          <a:p>
            <a:pPr algn="ctr"/>
            <a:r>
              <a:rPr sz="1100" b="1" i="0">
                <a:solidFill>
                  <a:srgbClr val="1976D2"/>
                </a:solidFill>
                <a:latin typeface="Arial"/>
              </a:rPr>
              <a:t>+33</a:t>
            </a:r>
          </a:p>
        </p:txBody>
      </p:sp>
      <p:sp>
        <p:nvSpPr>
          <p:cNvPr id="58" name="TextBox 57"/>
          <p:cNvSpPr txBox="1"/>
          <p:nvPr/>
        </p:nvSpPr>
        <p:spPr>
          <a:xfrm>
            <a:off x="8549640" y="5556504"/>
            <a:ext cx="1097280" cy="228600"/>
          </a:xfrm>
          <a:prstGeom prst="rect">
            <a:avLst/>
          </a:prstGeom>
          <a:noFill/>
        </p:spPr>
        <p:txBody>
          <a:bodyPr wrap="square" lIns="0" rIns="0" tIns="0" bIns="0" anchor="t">
            <a:spAutoFit/>
          </a:bodyPr>
          <a:lstStyle/>
          <a:p>
            <a:pPr algn="ctr"/>
            <a:r>
              <a:rPr sz="1100" b="0" i="0">
                <a:solidFill>
                  <a:srgbClr val="222222"/>
                </a:solidFill>
                <a:latin typeface="Arial"/>
              </a:rPr>
              <a:t>0.30</a:t>
            </a:r>
          </a:p>
        </p:txBody>
      </p:sp>
      <p:sp>
        <p:nvSpPr>
          <p:cNvPr id="59" name="Rectangle 58"/>
          <p:cNvSpPr/>
          <p:nvPr/>
        </p:nvSpPr>
        <p:spPr>
          <a:xfrm>
            <a:off x="9875520" y="2638654"/>
            <a:ext cx="640080" cy="1985162"/>
          </a:xfrm>
          <a:prstGeom prst="rect">
            <a:avLst/>
          </a:prstGeom>
          <a:solidFill>
            <a:srgbClr val="5E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738360" y="2364334"/>
            <a:ext cx="914400" cy="237744"/>
          </a:xfrm>
          <a:prstGeom prst="rect">
            <a:avLst/>
          </a:prstGeom>
          <a:noFill/>
        </p:spPr>
        <p:txBody>
          <a:bodyPr wrap="square" lIns="0" rIns="0" tIns="0" bIns="0" anchor="t">
            <a:spAutoFit/>
          </a:bodyPr>
          <a:lstStyle/>
          <a:p>
            <a:pPr algn="ctr"/>
            <a:r>
              <a:rPr sz="1200" b="1" i="0">
                <a:solidFill>
                  <a:srgbClr val="222222"/>
                </a:solidFill>
                <a:latin typeface="Arial"/>
              </a:rPr>
              <a:t>501</a:t>
            </a:r>
          </a:p>
        </p:txBody>
      </p:sp>
      <p:sp>
        <p:nvSpPr>
          <p:cNvPr id="61" name="TextBox 60"/>
          <p:cNvSpPr txBox="1"/>
          <p:nvPr/>
        </p:nvSpPr>
        <p:spPr>
          <a:xfrm>
            <a:off x="9646920" y="4687824"/>
            <a:ext cx="1097280" cy="228600"/>
          </a:xfrm>
          <a:prstGeom prst="rect">
            <a:avLst/>
          </a:prstGeom>
          <a:noFill/>
        </p:spPr>
        <p:txBody>
          <a:bodyPr wrap="square" lIns="0" rIns="0" tIns="0" bIns="0" anchor="t">
            <a:spAutoFit/>
          </a:bodyPr>
          <a:lstStyle/>
          <a:p>
            <a:pPr algn="ctr"/>
            <a:r>
              <a:rPr sz="1100" b="1" i="0">
                <a:solidFill>
                  <a:srgbClr val="222222"/>
                </a:solidFill>
                <a:latin typeface="Arial"/>
              </a:rPr>
              <a:t>XGBoost</a:t>
            </a:r>
          </a:p>
        </p:txBody>
      </p:sp>
      <p:sp>
        <p:nvSpPr>
          <p:cNvPr id="62" name="TextBox 61"/>
          <p:cNvSpPr txBox="1"/>
          <p:nvPr/>
        </p:nvSpPr>
        <p:spPr>
          <a:xfrm>
            <a:off x="9646920" y="5007864"/>
            <a:ext cx="1097280" cy="228600"/>
          </a:xfrm>
          <a:prstGeom prst="rect">
            <a:avLst/>
          </a:prstGeom>
          <a:noFill/>
        </p:spPr>
        <p:txBody>
          <a:bodyPr wrap="square" lIns="0" rIns="0" tIns="0" bIns="0" anchor="t">
            <a:spAutoFit/>
          </a:bodyPr>
          <a:lstStyle/>
          <a:p>
            <a:pPr algn="ctr"/>
            <a:r>
              <a:rPr sz="1100" b="0" i="0">
                <a:solidFill>
                  <a:srgbClr val="222222"/>
                </a:solidFill>
                <a:latin typeface="Arial"/>
              </a:rPr>
              <a:t>1,499</a:t>
            </a:r>
          </a:p>
        </p:txBody>
      </p:sp>
      <p:sp>
        <p:nvSpPr>
          <p:cNvPr id="63" name="TextBox 62"/>
          <p:cNvSpPr txBox="1"/>
          <p:nvPr/>
        </p:nvSpPr>
        <p:spPr>
          <a:xfrm>
            <a:off x="9646920" y="5282184"/>
            <a:ext cx="1097280" cy="228600"/>
          </a:xfrm>
          <a:prstGeom prst="rect">
            <a:avLst/>
          </a:prstGeom>
          <a:noFill/>
        </p:spPr>
        <p:txBody>
          <a:bodyPr wrap="square" lIns="0" rIns="0" tIns="0" bIns="0" anchor="t">
            <a:spAutoFit/>
          </a:bodyPr>
          <a:lstStyle/>
          <a:p>
            <a:pPr algn="ctr"/>
            <a:r>
              <a:rPr sz="1100" b="1" i="0">
                <a:solidFill>
                  <a:srgbClr val="1976D2"/>
                </a:solidFill>
                <a:latin typeface="Arial"/>
              </a:rPr>
              <a:t>+74</a:t>
            </a:r>
          </a:p>
        </p:txBody>
      </p:sp>
      <p:sp>
        <p:nvSpPr>
          <p:cNvPr id="64" name="TextBox 63"/>
          <p:cNvSpPr txBox="1"/>
          <p:nvPr/>
        </p:nvSpPr>
        <p:spPr>
          <a:xfrm>
            <a:off x="9646920" y="5556504"/>
            <a:ext cx="1097280" cy="228600"/>
          </a:xfrm>
          <a:prstGeom prst="rect">
            <a:avLst/>
          </a:prstGeom>
          <a:noFill/>
        </p:spPr>
        <p:txBody>
          <a:bodyPr wrap="square" lIns="0" rIns="0" tIns="0" bIns="0" anchor="t">
            <a:spAutoFit/>
          </a:bodyPr>
          <a:lstStyle/>
          <a:p>
            <a:pPr algn="ctr"/>
            <a:r>
              <a:rPr sz="1100" b="0" i="0">
                <a:solidFill>
                  <a:srgbClr val="222222"/>
                </a:solidFill>
                <a:latin typeface="Arial"/>
              </a:rPr>
              <a:t>0.33</a:t>
            </a:r>
          </a:p>
        </p:txBody>
      </p:sp>
      <p:sp>
        <p:nvSpPr>
          <p:cNvPr id="65" name="Rectangle 64"/>
          <p:cNvSpPr/>
          <p:nvPr/>
        </p:nvSpPr>
        <p:spPr>
          <a:xfrm>
            <a:off x="10972800" y="2606954"/>
            <a:ext cx="640080" cy="2016862"/>
          </a:xfrm>
          <a:prstGeom prst="rect">
            <a:avLst/>
          </a:prstGeom>
          <a:solidFill>
            <a:srgbClr val="98C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835640" y="2332634"/>
            <a:ext cx="914400" cy="237744"/>
          </a:xfrm>
          <a:prstGeom prst="rect">
            <a:avLst/>
          </a:prstGeom>
          <a:noFill/>
        </p:spPr>
        <p:txBody>
          <a:bodyPr wrap="square" lIns="0" rIns="0" tIns="0" bIns="0" anchor="t">
            <a:spAutoFit/>
          </a:bodyPr>
          <a:lstStyle/>
          <a:p>
            <a:pPr algn="ctr"/>
            <a:r>
              <a:rPr sz="1200" b="1" i="0">
                <a:solidFill>
                  <a:srgbClr val="222222"/>
                </a:solidFill>
                <a:latin typeface="Arial"/>
              </a:rPr>
              <a:t>509</a:t>
            </a:r>
          </a:p>
        </p:txBody>
      </p:sp>
      <p:sp>
        <p:nvSpPr>
          <p:cNvPr id="67" name="TextBox 66"/>
          <p:cNvSpPr txBox="1"/>
          <p:nvPr/>
        </p:nvSpPr>
        <p:spPr>
          <a:xfrm>
            <a:off x="10744200" y="4687824"/>
            <a:ext cx="1097280" cy="228600"/>
          </a:xfrm>
          <a:prstGeom prst="rect">
            <a:avLst/>
          </a:prstGeom>
          <a:noFill/>
        </p:spPr>
        <p:txBody>
          <a:bodyPr wrap="square" lIns="0" rIns="0" tIns="0" bIns="0" anchor="t">
            <a:spAutoFit/>
          </a:bodyPr>
          <a:lstStyle/>
          <a:p>
            <a:pPr algn="ctr"/>
            <a:r>
              <a:rPr sz="1100" b="1" i="0">
                <a:solidFill>
                  <a:srgbClr val="222222"/>
                </a:solidFill>
                <a:latin typeface="Arial"/>
              </a:rPr>
              <a:t>TabPFN</a:t>
            </a:r>
          </a:p>
        </p:txBody>
      </p:sp>
      <p:sp>
        <p:nvSpPr>
          <p:cNvPr id="68" name="TextBox 67"/>
          <p:cNvSpPr txBox="1"/>
          <p:nvPr/>
        </p:nvSpPr>
        <p:spPr>
          <a:xfrm>
            <a:off x="10744200" y="5007864"/>
            <a:ext cx="1097280" cy="228600"/>
          </a:xfrm>
          <a:prstGeom prst="rect">
            <a:avLst/>
          </a:prstGeom>
          <a:noFill/>
        </p:spPr>
        <p:txBody>
          <a:bodyPr wrap="square" lIns="0" rIns="0" tIns="0" bIns="0" anchor="t">
            <a:spAutoFit/>
          </a:bodyPr>
          <a:lstStyle/>
          <a:p>
            <a:pPr algn="ctr"/>
            <a:r>
              <a:rPr sz="1100" b="0" i="0">
                <a:solidFill>
                  <a:srgbClr val="222222"/>
                </a:solidFill>
                <a:latin typeface="Arial"/>
              </a:rPr>
              <a:t>1,491</a:t>
            </a:r>
          </a:p>
        </p:txBody>
      </p:sp>
      <p:sp>
        <p:nvSpPr>
          <p:cNvPr id="69" name="TextBox 68"/>
          <p:cNvSpPr txBox="1"/>
          <p:nvPr/>
        </p:nvSpPr>
        <p:spPr>
          <a:xfrm>
            <a:off x="10744200" y="5282184"/>
            <a:ext cx="1097280" cy="228600"/>
          </a:xfrm>
          <a:prstGeom prst="rect">
            <a:avLst/>
          </a:prstGeom>
          <a:noFill/>
        </p:spPr>
        <p:txBody>
          <a:bodyPr wrap="square" lIns="0" rIns="0" tIns="0" bIns="0" anchor="t">
            <a:spAutoFit/>
          </a:bodyPr>
          <a:lstStyle/>
          <a:p>
            <a:pPr algn="ctr"/>
            <a:r>
              <a:rPr sz="1100" b="1" i="0">
                <a:solidFill>
                  <a:srgbClr val="1976D2"/>
                </a:solidFill>
                <a:latin typeface="Arial"/>
              </a:rPr>
              <a:t>+82</a:t>
            </a:r>
          </a:p>
        </p:txBody>
      </p:sp>
      <p:sp>
        <p:nvSpPr>
          <p:cNvPr id="70" name="TextBox 69"/>
          <p:cNvSpPr txBox="1"/>
          <p:nvPr/>
        </p:nvSpPr>
        <p:spPr>
          <a:xfrm>
            <a:off x="10744200" y="5556504"/>
            <a:ext cx="1097280" cy="228600"/>
          </a:xfrm>
          <a:prstGeom prst="rect">
            <a:avLst/>
          </a:prstGeom>
          <a:noFill/>
        </p:spPr>
        <p:txBody>
          <a:bodyPr wrap="square" lIns="0" rIns="0" tIns="0" bIns="0" anchor="t">
            <a:spAutoFit/>
          </a:bodyPr>
          <a:lstStyle/>
          <a:p>
            <a:pPr algn="ctr"/>
            <a:r>
              <a:rPr sz="1100" b="0" i="0">
                <a:solidFill>
                  <a:srgbClr val="222222"/>
                </a:solidFill>
                <a:latin typeface="Arial"/>
              </a:rPr>
              <a:t>0.34</a:t>
            </a:r>
          </a:p>
        </p:txBody>
      </p:sp>
      <p:sp>
        <p:nvSpPr>
          <p:cNvPr id="71" name="TextBox 70"/>
          <p:cNvSpPr txBox="1"/>
          <p:nvPr/>
        </p:nvSpPr>
        <p:spPr>
          <a:xfrm>
            <a:off x="6309360" y="5007864"/>
            <a:ext cx="1188720" cy="228600"/>
          </a:xfrm>
          <a:prstGeom prst="rect">
            <a:avLst/>
          </a:prstGeom>
          <a:noFill/>
        </p:spPr>
        <p:txBody>
          <a:bodyPr wrap="square" lIns="0" rIns="0" tIns="0" bIns="0" anchor="t">
            <a:spAutoFit/>
          </a:bodyPr>
          <a:lstStyle/>
          <a:p>
            <a:pPr algn="l"/>
            <a:r>
              <a:rPr sz="1000" b="1" i="0">
                <a:solidFill>
                  <a:srgbClr val="6B7C85"/>
                </a:solidFill>
                <a:latin typeface="Arial"/>
              </a:rPr>
              <a:t>Fruitless</a:t>
            </a:r>
          </a:p>
        </p:txBody>
      </p:sp>
      <p:sp>
        <p:nvSpPr>
          <p:cNvPr id="72" name="TextBox 71"/>
          <p:cNvSpPr txBox="1"/>
          <p:nvPr/>
        </p:nvSpPr>
        <p:spPr>
          <a:xfrm>
            <a:off x="6309360" y="5282184"/>
            <a:ext cx="1188720" cy="228600"/>
          </a:xfrm>
          <a:prstGeom prst="rect">
            <a:avLst/>
          </a:prstGeom>
          <a:noFill/>
        </p:spPr>
        <p:txBody>
          <a:bodyPr wrap="square" lIns="0" rIns="0" tIns="0" bIns="0" anchor="t">
            <a:spAutoFit/>
          </a:bodyPr>
          <a:lstStyle/>
          <a:p>
            <a:pPr algn="l"/>
            <a:r>
              <a:rPr sz="1000" b="1" i="0">
                <a:solidFill>
                  <a:srgbClr val="6B7C85"/>
                </a:solidFill>
                <a:latin typeface="Arial"/>
              </a:rPr>
              <a:t>Extra finds</a:t>
            </a:r>
          </a:p>
        </p:txBody>
      </p:sp>
      <p:sp>
        <p:nvSpPr>
          <p:cNvPr id="73" name="TextBox 72"/>
          <p:cNvSpPr txBox="1"/>
          <p:nvPr/>
        </p:nvSpPr>
        <p:spPr>
          <a:xfrm>
            <a:off x="6309360" y="5556504"/>
            <a:ext cx="1188720" cy="228600"/>
          </a:xfrm>
          <a:prstGeom prst="rect">
            <a:avLst/>
          </a:prstGeom>
          <a:noFill/>
        </p:spPr>
        <p:txBody>
          <a:bodyPr wrap="square" lIns="0" rIns="0" tIns="0" bIns="0" anchor="t">
            <a:spAutoFit/>
          </a:bodyPr>
          <a:lstStyle/>
          <a:p>
            <a:pPr algn="l"/>
            <a:r>
              <a:rPr sz="1000" b="1" i="0">
                <a:solidFill>
                  <a:srgbClr val="6B7C85"/>
                </a:solidFill>
                <a:latin typeface="Arial"/>
              </a:rPr>
              <a:t>Break-even*</a:t>
            </a:r>
          </a:p>
        </p:txBody>
      </p:sp>
      <p:sp>
        <p:nvSpPr>
          <p:cNvPr id="74" name="TextBox 73"/>
          <p:cNvSpPr txBox="1"/>
          <p:nvPr/>
        </p:nvSpPr>
        <p:spPr>
          <a:xfrm>
            <a:off x="6309360" y="2712415"/>
            <a:ext cx="1188720" cy="201168"/>
          </a:xfrm>
          <a:prstGeom prst="rect">
            <a:avLst/>
          </a:prstGeom>
          <a:noFill/>
        </p:spPr>
        <p:txBody>
          <a:bodyPr wrap="square" lIns="0" rIns="0" tIns="0" bIns="0" anchor="t">
            <a:spAutoFit/>
          </a:bodyPr>
          <a:lstStyle/>
          <a:p>
            <a:pPr algn="l"/>
            <a:r>
              <a:rPr sz="850" b="0" i="0">
                <a:solidFill>
                  <a:srgbClr val="6B7C85"/>
                </a:solidFill>
                <a:latin typeface="Arial"/>
              </a:rPr>
              <a:t>random: 427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Act I · Interpretability</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What little the models learn is mostly the driver's race, and only the white box explains it exactly</a:t>
            </a:r>
          </a:p>
        </p:txBody>
      </p:sp>
      <p:sp>
        <p:nvSpPr>
          <p:cNvPr id="4" name="TextBox 3"/>
          <p:cNvSpPr txBox="1"/>
          <p:nvPr/>
        </p:nvSpPr>
        <p:spPr>
          <a:xfrm>
            <a:off x="548640" y="6035040"/>
            <a:ext cx="11094415" cy="365760"/>
          </a:xfrm>
          <a:prstGeom prst="rect">
            <a:avLst/>
          </a:prstGeom>
          <a:noFill/>
        </p:spPr>
        <p:txBody>
          <a:bodyPr wrap="square" lIns="0" rIns="0" tIns="0" bIns="0" anchor="b">
            <a:spAutoFit/>
          </a:bodyPr>
          <a:lstStyle/>
          <a:p>
            <a:pPr algn="l"/>
            <a:r>
              <a:rPr sz="900" b="0" i="0">
                <a:solidFill>
                  <a:srgbClr val="6B7C85"/>
                </a:solidFill>
                <a:latin typeface="Arial"/>
              </a:rPr>
              <a:t>XPER: the course's Shapley decomposition of AUC above 0.5, exact over 1,024 coalitions. Importances: permutation, test set. The surrogate tree was fitted on the Act II XGBoost.</a:t>
            </a:r>
          </a:p>
        </p:txBody>
      </p:sp>
      <p:sp>
        <p:nvSpPr>
          <p:cNvPr id="5" name="TextBox 4"/>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FINDINGS.md (XPER, race-proxy AUC, permutation importance); MASTER §4, §6.1–6.3; surrogate: reports/xgboost_officer (Julia).</a:t>
            </a:r>
          </a:p>
        </p:txBody>
      </p:sp>
      <p:sp>
        <p:nvSpPr>
          <p:cNvPr id="6" name="TextBox 5"/>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5</a:t>
            </a:r>
          </a:p>
        </p:txBody>
      </p:sp>
      <p:sp>
        <p:nvSpPr>
          <p:cNvPr id="7" name="TextBox 6"/>
          <p:cNvSpPr txBox="1"/>
          <p:nvPr/>
        </p:nvSpPr>
        <p:spPr>
          <a:xfrm>
            <a:off x="548640" y="1554480"/>
            <a:ext cx="4389120" cy="411480"/>
          </a:xfrm>
          <a:prstGeom prst="rect">
            <a:avLst/>
          </a:prstGeom>
          <a:noFill/>
        </p:spPr>
        <p:txBody>
          <a:bodyPr wrap="square" lIns="0" rIns="0" tIns="0" bIns="0" anchor="t">
            <a:spAutoFit/>
          </a:bodyPr>
          <a:lstStyle/>
          <a:p>
            <a:pPr algn="l"/>
            <a:r>
              <a:rPr sz="1200" b="1" i="0">
                <a:solidFill>
                  <a:srgbClr val="222222"/>
                </a:solidFill>
                <a:latin typeface="Arial"/>
              </a:rPr>
              <a:t>What the same stop and driver features predict (test AUC)</a:t>
            </a:r>
          </a:p>
        </p:txBody>
      </p:sp>
      <p:sp>
        <p:nvSpPr>
          <p:cNvPr id="8" name="TextBox 7"/>
          <p:cNvSpPr txBox="1"/>
          <p:nvPr/>
        </p:nvSpPr>
        <p:spPr>
          <a:xfrm>
            <a:off x="548640" y="2194560"/>
            <a:ext cx="1463040" cy="384048"/>
          </a:xfrm>
          <a:prstGeom prst="rect">
            <a:avLst/>
          </a:prstGeom>
          <a:noFill/>
        </p:spPr>
        <p:txBody>
          <a:bodyPr wrap="square" lIns="0" rIns="0" tIns="0" bIns="0" anchor="ctr">
            <a:spAutoFit/>
          </a:bodyPr>
          <a:lstStyle/>
          <a:p>
            <a:pPr algn="l"/>
            <a:r>
              <a:rPr sz="1150" b="1" i="0">
                <a:solidFill>
                  <a:srgbClr val="222222"/>
                </a:solidFill>
                <a:latin typeface="Arial"/>
              </a:rPr>
              <a:t>Contraband found</a:t>
            </a:r>
          </a:p>
        </p:txBody>
      </p:sp>
      <p:sp>
        <p:nvSpPr>
          <p:cNvPr id="9" name="Rectangle 8"/>
          <p:cNvSpPr/>
          <p:nvPr/>
        </p:nvSpPr>
        <p:spPr>
          <a:xfrm>
            <a:off x="2057400" y="2267712"/>
            <a:ext cx="426720" cy="237744"/>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484120" y="2194560"/>
            <a:ext cx="170688" cy="384048"/>
          </a:xfrm>
          <a:prstGeom prst="rect">
            <a:avLst/>
          </a:prstGeom>
          <a:solidFill>
            <a:srgbClr val="B0B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09672" y="2194560"/>
            <a:ext cx="822960" cy="384048"/>
          </a:xfrm>
          <a:prstGeom prst="rect">
            <a:avLst/>
          </a:prstGeom>
          <a:noFill/>
        </p:spPr>
        <p:txBody>
          <a:bodyPr wrap="square" lIns="0" rIns="0" tIns="0" bIns="0" anchor="ctr">
            <a:spAutoFit/>
          </a:bodyPr>
          <a:lstStyle/>
          <a:p>
            <a:pPr algn="l"/>
            <a:r>
              <a:rPr sz="1100" b="1" i="0">
                <a:solidFill>
                  <a:srgbClr val="222222"/>
                </a:solidFill>
                <a:latin typeface="Arial"/>
              </a:rPr>
              <a:t>0.55–0.57</a:t>
            </a:r>
          </a:p>
        </p:txBody>
      </p:sp>
      <p:sp>
        <p:nvSpPr>
          <p:cNvPr id="12" name="TextBox 11"/>
          <p:cNvSpPr txBox="1"/>
          <p:nvPr/>
        </p:nvSpPr>
        <p:spPr>
          <a:xfrm>
            <a:off x="548640" y="2852928"/>
            <a:ext cx="1463040" cy="384048"/>
          </a:xfrm>
          <a:prstGeom prst="rect">
            <a:avLst/>
          </a:prstGeom>
          <a:noFill/>
        </p:spPr>
        <p:txBody>
          <a:bodyPr wrap="square" lIns="0" rIns="0" tIns="0" bIns="0" anchor="ctr">
            <a:spAutoFit/>
          </a:bodyPr>
          <a:lstStyle/>
          <a:p>
            <a:pPr algn="l"/>
            <a:r>
              <a:rPr sz="1150" b="1" i="0">
                <a:solidFill>
                  <a:srgbClr val="1976D2"/>
                </a:solidFill>
                <a:latin typeface="Arial"/>
              </a:rPr>
              <a:t>The driver's race</a:t>
            </a:r>
          </a:p>
        </p:txBody>
      </p:sp>
      <p:sp>
        <p:nvSpPr>
          <p:cNvPr id="13" name="Rectangle 12"/>
          <p:cNvSpPr/>
          <p:nvPr/>
        </p:nvSpPr>
        <p:spPr>
          <a:xfrm>
            <a:off x="2057400" y="2926080"/>
            <a:ext cx="1621536" cy="237744"/>
          </a:xfrm>
          <a:prstGeom prst="rect">
            <a:avLst/>
          </a:prstGeom>
          <a:solidFill>
            <a:srgbClr val="C6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78936" y="2852928"/>
            <a:ext cx="341376" cy="384048"/>
          </a:xfrm>
          <a:prstGeom prst="rect">
            <a:avLst/>
          </a:prstGeom>
          <a:solidFill>
            <a:srgbClr val="19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75176" y="2852928"/>
            <a:ext cx="822960" cy="384048"/>
          </a:xfrm>
          <a:prstGeom prst="rect">
            <a:avLst/>
          </a:prstGeom>
          <a:noFill/>
        </p:spPr>
        <p:txBody>
          <a:bodyPr wrap="square" lIns="0" rIns="0" tIns="0" bIns="0" anchor="ctr">
            <a:spAutoFit/>
          </a:bodyPr>
          <a:lstStyle/>
          <a:p>
            <a:pPr algn="l"/>
            <a:r>
              <a:rPr sz="1100" b="1" i="0">
                <a:solidFill>
                  <a:srgbClr val="222222"/>
                </a:solidFill>
                <a:latin typeface="Arial"/>
              </a:rPr>
              <a:t>0.69–0.73</a:t>
            </a:r>
          </a:p>
        </p:txBody>
      </p:sp>
      <p:sp>
        <p:nvSpPr>
          <p:cNvPr id="16" name="TextBox 15"/>
          <p:cNvSpPr txBox="1"/>
          <p:nvPr/>
        </p:nvSpPr>
        <p:spPr>
          <a:xfrm>
            <a:off x="1691640" y="3429000"/>
            <a:ext cx="731520" cy="201168"/>
          </a:xfrm>
          <a:prstGeom prst="rect">
            <a:avLst/>
          </a:prstGeom>
          <a:noFill/>
        </p:spPr>
        <p:txBody>
          <a:bodyPr wrap="square" lIns="0" rIns="0" tIns="0" bIns="0" anchor="t">
            <a:spAutoFit/>
          </a:bodyPr>
          <a:lstStyle/>
          <a:p>
            <a:pPr algn="ctr"/>
            <a:r>
              <a:rPr sz="1000" b="0" i="0">
                <a:solidFill>
                  <a:srgbClr val="6B7C85"/>
                </a:solidFill>
                <a:latin typeface="Arial"/>
              </a:rPr>
              <a:t>0.5</a:t>
            </a:r>
          </a:p>
        </p:txBody>
      </p:sp>
      <p:sp>
        <p:nvSpPr>
          <p:cNvPr id="17" name="TextBox 16"/>
          <p:cNvSpPr txBox="1"/>
          <p:nvPr/>
        </p:nvSpPr>
        <p:spPr>
          <a:xfrm>
            <a:off x="2545080" y="3429000"/>
            <a:ext cx="731520" cy="201168"/>
          </a:xfrm>
          <a:prstGeom prst="rect">
            <a:avLst/>
          </a:prstGeom>
          <a:noFill/>
        </p:spPr>
        <p:txBody>
          <a:bodyPr wrap="square" lIns="0" rIns="0" tIns="0" bIns="0" anchor="t">
            <a:spAutoFit/>
          </a:bodyPr>
          <a:lstStyle/>
          <a:p>
            <a:pPr algn="ctr"/>
            <a:r>
              <a:rPr sz="1000" b="0" i="0">
                <a:solidFill>
                  <a:srgbClr val="6B7C85"/>
                </a:solidFill>
                <a:latin typeface="Arial"/>
              </a:rPr>
              <a:t>0.6</a:t>
            </a:r>
          </a:p>
        </p:txBody>
      </p:sp>
      <p:sp>
        <p:nvSpPr>
          <p:cNvPr id="18" name="TextBox 17"/>
          <p:cNvSpPr txBox="1"/>
          <p:nvPr/>
        </p:nvSpPr>
        <p:spPr>
          <a:xfrm>
            <a:off x="3398520" y="3429000"/>
            <a:ext cx="731520" cy="201168"/>
          </a:xfrm>
          <a:prstGeom prst="rect">
            <a:avLst/>
          </a:prstGeom>
          <a:noFill/>
        </p:spPr>
        <p:txBody>
          <a:bodyPr wrap="square" lIns="0" rIns="0" tIns="0" bIns="0" anchor="t">
            <a:spAutoFit/>
          </a:bodyPr>
          <a:lstStyle/>
          <a:p>
            <a:pPr algn="ctr"/>
            <a:r>
              <a:rPr sz="1000" b="0" i="0">
                <a:solidFill>
                  <a:srgbClr val="6B7C85"/>
                </a:solidFill>
                <a:latin typeface="Arial"/>
              </a:rPr>
              <a:t>0.7</a:t>
            </a:r>
          </a:p>
        </p:txBody>
      </p:sp>
      <p:sp>
        <p:nvSpPr>
          <p:cNvPr id="19" name="TextBox 18"/>
          <p:cNvSpPr txBox="1"/>
          <p:nvPr/>
        </p:nvSpPr>
        <p:spPr>
          <a:xfrm>
            <a:off x="4251960" y="3429000"/>
            <a:ext cx="731520" cy="201168"/>
          </a:xfrm>
          <a:prstGeom prst="rect">
            <a:avLst/>
          </a:prstGeom>
          <a:noFill/>
        </p:spPr>
        <p:txBody>
          <a:bodyPr wrap="square" lIns="0" rIns="0" tIns="0" bIns="0" anchor="t">
            <a:spAutoFit/>
          </a:bodyPr>
          <a:lstStyle/>
          <a:p>
            <a:pPr algn="ctr"/>
            <a:r>
              <a:rPr sz="1000" b="0" i="0">
                <a:solidFill>
                  <a:srgbClr val="6B7C85"/>
                </a:solidFill>
                <a:latin typeface="Arial"/>
              </a:rPr>
              <a:t>0.8</a:t>
            </a:r>
          </a:p>
        </p:txBody>
      </p:sp>
      <p:cxnSp>
        <p:nvCxnSpPr>
          <p:cNvPr id="20" name="Connector 19"/>
          <p:cNvCxnSpPr/>
          <p:nvPr/>
        </p:nvCxnSpPr>
        <p:spPr>
          <a:xfrm>
            <a:off x="2057400" y="3383280"/>
            <a:ext cx="2560320" cy="0"/>
          </a:xfrm>
          <a:prstGeom prst="line">
            <a:avLst/>
          </a:prstGeom>
          <a:ln w="9525">
            <a:solidFill>
              <a:srgbClr val="D9DEE3"/>
            </a:solidFill>
          </a:ln>
        </p:spPr>
      </p:cxnSp>
      <p:cxnSp>
        <p:nvCxnSpPr>
          <p:cNvPr id="21" name="Connector 20"/>
          <p:cNvCxnSpPr/>
          <p:nvPr/>
        </p:nvCxnSpPr>
        <p:spPr>
          <a:xfrm>
            <a:off x="2057400" y="2103120"/>
            <a:ext cx="0" cy="1280160"/>
          </a:xfrm>
          <a:prstGeom prst="line">
            <a:avLst/>
          </a:prstGeom>
          <a:ln w="19050">
            <a:solidFill>
              <a:srgbClr val="B0B8BE"/>
            </a:solidFill>
            <a:prstDash val="sysDot"/>
          </a:ln>
        </p:spPr>
      </p:cxnSp>
      <p:sp>
        <p:nvSpPr>
          <p:cNvPr id="22" name="TextBox 21"/>
          <p:cNvSpPr txBox="1"/>
          <p:nvPr/>
        </p:nvSpPr>
        <p:spPr>
          <a:xfrm>
            <a:off x="1508760" y="3630168"/>
            <a:ext cx="1097280" cy="201168"/>
          </a:xfrm>
          <a:prstGeom prst="rect">
            <a:avLst/>
          </a:prstGeom>
          <a:noFill/>
        </p:spPr>
        <p:txBody>
          <a:bodyPr wrap="square" lIns="0" rIns="0" tIns="0" bIns="0" anchor="t">
            <a:spAutoFit/>
          </a:bodyPr>
          <a:lstStyle/>
          <a:p>
            <a:pPr algn="ctr"/>
            <a:r>
              <a:rPr sz="900" b="0" i="0">
                <a:solidFill>
                  <a:srgbClr val="6B7C85"/>
                </a:solidFill>
                <a:latin typeface="Arial"/>
              </a:rPr>
              <a:t>random</a:t>
            </a:r>
          </a:p>
        </p:txBody>
      </p:sp>
      <p:sp>
        <p:nvSpPr>
          <p:cNvPr id="23" name="TextBox 22"/>
          <p:cNvSpPr txBox="1"/>
          <p:nvPr/>
        </p:nvSpPr>
        <p:spPr>
          <a:xfrm>
            <a:off x="548640" y="3977640"/>
            <a:ext cx="1600200" cy="640080"/>
          </a:xfrm>
          <a:prstGeom prst="rect">
            <a:avLst/>
          </a:prstGeom>
          <a:noFill/>
        </p:spPr>
        <p:txBody>
          <a:bodyPr wrap="square" lIns="0" rIns="0" tIns="0" bIns="0" anchor="t">
            <a:spAutoFit/>
          </a:bodyPr>
          <a:lstStyle/>
          <a:p>
            <a:pPr algn="l"/>
            <a:r>
              <a:rPr sz="3400" b="1" i="0">
                <a:solidFill>
                  <a:srgbClr val="1976D2"/>
                </a:solidFill>
                <a:latin typeface="Arial"/>
              </a:rPr>
              <a:t>73.5%</a:t>
            </a:r>
          </a:p>
        </p:txBody>
      </p:sp>
      <p:sp>
        <p:nvSpPr>
          <p:cNvPr id="24" name="TextBox 23"/>
          <p:cNvSpPr txBox="1"/>
          <p:nvPr/>
        </p:nvSpPr>
        <p:spPr>
          <a:xfrm>
            <a:off x="2194560" y="3995928"/>
            <a:ext cx="2743200" cy="822960"/>
          </a:xfrm>
          <a:prstGeom prst="rect">
            <a:avLst/>
          </a:prstGeom>
          <a:noFill/>
        </p:spPr>
        <p:txBody>
          <a:bodyPr wrap="square" lIns="0" rIns="0" tIns="0" bIns="0" anchor="t">
            <a:spAutoFit/>
          </a:bodyPr>
          <a:lstStyle/>
          <a:p>
            <a:pPr algn="l"/>
            <a:r>
              <a:rPr sz="1150" b="1" i="0">
                <a:solidFill>
                  <a:srgbClr val="222222"/>
                </a:solidFill>
                <a:latin typeface="Arial"/>
              </a:rPr>
              <a:t>of the white box's above-chance AUC is the driver's race (XPER)</a:t>
            </a:r>
          </a:p>
        </p:txBody>
      </p:sp>
      <p:sp>
        <p:nvSpPr>
          <p:cNvPr id="25" name="TextBox 24"/>
          <p:cNvSpPr txBox="1"/>
          <p:nvPr/>
        </p:nvSpPr>
        <p:spPr>
          <a:xfrm>
            <a:off x="548640" y="4892040"/>
            <a:ext cx="4389120" cy="914400"/>
          </a:xfrm>
          <a:prstGeom prst="rect">
            <a:avLst/>
          </a:prstGeom>
          <a:noFill/>
        </p:spPr>
        <p:txBody>
          <a:bodyPr wrap="square" lIns="0" rIns="0" tIns="0" bIns="0" anchor="t">
            <a:spAutoFit/>
          </a:bodyPr>
          <a:lstStyle/>
          <a:p>
            <a:pPr algn="l"/>
            <a:r>
              <a:rPr sz="1100" b="0" i="0">
                <a:solidFill>
                  <a:srgbClr val="222222"/>
                </a:solidFill>
                <a:latin typeface="Arial"/>
              </a:rPr>
              <a:t>Dropping race does not remove it: the remaining features recover race at AUC 0.69–0.73. The white box's largest coefficient is "driver Hispanic" (odds ratio 0.43, −11 pp).</a:t>
            </a:r>
          </a:p>
        </p:txBody>
      </p:sp>
      <p:sp>
        <p:nvSpPr>
          <p:cNvPr id="26" name="Rectangle 25"/>
          <p:cNvSpPr/>
          <p:nvPr/>
        </p:nvSpPr>
        <p:spPr>
          <a:xfrm>
            <a:off x="5257800" y="1554480"/>
            <a:ext cx="2057400" cy="361188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422392" y="1728216"/>
            <a:ext cx="164592" cy="164592"/>
          </a:xfrm>
          <a:prstGeom prst="ellipse">
            <a:avLst/>
          </a:prstGeom>
          <a:solidFill>
            <a:srgbClr val="1976D2"/>
          </a:solidFill>
          <a:ln w="22225">
            <a:solidFill>
              <a:srgbClr val="197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0" y="1673352"/>
            <a:ext cx="1554480" cy="274320"/>
          </a:xfrm>
          <a:prstGeom prst="rect">
            <a:avLst/>
          </a:prstGeom>
          <a:noFill/>
        </p:spPr>
        <p:txBody>
          <a:bodyPr wrap="square" lIns="0" rIns="0" tIns="0" bIns="0" anchor="t">
            <a:spAutoFit/>
          </a:bodyPr>
          <a:lstStyle/>
          <a:p>
            <a:pPr algn="l"/>
            <a:r>
              <a:rPr sz="1300" b="1" i="0">
                <a:solidFill>
                  <a:srgbClr val="222222"/>
                </a:solidFill>
                <a:latin typeface="Arial"/>
              </a:rPr>
              <a:t>White box</a:t>
            </a:r>
          </a:p>
        </p:txBody>
      </p:sp>
      <p:sp>
        <p:nvSpPr>
          <p:cNvPr id="29" name="TextBox 28"/>
          <p:cNvSpPr txBox="1"/>
          <p:nvPr/>
        </p:nvSpPr>
        <p:spPr>
          <a:xfrm>
            <a:off x="5422392" y="2148840"/>
            <a:ext cx="1764792" cy="3291840"/>
          </a:xfrm>
          <a:prstGeom prst="rect">
            <a:avLst/>
          </a:prstGeom>
          <a:noFill/>
        </p:spPr>
        <p:txBody>
          <a:bodyPr wrap="square" lIns="0" rIns="0" tIns="0" bIns="0" anchor="t">
            <a:spAutoFit/>
          </a:bodyPr>
          <a:lstStyle/>
          <a:p>
            <a:pPr algn="l">
              <a:spcAft>
                <a:spcPts val="200"/>
              </a:spcAft>
            </a:pPr>
            <a:r>
              <a:rPr sz="900" b="1" i="0">
                <a:solidFill>
                  <a:srgbClr val="6B7C85"/>
                </a:solidFill>
                <a:latin typeface="Arial"/>
              </a:rPr>
              <a:t>MAIN DRIVER</a:t>
            </a:r>
          </a:p>
          <a:p>
            <a:pPr algn="l">
              <a:spcAft>
                <a:spcPts val="1200"/>
              </a:spcAft>
            </a:pPr>
            <a:r>
              <a:rPr sz="1150" b="0" i="0">
                <a:solidFill>
                  <a:srgbClr val="222222"/>
                </a:solidFill>
                <a:latin typeface="Arial"/>
              </a:rPr>
              <a:t>Driver Hispanic is the largest coefficient; race is 73.5% of the signal</a:t>
            </a:r>
          </a:p>
          <a:p>
            <a:pPr algn="l">
              <a:spcAft>
                <a:spcPts val="200"/>
              </a:spcAft>
            </a:pPr>
            <a:r>
              <a:rPr sz="900" b="1" i="0">
                <a:solidFill>
                  <a:srgbClr val="6B7C85"/>
                </a:solidFill>
                <a:latin typeface="Arial"/>
              </a:rPr>
              <a:t>ONE DECISION EXPLAINED BY</a:t>
            </a:r>
          </a:p>
          <a:p>
            <a:pPr algn="l">
              <a:spcAft>
                <a:spcPts val="1200"/>
              </a:spcAft>
            </a:pPr>
            <a:r>
              <a:rPr sz="1150" b="0" i="0">
                <a:solidFill>
                  <a:srgbClr val="222222"/>
                </a:solidFill>
                <a:latin typeface="Arial"/>
              </a:rPr>
              <a:t>Exact: coefficient × (x − mean)</a:t>
            </a:r>
          </a:p>
          <a:p>
            <a:pPr algn="l">
              <a:spcAft>
                <a:spcPts val="200"/>
              </a:spcAft>
            </a:pPr>
            <a:r>
              <a:rPr sz="900" b="1" i="0">
                <a:solidFill>
                  <a:srgbClr val="6B7C85"/>
                </a:solidFill>
                <a:latin typeface="Arial"/>
              </a:rPr>
              <a:t>GLOBAL EXPLANATION</a:t>
            </a:r>
          </a:p>
          <a:p>
            <a:pPr algn="l"/>
            <a:r>
              <a:rPr sz="1150" b="0" i="0">
                <a:solidFill>
                  <a:srgbClr val="222222"/>
                </a:solidFill>
                <a:latin typeface="Arial"/>
              </a:rPr>
              <a:t>The model is its own explanation</a:t>
            </a:r>
          </a:p>
        </p:txBody>
      </p:sp>
      <p:sp>
        <p:nvSpPr>
          <p:cNvPr id="30" name="Rectangle 29"/>
          <p:cNvSpPr/>
          <p:nvPr/>
        </p:nvSpPr>
        <p:spPr>
          <a:xfrm>
            <a:off x="7415784" y="1554480"/>
            <a:ext cx="2057400" cy="361188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80376" y="1728216"/>
            <a:ext cx="164592" cy="164592"/>
          </a:xfrm>
          <a:prstGeom prst="ellipse">
            <a:avLst/>
          </a:prstGeom>
          <a:solidFill>
            <a:srgbClr val="5E6B75"/>
          </a:solidFill>
          <a:ln w="22225">
            <a:solidFill>
              <a:srgbClr val="5E6B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7264" y="1673352"/>
            <a:ext cx="1554480" cy="274320"/>
          </a:xfrm>
          <a:prstGeom prst="rect">
            <a:avLst/>
          </a:prstGeom>
          <a:noFill/>
        </p:spPr>
        <p:txBody>
          <a:bodyPr wrap="square" lIns="0" rIns="0" tIns="0" bIns="0" anchor="t">
            <a:spAutoFit/>
          </a:bodyPr>
          <a:lstStyle/>
          <a:p>
            <a:pPr algn="l"/>
            <a:r>
              <a:rPr sz="1300" b="1" i="0">
                <a:solidFill>
                  <a:srgbClr val="222222"/>
                </a:solidFill>
                <a:latin typeface="Arial"/>
              </a:rPr>
              <a:t>XGBoost</a:t>
            </a:r>
          </a:p>
        </p:txBody>
      </p:sp>
      <p:sp>
        <p:nvSpPr>
          <p:cNvPr id="33" name="TextBox 32"/>
          <p:cNvSpPr txBox="1"/>
          <p:nvPr/>
        </p:nvSpPr>
        <p:spPr>
          <a:xfrm>
            <a:off x="7580376" y="2148840"/>
            <a:ext cx="1764792" cy="3291840"/>
          </a:xfrm>
          <a:prstGeom prst="rect">
            <a:avLst/>
          </a:prstGeom>
          <a:noFill/>
        </p:spPr>
        <p:txBody>
          <a:bodyPr wrap="square" lIns="0" rIns="0" tIns="0" bIns="0" anchor="t">
            <a:spAutoFit/>
          </a:bodyPr>
          <a:lstStyle/>
          <a:p>
            <a:pPr algn="l">
              <a:spcAft>
                <a:spcPts val="200"/>
              </a:spcAft>
            </a:pPr>
            <a:r>
              <a:rPr sz="900" b="1" i="0">
                <a:solidFill>
                  <a:srgbClr val="6B7C85"/>
                </a:solidFill>
                <a:latin typeface="Arial"/>
              </a:rPr>
              <a:t>MAIN DRIVER</a:t>
            </a:r>
          </a:p>
          <a:p>
            <a:pPr algn="l">
              <a:spcAft>
                <a:spcPts val="1200"/>
              </a:spcAft>
            </a:pPr>
            <a:r>
              <a:rPr sz="1150" b="0" i="0">
                <a:solidFill>
                  <a:srgbClr val="222222"/>
                </a:solidFill>
                <a:latin typeface="Arial"/>
              </a:rPr>
              <a:t>Flat: precinct, zone, month, age, hour ≈ 0.01 each; race 0.0025</a:t>
            </a:r>
          </a:p>
          <a:p>
            <a:pPr algn="l">
              <a:spcAft>
                <a:spcPts val="200"/>
              </a:spcAft>
            </a:pPr>
            <a:r>
              <a:rPr sz="900" b="1" i="0">
                <a:solidFill>
                  <a:srgbClr val="6B7C85"/>
                </a:solidFill>
                <a:latin typeface="Arial"/>
              </a:rPr>
              <a:t>ONE DECISION EXPLAINED BY</a:t>
            </a:r>
          </a:p>
          <a:p>
            <a:pPr algn="l">
              <a:spcAft>
                <a:spcPts val="1200"/>
              </a:spcAft>
            </a:pPr>
            <a:r>
              <a:rPr sz="1150" b="0" i="0">
                <a:solidFill>
                  <a:srgbClr val="222222"/>
                </a:solidFill>
                <a:latin typeface="Arial"/>
              </a:rPr>
              <a:t>Exact TreeSHAP</a:t>
            </a:r>
          </a:p>
          <a:p>
            <a:pPr algn="l">
              <a:spcAft>
                <a:spcPts val="200"/>
              </a:spcAft>
            </a:pPr>
            <a:r>
              <a:rPr sz="900" b="1" i="0">
                <a:solidFill>
                  <a:srgbClr val="6B7C85"/>
                </a:solidFill>
                <a:latin typeface="Arial"/>
              </a:rPr>
              <a:t>GLOBAL EXPLANATION</a:t>
            </a:r>
          </a:p>
          <a:p>
            <a:pPr algn="l"/>
            <a:r>
              <a:rPr sz="1150" b="0" i="0">
                <a:solidFill>
                  <a:srgbClr val="222222"/>
                </a:solidFill>
                <a:latin typeface="Arial"/>
              </a:rPr>
              <a:t>SHAP; a depth-3 surrogate tree reproduces only 39% of the score</a:t>
            </a:r>
          </a:p>
        </p:txBody>
      </p:sp>
      <p:sp>
        <p:nvSpPr>
          <p:cNvPr id="34" name="Rectangle 33"/>
          <p:cNvSpPr/>
          <p:nvPr/>
        </p:nvSpPr>
        <p:spPr>
          <a:xfrm>
            <a:off x="9573768" y="1554480"/>
            <a:ext cx="2057400" cy="361188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738360" y="1728216"/>
            <a:ext cx="164592" cy="164592"/>
          </a:xfrm>
          <a:prstGeom prst="ellipse">
            <a:avLst/>
          </a:prstGeom>
          <a:solidFill>
            <a:srgbClr val="98C1EB"/>
          </a:solidFill>
          <a:ln w="22225">
            <a:solidFill>
              <a:srgbClr val="98C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85248" y="1673352"/>
            <a:ext cx="1554480" cy="274320"/>
          </a:xfrm>
          <a:prstGeom prst="rect">
            <a:avLst/>
          </a:prstGeom>
          <a:noFill/>
        </p:spPr>
        <p:txBody>
          <a:bodyPr wrap="square" lIns="0" rIns="0" tIns="0" bIns="0" anchor="t">
            <a:spAutoFit/>
          </a:bodyPr>
          <a:lstStyle/>
          <a:p>
            <a:pPr algn="l"/>
            <a:r>
              <a:rPr sz="1300" b="1" i="0">
                <a:solidFill>
                  <a:srgbClr val="222222"/>
                </a:solidFill>
                <a:latin typeface="Arial"/>
              </a:rPr>
              <a:t>TabPFN</a:t>
            </a:r>
          </a:p>
        </p:txBody>
      </p:sp>
      <p:sp>
        <p:nvSpPr>
          <p:cNvPr id="37" name="TextBox 36"/>
          <p:cNvSpPr txBox="1"/>
          <p:nvPr/>
        </p:nvSpPr>
        <p:spPr>
          <a:xfrm>
            <a:off x="9738360" y="2148840"/>
            <a:ext cx="1764792" cy="3291840"/>
          </a:xfrm>
          <a:prstGeom prst="rect">
            <a:avLst/>
          </a:prstGeom>
          <a:noFill/>
        </p:spPr>
        <p:txBody>
          <a:bodyPr wrap="square" lIns="0" rIns="0" tIns="0" bIns="0" anchor="t">
            <a:spAutoFit/>
          </a:bodyPr>
          <a:lstStyle/>
          <a:p>
            <a:pPr algn="l">
              <a:spcAft>
                <a:spcPts val="200"/>
              </a:spcAft>
            </a:pPr>
            <a:r>
              <a:rPr sz="900" b="1" i="0">
                <a:solidFill>
                  <a:srgbClr val="6B7C85"/>
                </a:solidFill>
                <a:latin typeface="Arial"/>
              </a:rPr>
              <a:t>MAIN DRIVER</a:t>
            </a:r>
          </a:p>
          <a:p>
            <a:pPr algn="l">
              <a:spcAft>
                <a:spcPts val="1200"/>
              </a:spcAft>
            </a:pPr>
            <a:r>
              <a:rPr sz="1150" b="0" i="0">
                <a:solidFill>
                  <a:srgbClr val="222222"/>
                </a:solidFill>
                <a:latin typeface="Arial"/>
              </a:rPr>
              <a:t>Race is its largest feature (0.038, 15× its weight in XGBoost)</a:t>
            </a:r>
          </a:p>
          <a:p>
            <a:pPr algn="l">
              <a:spcAft>
                <a:spcPts val="200"/>
              </a:spcAft>
            </a:pPr>
            <a:r>
              <a:rPr sz="900" b="1" i="0">
                <a:solidFill>
                  <a:srgbClr val="6B7C85"/>
                </a:solidFill>
                <a:latin typeface="Arial"/>
              </a:rPr>
              <a:t>ONE DECISION EXPLAINED BY</a:t>
            </a:r>
          </a:p>
          <a:p>
            <a:pPr algn="l">
              <a:spcAft>
                <a:spcPts val="1200"/>
              </a:spcAft>
            </a:pPr>
            <a:r>
              <a:rPr sz="1150" b="0" i="0">
                <a:solidFill>
                  <a:srgbClr val="222222"/>
                </a:solidFill>
                <a:latin typeface="Arial"/>
              </a:rPr>
              <a:t>Occlusion only: approximate, error cannot be bounded</a:t>
            </a:r>
          </a:p>
          <a:p>
            <a:pPr algn="l">
              <a:spcAft>
                <a:spcPts val="200"/>
              </a:spcAft>
            </a:pPr>
            <a:r>
              <a:rPr sz="900" b="1" i="0">
                <a:solidFill>
                  <a:srgbClr val="6B7C85"/>
                </a:solidFill>
                <a:latin typeface="Arial"/>
              </a:rPr>
              <a:t>GLOBAL EXPLANATION</a:t>
            </a:r>
          </a:p>
          <a:p>
            <a:pPr algn="l"/>
            <a:r>
              <a:rPr sz="1150" b="0" i="0">
                <a:solidFill>
                  <a:srgbClr val="222222"/>
                </a:solidFill>
                <a:latin typeface="Arial"/>
              </a:rPr>
              <a:t>Permutation importance; no native attribution</a:t>
            </a:r>
          </a:p>
        </p:txBody>
      </p:sp>
      <p:sp>
        <p:nvSpPr>
          <p:cNvPr id="38" name="TextBox 37"/>
          <p:cNvSpPr txBox="1"/>
          <p:nvPr/>
        </p:nvSpPr>
        <p:spPr>
          <a:xfrm>
            <a:off x="5257800" y="5349240"/>
            <a:ext cx="6382512" cy="411480"/>
          </a:xfrm>
          <a:prstGeom prst="rect">
            <a:avLst/>
          </a:prstGeom>
          <a:noFill/>
        </p:spPr>
        <p:txBody>
          <a:bodyPr wrap="square" lIns="0" rIns="0" tIns="0" bIns="0" anchor="t">
            <a:spAutoFit/>
          </a:bodyPr>
          <a:lstStyle/>
          <a:p>
            <a:pPr algn="l"/>
            <a:r>
              <a:rPr sz="1100" b="1" i="0">
                <a:solidFill>
                  <a:srgbClr val="222222"/>
                </a:solidFill>
                <a:latin typeface="Arial"/>
              </a:rPr>
              <a:t>Same accuracy, contradictory explanations: </a:t>
            </a:r>
            <a:r>
              <a:rPr sz="1100" b="0" i="0">
                <a:solidFill>
                  <a:srgbClr val="222222"/>
                </a:solidFill>
                <a:latin typeface="Arial"/>
              </a:rPr>
              <a:t>XGBoost's and TabPFN's importance rankings correlate at −0.32.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Act I · Stability</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Retrain the model on a slightly different sample of the same years, and its shortlist barely survives</a:t>
            </a:r>
          </a:p>
        </p:txBody>
      </p:sp>
      <p:sp>
        <p:nvSpPr>
          <p:cNvPr id="4" name="TextBox 3"/>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FINDINGS.md; MASTER §2, §4, §6.3.</a:t>
            </a:r>
          </a:p>
        </p:txBody>
      </p:sp>
      <p:sp>
        <p:nvSpPr>
          <p:cNvPr id="5" name="TextBox 4"/>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6</a:t>
            </a:r>
          </a:p>
        </p:txBody>
      </p:sp>
      <p:sp>
        <p:nvSpPr>
          <p:cNvPr id="6" name="TextBox 5"/>
          <p:cNvSpPr txBox="1"/>
          <p:nvPr/>
        </p:nvSpPr>
        <p:spPr>
          <a:xfrm>
            <a:off x="548640" y="2103120"/>
            <a:ext cx="4023360" cy="2011680"/>
          </a:xfrm>
          <a:prstGeom prst="rect">
            <a:avLst/>
          </a:prstGeom>
          <a:noFill/>
        </p:spPr>
        <p:txBody>
          <a:bodyPr wrap="square" lIns="0" rIns="0" tIns="0" bIns="0" anchor="t">
            <a:spAutoFit/>
          </a:bodyPr>
          <a:lstStyle/>
          <a:p>
            <a:pPr algn="l"/>
            <a:r>
              <a:rPr sz="10000" b="1" i="0">
                <a:solidFill>
                  <a:srgbClr val="1976D2"/>
                </a:solidFill>
                <a:latin typeface="Arial"/>
              </a:rPr>
              <a:t>93%</a:t>
            </a:r>
          </a:p>
        </p:txBody>
      </p:sp>
      <p:sp>
        <p:nvSpPr>
          <p:cNvPr id="7" name="TextBox 6"/>
          <p:cNvSpPr txBox="1"/>
          <p:nvPr/>
        </p:nvSpPr>
        <p:spPr>
          <a:xfrm>
            <a:off x="548640" y="3977640"/>
            <a:ext cx="4206240" cy="1554480"/>
          </a:xfrm>
          <a:prstGeom prst="rect">
            <a:avLst/>
          </a:prstGeom>
          <a:noFill/>
        </p:spPr>
        <p:txBody>
          <a:bodyPr wrap="square" lIns="0" rIns="0" tIns="0" bIns="0" anchor="t">
            <a:spAutoFit/>
          </a:bodyPr>
          <a:lstStyle/>
          <a:p>
            <a:pPr algn="l"/>
            <a:r>
              <a:rPr sz="1500" b="1" i="0">
                <a:solidFill>
                  <a:srgbClr val="222222"/>
                </a:solidFill>
                <a:latin typeface="Arial"/>
              </a:rPr>
              <a:t>of the 200 highest-scored searches change identity when we retrain on a different random sample of the same years</a:t>
            </a:r>
          </a:p>
        </p:txBody>
      </p:sp>
      <p:sp>
        <p:nvSpPr>
          <p:cNvPr id="8" name="Rectangle 7"/>
          <p:cNvSpPr/>
          <p:nvPr/>
        </p:nvSpPr>
        <p:spPr>
          <a:xfrm>
            <a:off x="5074920" y="1828800"/>
            <a:ext cx="6385255" cy="402336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76088" y="1965960"/>
            <a:ext cx="5943600" cy="3749040"/>
          </a:xfrm>
          <a:prstGeom prst="rect">
            <a:avLst/>
          </a:prstGeom>
          <a:noFill/>
        </p:spPr>
        <p:txBody>
          <a:bodyPr wrap="square" lIns="0" rIns="0" tIns="0" bIns="0" anchor="t">
            <a:spAutoFit/>
          </a:bodyPr>
          <a:lstStyle/>
          <a:p>
            <a:pPr algn="l">
              <a:spcAft>
                <a:spcPts val="1400"/>
              </a:spcAft>
            </a:pPr>
            <a:r>
              <a:rPr sz="1250" b="0" i="0">
                <a:solidFill>
                  <a:srgbClr val="222222"/>
                </a:solidFill>
                <a:latin typeface="Arial"/>
              </a:rPr>
              <a:t>Same driver, same officer, same years of data — just a different random split — and the list of "high-risk" stops is almost a different list.</a:t>
            </a:r>
          </a:p>
          <a:p>
            <a:pPr algn="l" marL="155448" indent="-155448">
              <a:spcAft>
                <a:spcPts val="800"/>
              </a:spcAft>
              <a:buChar char="•"/>
            </a:pPr>
            <a:r>
              <a:rPr sz="1250" b="0" i="0">
                <a:solidFill>
                  <a:srgbClr val="222222"/>
                </a:solidFill>
                <a:latin typeface="Arial"/>
              </a:rPr>
              <a:t>Top-200 overlap is only 2.3× what pure chance would give: barely better than picking names out of a hat.</a:t>
            </a:r>
          </a:p>
          <a:p>
            <a:pPr algn="l" marL="155448" indent="-155448">
              <a:spcAft>
                <a:spcPts val="2000"/>
              </a:spcAft>
              <a:buChar char="•"/>
            </a:pPr>
            <a:r>
              <a:rPr sz="1250" b="0" i="0">
                <a:solidFill>
                  <a:srgbClr val="222222"/>
                </a:solidFill>
                <a:latin typeface="Arial"/>
              </a:rPr>
              <a:t>TabPFN is the most sensitive of the three: which past searches happen to be in its memory moves its own score by more than the entire gap between all three models.</a:t>
            </a:r>
          </a:p>
          <a:p>
            <a:pPr algn="l"/>
            <a:r>
              <a:rPr sz="1250" b="1" i="0">
                <a:solidFill>
                  <a:srgbClr val="1976D2"/>
                </a:solidFill>
                <a:latin typeface="Arial"/>
              </a:rPr>
              <a:t>A shortlist that changes every time you retrain it is not something officers, or a court, can rely 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Act II · Where search outcomes come from</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The officer's past record lifts every model by 0.07, yet inside one officer's own searches the scores fall back to chance</a:t>
            </a:r>
          </a:p>
        </p:txBody>
      </p:sp>
      <p:sp>
        <p:nvSpPr>
          <p:cNvPr id="4" name="TextBox 3"/>
          <p:cNvSpPr txBox="1"/>
          <p:nvPr/>
        </p:nvSpPr>
        <p:spPr>
          <a:xfrm>
            <a:off x="548640" y="6035040"/>
            <a:ext cx="11094415" cy="365760"/>
          </a:xfrm>
          <a:prstGeom prst="rect">
            <a:avLst/>
          </a:prstGeom>
          <a:noFill/>
        </p:spPr>
        <p:txBody>
          <a:bodyPr wrap="square" lIns="0" rIns="0" tIns="0" bIns="0" anchor="b">
            <a:spAutoFit/>
          </a:bodyPr>
          <a:lstStyle/>
          <a:p>
            <a:pPr algn="l"/>
            <a:r>
              <a:rPr sz="900" b="0" i="0">
                <a:solidFill>
                  <a:srgbClr val="6B7C85"/>
                </a:solidFill>
                <a:latin typeface="Arial"/>
              </a:rPr>
              <a:t>Within-officer AUC: AUC inside each officer's own test searches, 209 officers with ≥ 10 searches and both outcomes (7,005 searches), weighted by searches; CI resamples officers. The record uses only events strictly before the stop (verified on 400 stops).</a:t>
            </a:r>
          </a:p>
        </p:txBody>
      </p:sp>
      <p:sp>
        <p:nvSpPr>
          <p:cNvPr id="5" name="TextBox 4"/>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data/officer_model_diagnostics.json §F, data/officer_model_results.json; TabPFN: src, run interactively (release). MASTER §5.2–5.3.</a:t>
            </a:r>
          </a:p>
        </p:txBody>
      </p:sp>
      <p:sp>
        <p:nvSpPr>
          <p:cNvPr id="6" name="TextBox 5"/>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7</a:t>
            </a:r>
          </a:p>
        </p:txBody>
      </p:sp>
      <p:sp>
        <p:nvSpPr>
          <p:cNvPr id="7" name="TextBox 6"/>
          <p:cNvSpPr txBox="1"/>
          <p:nvPr/>
        </p:nvSpPr>
        <p:spPr>
          <a:xfrm>
            <a:off x="548640" y="1554480"/>
            <a:ext cx="7040880" cy="274320"/>
          </a:xfrm>
          <a:prstGeom prst="rect">
            <a:avLst/>
          </a:prstGeom>
          <a:noFill/>
        </p:spPr>
        <p:txBody>
          <a:bodyPr wrap="square" lIns="0" rIns="0" tIns="0" bIns="0" anchor="t">
            <a:spAutoFit/>
          </a:bodyPr>
          <a:lstStyle/>
          <a:p>
            <a:pPr algn="l"/>
            <a:r>
              <a:rPr sz="1200" b="1" i="0">
                <a:solidFill>
                  <a:srgbClr val="222222"/>
                </a:solidFill>
                <a:latin typeface="Arial"/>
              </a:rPr>
              <a:t>Pooled AUC vs AUC inside each officer's own searches, test 2016–2018 (95% CI)</a:t>
            </a:r>
          </a:p>
        </p:txBody>
      </p:sp>
      <p:sp>
        <p:nvSpPr>
          <p:cNvPr id="8" name="Diamond 7"/>
          <p:cNvSpPr/>
          <p:nvPr/>
        </p:nvSpPr>
        <p:spPr>
          <a:xfrm>
            <a:off x="548640" y="1975104"/>
            <a:ext cx="128016" cy="128016"/>
          </a:xfrm>
          <a:prstGeom prst="diamond">
            <a:avLst/>
          </a:prstGeom>
          <a:solidFill>
            <a:srgbClr val="B0B8BE"/>
          </a:solidFill>
          <a:ln w="12700">
            <a:solidFill>
              <a:srgbClr val="B0B8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38528"/>
            <a:ext cx="1874520" cy="201168"/>
          </a:xfrm>
          <a:prstGeom prst="rect">
            <a:avLst/>
          </a:prstGeom>
          <a:noFill/>
        </p:spPr>
        <p:txBody>
          <a:bodyPr wrap="square" lIns="0" rIns="0" tIns="0" bIns="0" anchor="t">
            <a:spAutoFit/>
          </a:bodyPr>
          <a:lstStyle/>
          <a:p>
            <a:pPr algn="l"/>
            <a:r>
              <a:rPr sz="1000" b="0" i="0">
                <a:solidFill>
                  <a:srgbClr val="222222"/>
                </a:solidFill>
                <a:latin typeface="Arial"/>
              </a:rPr>
              <a:t>pooled across all officers</a:t>
            </a:r>
          </a:p>
        </p:txBody>
      </p:sp>
      <p:sp>
        <p:nvSpPr>
          <p:cNvPr id="10" name="Oval 9"/>
          <p:cNvSpPr/>
          <p:nvPr/>
        </p:nvSpPr>
        <p:spPr>
          <a:xfrm>
            <a:off x="2834640" y="1975104"/>
            <a:ext cx="128016" cy="128016"/>
          </a:xfrm>
          <a:prstGeom prst="ellipse">
            <a:avLst/>
          </a:prstGeom>
          <a:solidFill>
            <a:srgbClr val="222222"/>
          </a:solidFill>
          <a:ln w="190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17520" y="1938528"/>
            <a:ext cx="2423160" cy="201168"/>
          </a:xfrm>
          <a:prstGeom prst="rect">
            <a:avLst/>
          </a:prstGeom>
          <a:noFill/>
        </p:spPr>
        <p:txBody>
          <a:bodyPr wrap="square" lIns="0" rIns="0" tIns="0" bIns="0" anchor="t">
            <a:spAutoFit/>
          </a:bodyPr>
          <a:lstStyle/>
          <a:p>
            <a:pPr algn="l"/>
            <a:r>
              <a:rPr sz="1000" b="0" i="0">
                <a:solidFill>
                  <a:srgbClr val="222222"/>
                </a:solidFill>
                <a:latin typeface="Arial"/>
              </a:rPr>
              <a:t>inside each officer's own searches</a:t>
            </a:r>
          </a:p>
        </p:txBody>
      </p:sp>
      <p:sp>
        <p:nvSpPr>
          <p:cNvPr id="12" name="TextBox 11"/>
          <p:cNvSpPr txBox="1"/>
          <p:nvPr/>
        </p:nvSpPr>
        <p:spPr>
          <a:xfrm>
            <a:off x="548640" y="2322576"/>
            <a:ext cx="2606040" cy="438912"/>
          </a:xfrm>
          <a:prstGeom prst="rect">
            <a:avLst/>
          </a:prstGeom>
          <a:noFill/>
        </p:spPr>
        <p:txBody>
          <a:bodyPr wrap="square" lIns="0" rIns="0" tIns="0" bIns="0" anchor="ctr">
            <a:spAutoFit/>
          </a:bodyPr>
          <a:lstStyle/>
          <a:p>
            <a:pPr algn="l"/>
            <a:r>
              <a:rPr sz="1100" b="0" i="0">
                <a:solidFill>
                  <a:srgbClr val="222222"/>
                </a:solidFill>
                <a:latin typeface="Arial"/>
              </a:rPr>
              <a:t>White box, stop &amp; driver only</a:t>
            </a:r>
          </a:p>
        </p:txBody>
      </p:sp>
      <p:cxnSp>
        <p:nvCxnSpPr>
          <p:cNvPr id="13" name="Connector 12"/>
          <p:cNvCxnSpPr/>
          <p:nvPr/>
        </p:nvCxnSpPr>
        <p:spPr>
          <a:xfrm flipH="1">
            <a:off x="5103571" y="2542032"/>
            <a:ext cx="223967" cy="0"/>
          </a:xfrm>
          <a:prstGeom prst="line">
            <a:avLst/>
          </a:prstGeom>
          <a:ln w="12700">
            <a:solidFill>
              <a:srgbClr val="B0B8BE"/>
            </a:solidFill>
            <a:prstDash val="dash"/>
          </a:ln>
        </p:spPr>
      </p:cxnSp>
      <p:cxnSp>
        <p:nvCxnSpPr>
          <p:cNvPr id="14" name="Connector 13"/>
          <p:cNvCxnSpPr/>
          <p:nvPr/>
        </p:nvCxnSpPr>
        <p:spPr>
          <a:xfrm>
            <a:off x="4825959" y="2542032"/>
            <a:ext cx="556565" cy="0"/>
          </a:xfrm>
          <a:prstGeom prst="line">
            <a:avLst/>
          </a:prstGeom>
          <a:ln w="28575">
            <a:solidFill>
              <a:srgbClr val="1976D2"/>
            </a:solidFill>
          </a:ln>
        </p:spPr>
      </p:cxnSp>
      <p:sp>
        <p:nvSpPr>
          <p:cNvPr id="15" name="Oval 14"/>
          <p:cNvSpPr/>
          <p:nvPr/>
        </p:nvSpPr>
        <p:spPr>
          <a:xfrm>
            <a:off x="5016703" y="2455164"/>
            <a:ext cx="173736" cy="173736"/>
          </a:xfrm>
          <a:prstGeom prst="ellipse">
            <a:avLst/>
          </a:prstGeom>
          <a:solidFill>
            <a:srgbClr val="FFFFFF"/>
          </a:solidFill>
          <a:ln w="22225">
            <a:solidFill>
              <a:srgbClr val="197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59031" y="2414016"/>
            <a:ext cx="512064" cy="256032"/>
          </a:xfrm>
          <a:prstGeom prst="rect">
            <a:avLst/>
          </a:prstGeom>
          <a:noFill/>
        </p:spPr>
        <p:txBody>
          <a:bodyPr wrap="square" lIns="0" rIns="0" tIns="0" bIns="0" anchor="ctr">
            <a:spAutoFit/>
          </a:bodyPr>
          <a:lstStyle/>
          <a:p>
            <a:pPr algn="r"/>
            <a:r>
              <a:rPr sz="1100" b="1" i="0">
                <a:solidFill>
                  <a:srgbClr val="222222"/>
                </a:solidFill>
                <a:latin typeface="Arial"/>
              </a:rPr>
              <a:t>0.538</a:t>
            </a:r>
          </a:p>
        </p:txBody>
      </p:sp>
      <p:sp>
        <p:nvSpPr>
          <p:cNvPr id="17" name="Diamond 16"/>
          <p:cNvSpPr/>
          <p:nvPr/>
        </p:nvSpPr>
        <p:spPr>
          <a:xfrm>
            <a:off x="5254386" y="2468880"/>
            <a:ext cx="146304" cy="146304"/>
          </a:xfrm>
          <a:prstGeom prst="diamond">
            <a:avLst/>
          </a:prstGeom>
          <a:solidFill>
            <a:srgbClr val="B0B8BE"/>
          </a:solidFill>
          <a:ln w="12700">
            <a:solidFill>
              <a:srgbClr val="B0B8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37266" y="2414016"/>
            <a:ext cx="548640" cy="256032"/>
          </a:xfrm>
          <a:prstGeom prst="rect">
            <a:avLst/>
          </a:prstGeom>
          <a:noFill/>
        </p:spPr>
        <p:txBody>
          <a:bodyPr wrap="square" lIns="0" rIns="0" tIns="0" bIns="0" anchor="ctr">
            <a:spAutoFit/>
          </a:bodyPr>
          <a:lstStyle/>
          <a:p>
            <a:pPr algn="l"/>
            <a:r>
              <a:rPr sz="1000" b="0" i="0">
                <a:solidFill>
                  <a:srgbClr val="6B7C85"/>
                </a:solidFill>
                <a:latin typeface="Arial"/>
              </a:rPr>
              <a:t>0.555</a:t>
            </a:r>
          </a:p>
        </p:txBody>
      </p:sp>
      <p:sp>
        <p:nvSpPr>
          <p:cNvPr id="19" name="TextBox 18"/>
          <p:cNvSpPr txBox="1"/>
          <p:nvPr/>
        </p:nvSpPr>
        <p:spPr>
          <a:xfrm>
            <a:off x="548640" y="2852928"/>
            <a:ext cx="2606040" cy="438912"/>
          </a:xfrm>
          <a:prstGeom prst="rect">
            <a:avLst/>
          </a:prstGeom>
          <a:noFill/>
        </p:spPr>
        <p:txBody>
          <a:bodyPr wrap="square" lIns="0" rIns="0" tIns="0" bIns="0" anchor="ctr">
            <a:spAutoFit/>
          </a:bodyPr>
          <a:lstStyle/>
          <a:p>
            <a:pPr algn="l"/>
            <a:r>
              <a:rPr sz="1100" b="1" i="0">
                <a:solidFill>
                  <a:srgbClr val="222222"/>
                </a:solidFill>
                <a:latin typeface="Arial"/>
              </a:rPr>
              <a:t>White box (PLTR, 19 rules) + officer record</a:t>
            </a:r>
          </a:p>
        </p:txBody>
      </p:sp>
      <p:cxnSp>
        <p:nvCxnSpPr>
          <p:cNvPr id="20" name="Connector 19"/>
          <p:cNvCxnSpPr/>
          <p:nvPr/>
        </p:nvCxnSpPr>
        <p:spPr>
          <a:xfrm flipH="1">
            <a:off x="4587240" y="3072384"/>
            <a:ext cx="1743456" cy="0"/>
          </a:xfrm>
          <a:prstGeom prst="line">
            <a:avLst/>
          </a:prstGeom>
          <a:ln w="12700">
            <a:solidFill>
              <a:srgbClr val="B0B8BE"/>
            </a:solidFill>
            <a:prstDash val="dash"/>
          </a:ln>
        </p:spPr>
      </p:cxnSp>
      <p:cxnSp>
        <p:nvCxnSpPr>
          <p:cNvPr id="21" name="Connector 20"/>
          <p:cNvCxnSpPr/>
          <p:nvPr/>
        </p:nvCxnSpPr>
        <p:spPr>
          <a:xfrm>
            <a:off x="4316334" y="3072384"/>
            <a:ext cx="527060" cy="0"/>
          </a:xfrm>
          <a:prstGeom prst="line">
            <a:avLst/>
          </a:prstGeom>
          <a:ln w="28575">
            <a:solidFill>
              <a:srgbClr val="1976D2"/>
            </a:solidFill>
          </a:ln>
        </p:spPr>
      </p:cxnSp>
      <p:sp>
        <p:nvSpPr>
          <p:cNvPr id="22" name="Oval 21"/>
          <p:cNvSpPr/>
          <p:nvPr/>
        </p:nvSpPr>
        <p:spPr>
          <a:xfrm>
            <a:off x="4500372" y="2985516"/>
            <a:ext cx="173736" cy="173736"/>
          </a:xfrm>
          <a:prstGeom prst="ellipse">
            <a:avLst/>
          </a:prstGeom>
          <a:solidFill>
            <a:srgbClr val="1976D2"/>
          </a:solidFill>
          <a:ln w="22225">
            <a:solidFill>
              <a:srgbClr val="197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406" y="2944368"/>
            <a:ext cx="512064" cy="256032"/>
          </a:xfrm>
          <a:prstGeom prst="rect">
            <a:avLst/>
          </a:prstGeom>
          <a:noFill/>
        </p:spPr>
        <p:txBody>
          <a:bodyPr wrap="square" lIns="0" rIns="0" tIns="0" bIns="0" anchor="ctr">
            <a:spAutoFit/>
          </a:bodyPr>
          <a:lstStyle/>
          <a:p>
            <a:pPr algn="r"/>
            <a:r>
              <a:rPr sz="1100" b="1" i="0">
                <a:solidFill>
                  <a:srgbClr val="222222"/>
                </a:solidFill>
                <a:latin typeface="Arial"/>
              </a:rPr>
              <a:t>0.500</a:t>
            </a:r>
          </a:p>
        </p:txBody>
      </p:sp>
      <p:sp>
        <p:nvSpPr>
          <p:cNvPr id="24" name="Diamond 23"/>
          <p:cNvSpPr/>
          <p:nvPr/>
        </p:nvSpPr>
        <p:spPr>
          <a:xfrm>
            <a:off x="6257544" y="2999232"/>
            <a:ext cx="146304" cy="146304"/>
          </a:xfrm>
          <a:prstGeom prst="diamond">
            <a:avLst/>
          </a:prstGeom>
          <a:solidFill>
            <a:srgbClr val="B0B8BE"/>
          </a:solidFill>
          <a:ln w="12700">
            <a:solidFill>
              <a:srgbClr val="B0B8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0424" y="2944368"/>
            <a:ext cx="548640" cy="256032"/>
          </a:xfrm>
          <a:prstGeom prst="rect">
            <a:avLst/>
          </a:prstGeom>
          <a:noFill/>
        </p:spPr>
        <p:txBody>
          <a:bodyPr wrap="square" lIns="0" rIns="0" tIns="0" bIns="0" anchor="ctr">
            <a:spAutoFit/>
          </a:bodyPr>
          <a:lstStyle/>
          <a:p>
            <a:pPr algn="l"/>
            <a:r>
              <a:rPr sz="1000" b="0" i="0">
                <a:solidFill>
                  <a:srgbClr val="6B7C85"/>
                </a:solidFill>
                <a:latin typeface="Arial"/>
              </a:rPr>
              <a:t>0.630</a:t>
            </a:r>
          </a:p>
        </p:txBody>
      </p:sp>
      <p:cxnSp>
        <p:nvCxnSpPr>
          <p:cNvPr id="26" name="Connector 25"/>
          <p:cNvCxnSpPr/>
          <p:nvPr/>
        </p:nvCxnSpPr>
        <p:spPr>
          <a:xfrm>
            <a:off x="548640" y="3337560"/>
            <a:ext cx="6720840" cy="0"/>
          </a:xfrm>
          <a:prstGeom prst="line">
            <a:avLst/>
          </a:prstGeom>
          <a:ln w="6350">
            <a:solidFill>
              <a:srgbClr val="D9DEE3"/>
            </a:solidFill>
          </a:ln>
        </p:spPr>
      </p:cxnSp>
      <p:sp>
        <p:nvSpPr>
          <p:cNvPr id="27" name="TextBox 26"/>
          <p:cNvSpPr txBox="1"/>
          <p:nvPr/>
        </p:nvSpPr>
        <p:spPr>
          <a:xfrm>
            <a:off x="548640" y="3383280"/>
            <a:ext cx="2606040" cy="438912"/>
          </a:xfrm>
          <a:prstGeom prst="rect">
            <a:avLst/>
          </a:prstGeom>
          <a:noFill/>
        </p:spPr>
        <p:txBody>
          <a:bodyPr wrap="square" lIns="0" rIns="0" tIns="0" bIns="0" anchor="ctr">
            <a:spAutoFit/>
          </a:bodyPr>
          <a:lstStyle/>
          <a:p>
            <a:pPr algn="l"/>
            <a:r>
              <a:rPr sz="1100" b="0" i="0">
                <a:solidFill>
                  <a:srgbClr val="222222"/>
                </a:solidFill>
                <a:latin typeface="Arial"/>
              </a:rPr>
              <a:t>XGBoost, stop &amp; driver only</a:t>
            </a:r>
          </a:p>
        </p:txBody>
      </p:sp>
      <p:cxnSp>
        <p:nvCxnSpPr>
          <p:cNvPr id="28" name="Connector 27"/>
          <p:cNvCxnSpPr/>
          <p:nvPr/>
        </p:nvCxnSpPr>
        <p:spPr>
          <a:xfrm flipH="1">
            <a:off x="5170627" y="3602736"/>
            <a:ext cx="347350" cy="0"/>
          </a:xfrm>
          <a:prstGeom prst="line">
            <a:avLst/>
          </a:prstGeom>
          <a:ln w="12700">
            <a:solidFill>
              <a:srgbClr val="B0B8BE"/>
            </a:solidFill>
            <a:prstDash val="dash"/>
          </a:ln>
        </p:spPr>
      </p:cxnSp>
      <p:cxnSp>
        <p:nvCxnSpPr>
          <p:cNvPr id="29" name="Connector 28"/>
          <p:cNvCxnSpPr/>
          <p:nvPr/>
        </p:nvCxnSpPr>
        <p:spPr>
          <a:xfrm>
            <a:off x="4909109" y="3602736"/>
            <a:ext cx="490850" cy="0"/>
          </a:xfrm>
          <a:prstGeom prst="line">
            <a:avLst/>
          </a:prstGeom>
          <a:ln w="28575">
            <a:solidFill>
              <a:srgbClr val="5E6B75"/>
            </a:solidFill>
          </a:ln>
        </p:spPr>
      </p:cxnSp>
      <p:sp>
        <p:nvSpPr>
          <p:cNvPr id="30" name="Oval 29"/>
          <p:cNvSpPr/>
          <p:nvPr/>
        </p:nvSpPr>
        <p:spPr>
          <a:xfrm>
            <a:off x="5083759" y="3515868"/>
            <a:ext cx="173736" cy="173736"/>
          </a:xfrm>
          <a:prstGeom prst="ellipse">
            <a:avLst/>
          </a:prstGeom>
          <a:solidFill>
            <a:srgbClr val="FFFFFF"/>
          </a:solidFill>
          <a:ln w="22225">
            <a:solidFill>
              <a:srgbClr val="5E6B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42181" y="3474720"/>
            <a:ext cx="512064" cy="256032"/>
          </a:xfrm>
          <a:prstGeom prst="rect">
            <a:avLst/>
          </a:prstGeom>
          <a:noFill/>
        </p:spPr>
        <p:txBody>
          <a:bodyPr wrap="square" lIns="0" rIns="0" tIns="0" bIns="0" anchor="ctr">
            <a:spAutoFit/>
          </a:bodyPr>
          <a:lstStyle/>
          <a:p>
            <a:pPr algn="r"/>
            <a:r>
              <a:rPr sz="1100" b="1" i="0">
                <a:solidFill>
                  <a:srgbClr val="222222"/>
                </a:solidFill>
                <a:latin typeface="Arial"/>
              </a:rPr>
              <a:t>0.543</a:t>
            </a:r>
          </a:p>
        </p:txBody>
      </p:sp>
      <p:sp>
        <p:nvSpPr>
          <p:cNvPr id="32" name="Diamond 31"/>
          <p:cNvSpPr/>
          <p:nvPr/>
        </p:nvSpPr>
        <p:spPr>
          <a:xfrm>
            <a:off x="5444825" y="3529584"/>
            <a:ext cx="146304" cy="146304"/>
          </a:xfrm>
          <a:prstGeom prst="diamond">
            <a:avLst/>
          </a:prstGeom>
          <a:solidFill>
            <a:srgbClr val="B0B8BE"/>
          </a:solidFill>
          <a:ln w="12700">
            <a:solidFill>
              <a:srgbClr val="B0B8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27705" y="3474720"/>
            <a:ext cx="548640" cy="256032"/>
          </a:xfrm>
          <a:prstGeom prst="rect">
            <a:avLst/>
          </a:prstGeom>
          <a:noFill/>
        </p:spPr>
        <p:txBody>
          <a:bodyPr wrap="square" lIns="0" rIns="0" tIns="0" bIns="0" anchor="ctr">
            <a:spAutoFit/>
          </a:bodyPr>
          <a:lstStyle/>
          <a:p>
            <a:pPr algn="l"/>
            <a:r>
              <a:rPr sz="1000" b="0" i="0">
                <a:solidFill>
                  <a:srgbClr val="6B7C85"/>
                </a:solidFill>
                <a:latin typeface="Arial"/>
              </a:rPr>
              <a:t>0.569</a:t>
            </a:r>
          </a:p>
        </p:txBody>
      </p:sp>
      <p:sp>
        <p:nvSpPr>
          <p:cNvPr id="34" name="TextBox 33"/>
          <p:cNvSpPr txBox="1"/>
          <p:nvPr/>
        </p:nvSpPr>
        <p:spPr>
          <a:xfrm>
            <a:off x="548640" y="3913632"/>
            <a:ext cx="2606040" cy="438912"/>
          </a:xfrm>
          <a:prstGeom prst="rect">
            <a:avLst/>
          </a:prstGeom>
          <a:noFill/>
        </p:spPr>
        <p:txBody>
          <a:bodyPr wrap="square" lIns="0" rIns="0" tIns="0" bIns="0" anchor="ctr">
            <a:spAutoFit/>
          </a:bodyPr>
          <a:lstStyle/>
          <a:p>
            <a:pPr algn="l"/>
            <a:r>
              <a:rPr sz="1100" b="1" i="0">
                <a:solidFill>
                  <a:srgbClr val="222222"/>
                </a:solidFill>
                <a:latin typeface="Arial"/>
              </a:rPr>
              <a:t>XGBoost + officer record</a:t>
            </a:r>
          </a:p>
        </p:txBody>
      </p:sp>
      <p:cxnSp>
        <p:nvCxnSpPr>
          <p:cNvPr id="35" name="Connector 34"/>
          <p:cNvCxnSpPr/>
          <p:nvPr/>
        </p:nvCxnSpPr>
        <p:spPr>
          <a:xfrm flipH="1">
            <a:off x="5323515" y="4133088"/>
            <a:ext cx="1137270" cy="0"/>
          </a:xfrm>
          <a:prstGeom prst="line">
            <a:avLst/>
          </a:prstGeom>
          <a:ln w="12700">
            <a:solidFill>
              <a:srgbClr val="B0B8BE"/>
            </a:solidFill>
            <a:prstDash val="dash"/>
          </a:ln>
        </p:spPr>
      </p:cxnSp>
      <p:cxnSp>
        <p:nvCxnSpPr>
          <p:cNvPr id="36" name="Connector 35"/>
          <p:cNvCxnSpPr/>
          <p:nvPr/>
        </p:nvCxnSpPr>
        <p:spPr>
          <a:xfrm>
            <a:off x="5043221" y="4133088"/>
            <a:ext cx="539130" cy="0"/>
          </a:xfrm>
          <a:prstGeom prst="line">
            <a:avLst/>
          </a:prstGeom>
          <a:ln w="28575">
            <a:solidFill>
              <a:srgbClr val="5E6B75"/>
            </a:solidFill>
          </a:ln>
        </p:spPr>
      </p:cxnSp>
      <p:sp>
        <p:nvSpPr>
          <p:cNvPr id="37" name="Oval 36"/>
          <p:cNvSpPr/>
          <p:nvPr/>
        </p:nvSpPr>
        <p:spPr>
          <a:xfrm>
            <a:off x="5236647" y="4046220"/>
            <a:ext cx="173736" cy="173736"/>
          </a:xfrm>
          <a:prstGeom prst="ellipse">
            <a:avLst/>
          </a:prstGeom>
          <a:solidFill>
            <a:srgbClr val="5E6B75"/>
          </a:solidFill>
          <a:ln w="22225">
            <a:solidFill>
              <a:srgbClr val="5E6B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76293" y="4005072"/>
            <a:ext cx="512064" cy="256032"/>
          </a:xfrm>
          <a:prstGeom prst="rect">
            <a:avLst/>
          </a:prstGeom>
          <a:noFill/>
        </p:spPr>
        <p:txBody>
          <a:bodyPr wrap="square" lIns="0" rIns="0" tIns="0" bIns="0" anchor="ctr">
            <a:spAutoFit/>
          </a:bodyPr>
          <a:lstStyle/>
          <a:p>
            <a:pPr algn="r"/>
            <a:r>
              <a:rPr sz="1100" b="1" i="0">
                <a:solidFill>
                  <a:srgbClr val="222222"/>
                </a:solidFill>
                <a:latin typeface="Arial"/>
              </a:rPr>
              <a:t>0.555</a:t>
            </a:r>
          </a:p>
        </p:txBody>
      </p:sp>
      <p:sp>
        <p:nvSpPr>
          <p:cNvPr id="39" name="Diamond 38"/>
          <p:cNvSpPr/>
          <p:nvPr/>
        </p:nvSpPr>
        <p:spPr>
          <a:xfrm>
            <a:off x="6387633" y="4059936"/>
            <a:ext cx="146304" cy="146304"/>
          </a:xfrm>
          <a:prstGeom prst="diamond">
            <a:avLst/>
          </a:prstGeom>
          <a:solidFill>
            <a:srgbClr val="B0B8BE"/>
          </a:solidFill>
          <a:ln w="12700">
            <a:solidFill>
              <a:srgbClr val="B0B8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70513" y="4005072"/>
            <a:ext cx="548640" cy="256032"/>
          </a:xfrm>
          <a:prstGeom prst="rect">
            <a:avLst/>
          </a:prstGeom>
          <a:noFill/>
        </p:spPr>
        <p:txBody>
          <a:bodyPr wrap="square" lIns="0" rIns="0" tIns="0" bIns="0" anchor="ctr">
            <a:spAutoFit/>
          </a:bodyPr>
          <a:lstStyle/>
          <a:p>
            <a:pPr algn="l"/>
            <a:r>
              <a:rPr sz="1000" b="0" i="0">
                <a:solidFill>
                  <a:srgbClr val="6B7C85"/>
                </a:solidFill>
                <a:latin typeface="Arial"/>
              </a:rPr>
              <a:t>0.640</a:t>
            </a:r>
          </a:p>
        </p:txBody>
      </p:sp>
      <p:cxnSp>
        <p:nvCxnSpPr>
          <p:cNvPr id="41" name="Connector 40"/>
          <p:cNvCxnSpPr/>
          <p:nvPr/>
        </p:nvCxnSpPr>
        <p:spPr>
          <a:xfrm>
            <a:off x="548640" y="4398264"/>
            <a:ext cx="6720840" cy="0"/>
          </a:xfrm>
          <a:prstGeom prst="line">
            <a:avLst/>
          </a:prstGeom>
          <a:ln w="6350">
            <a:solidFill>
              <a:srgbClr val="D9DEE3"/>
            </a:solidFill>
          </a:ln>
        </p:spPr>
      </p:cxnSp>
      <p:sp>
        <p:nvSpPr>
          <p:cNvPr id="42" name="TextBox 41"/>
          <p:cNvSpPr txBox="1"/>
          <p:nvPr/>
        </p:nvSpPr>
        <p:spPr>
          <a:xfrm>
            <a:off x="548640" y="4443984"/>
            <a:ext cx="2606040" cy="438912"/>
          </a:xfrm>
          <a:prstGeom prst="rect">
            <a:avLst/>
          </a:prstGeom>
          <a:noFill/>
        </p:spPr>
        <p:txBody>
          <a:bodyPr wrap="square" lIns="0" rIns="0" tIns="0" bIns="0" anchor="ctr">
            <a:spAutoFit/>
          </a:bodyPr>
          <a:lstStyle/>
          <a:p>
            <a:pPr algn="l"/>
            <a:r>
              <a:rPr sz="1100" b="1" i="0">
                <a:solidFill>
                  <a:srgbClr val="222222"/>
                </a:solidFill>
                <a:latin typeface="Arial"/>
              </a:rPr>
              <a:t>TabPFN + officer record (all 25 features)</a:t>
            </a:r>
          </a:p>
        </p:txBody>
      </p:sp>
      <p:sp>
        <p:nvSpPr>
          <p:cNvPr id="43" name="TextBox 42"/>
          <p:cNvSpPr txBox="1"/>
          <p:nvPr/>
        </p:nvSpPr>
        <p:spPr>
          <a:xfrm>
            <a:off x="4721352" y="4535424"/>
            <a:ext cx="1828800" cy="256032"/>
          </a:xfrm>
          <a:prstGeom prst="rect">
            <a:avLst/>
          </a:prstGeom>
          <a:noFill/>
        </p:spPr>
        <p:txBody>
          <a:bodyPr wrap="square" lIns="0" rIns="0" tIns="0" bIns="0" anchor="ctr">
            <a:spAutoFit/>
          </a:bodyPr>
          <a:lstStyle/>
          <a:p>
            <a:pPr algn="l"/>
            <a:r>
              <a:rPr sz="950" b="0" i="1">
                <a:solidFill>
                  <a:srgbClr val="6B7C85"/>
                </a:solidFill>
                <a:latin typeface="Arial"/>
              </a:rPr>
              <a:t>within officer: not computed</a:t>
            </a:r>
          </a:p>
        </p:txBody>
      </p:sp>
      <p:sp>
        <p:nvSpPr>
          <p:cNvPr id="44" name="Diamond 43"/>
          <p:cNvSpPr/>
          <p:nvPr/>
        </p:nvSpPr>
        <p:spPr>
          <a:xfrm>
            <a:off x="6566002" y="4590288"/>
            <a:ext cx="146304" cy="146304"/>
          </a:xfrm>
          <a:prstGeom prst="diamond">
            <a:avLst/>
          </a:prstGeom>
          <a:solidFill>
            <a:srgbClr val="B0B8BE"/>
          </a:solidFill>
          <a:ln w="12700">
            <a:solidFill>
              <a:srgbClr val="B0B8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48882" y="4535424"/>
            <a:ext cx="548640" cy="256032"/>
          </a:xfrm>
          <a:prstGeom prst="rect">
            <a:avLst/>
          </a:prstGeom>
          <a:noFill/>
        </p:spPr>
        <p:txBody>
          <a:bodyPr wrap="square" lIns="0" rIns="0" tIns="0" bIns="0" anchor="ctr">
            <a:spAutoFit/>
          </a:bodyPr>
          <a:lstStyle/>
          <a:p>
            <a:pPr algn="l"/>
            <a:r>
              <a:rPr sz="1000" b="0" i="0">
                <a:solidFill>
                  <a:srgbClr val="6B7C85"/>
                </a:solidFill>
                <a:latin typeface="Arial"/>
              </a:rPr>
              <a:t>0.653</a:t>
            </a:r>
          </a:p>
        </p:txBody>
      </p:sp>
      <p:cxnSp>
        <p:nvCxnSpPr>
          <p:cNvPr id="46" name="Connector 45"/>
          <p:cNvCxnSpPr/>
          <p:nvPr/>
        </p:nvCxnSpPr>
        <p:spPr>
          <a:xfrm>
            <a:off x="548640" y="4928616"/>
            <a:ext cx="6720840" cy="0"/>
          </a:xfrm>
          <a:prstGeom prst="line">
            <a:avLst/>
          </a:prstGeom>
          <a:ln w="6350">
            <a:solidFill>
              <a:srgbClr val="D9DEE3"/>
            </a:solidFill>
          </a:ln>
        </p:spPr>
      </p:cxnSp>
      <p:sp>
        <p:nvSpPr>
          <p:cNvPr id="47" name="TextBox 46"/>
          <p:cNvSpPr txBox="1"/>
          <p:nvPr/>
        </p:nvSpPr>
        <p:spPr>
          <a:xfrm>
            <a:off x="548640" y="4974336"/>
            <a:ext cx="2606040" cy="438912"/>
          </a:xfrm>
          <a:prstGeom prst="rect">
            <a:avLst/>
          </a:prstGeom>
          <a:noFill/>
        </p:spPr>
        <p:txBody>
          <a:bodyPr wrap="square" lIns="0" rIns="0" tIns="0" bIns="0" anchor="ctr">
            <a:spAutoFit/>
          </a:bodyPr>
          <a:lstStyle/>
          <a:p>
            <a:pPr algn="l"/>
            <a:r>
              <a:rPr sz="1100" b="0" i="0">
                <a:solidFill>
                  <a:srgbClr val="222222"/>
                </a:solidFill>
                <a:latin typeface="Arial"/>
              </a:rPr>
              <a:t>Officer record only (logistic)</a:t>
            </a:r>
          </a:p>
        </p:txBody>
      </p:sp>
      <p:cxnSp>
        <p:nvCxnSpPr>
          <p:cNvPr id="48" name="Connector 47"/>
          <p:cNvCxnSpPr/>
          <p:nvPr/>
        </p:nvCxnSpPr>
        <p:spPr>
          <a:xfrm flipH="1">
            <a:off x="3824143" y="5193792"/>
            <a:ext cx="2395240" cy="0"/>
          </a:xfrm>
          <a:prstGeom prst="line">
            <a:avLst/>
          </a:prstGeom>
          <a:ln w="12700">
            <a:solidFill>
              <a:srgbClr val="B0B8BE"/>
            </a:solidFill>
            <a:prstDash val="dash"/>
          </a:ln>
        </p:spPr>
      </p:cxnSp>
      <p:cxnSp>
        <p:nvCxnSpPr>
          <p:cNvPr id="49" name="Connector 48"/>
          <p:cNvCxnSpPr/>
          <p:nvPr/>
        </p:nvCxnSpPr>
        <p:spPr>
          <a:xfrm>
            <a:off x="3537143" y="5193792"/>
            <a:ext cx="549859" cy="0"/>
          </a:xfrm>
          <a:prstGeom prst="line">
            <a:avLst/>
          </a:prstGeom>
          <a:ln w="28575">
            <a:solidFill>
              <a:srgbClr val="6B7C85"/>
            </a:solidFill>
          </a:ln>
        </p:spPr>
      </p:cxnSp>
      <p:sp>
        <p:nvSpPr>
          <p:cNvPr id="50" name="Oval 49"/>
          <p:cNvSpPr/>
          <p:nvPr/>
        </p:nvSpPr>
        <p:spPr>
          <a:xfrm>
            <a:off x="3737275" y="5106924"/>
            <a:ext cx="173736" cy="173736"/>
          </a:xfrm>
          <a:prstGeom prst="ellipse">
            <a:avLst/>
          </a:prstGeom>
          <a:solidFill>
            <a:srgbClr val="6B7C85"/>
          </a:solidFill>
          <a:ln w="22225">
            <a:solidFill>
              <a:srgbClr val="6B7C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970215" y="5065776"/>
            <a:ext cx="512064" cy="256032"/>
          </a:xfrm>
          <a:prstGeom prst="rect">
            <a:avLst/>
          </a:prstGeom>
          <a:noFill/>
        </p:spPr>
        <p:txBody>
          <a:bodyPr wrap="square" lIns="0" rIns="0" tIns="0" bIns="0" anchor="ctr">
            <a:spAutoFit/>
          </a:bodyPr>
          <a:lstStyle/>
          <a:p>
            <a:pPr algn="r"/>
            <a:r>
              <a:rPr sz="1100" b="1" i="0">
                <a:solidFill>
                  <a:srgbClr val="222222"/>
                </a:solidFill>
                <a:latin typeface="Arial"/>
              </a:rPr>
              <a:t>0.443</a:t>
            </a:r>
          </a:p>
        </p:txBody>
      </p:sp>
      <p:sp>
        <p:nvSpPr>
          <p:cNvPr id="52" name="Diamond 51"/>
          <p:cNvSpPr/>
          <p:nvPr/>
        </p:nvSpPr>
        <p:spPr>
          <a:xfrm>
            <a:off x="6146231" y="5120640"/>
            <a:ext cx="146304" cy="146304"/>
          </a:xfrm>
          <a:prstGeom prst="diamond">
            <a:avLst/>
          </a:prstGeom>
          <a:solidFill>
            <a:srgbClr val="B0B8BE"/>
          </a:solidFill>
          <a:ln w="12700">
            <a:solidFill>
              <a:srgbClr val="B0B8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29111" y="5065776"/>
            <a:ext cx="548640" cy="256032"/>
          </a:xfrm>
          <a:prstGeom prst="rect">
            <a:avLst/>
          </a:prstGeom>
          <a:noFill/>
        </p:spPr>
        <p:txBody>
          <a:bodyPr wrap="square" lIns="0" rIns="0" tIns="0" bIns="0" anchor="ctr">
            <a:spAutoFit/>
          </a:bodyPr>
          <a:lstStyle/>
          <a:p>
            <a:pPr algn="l"/>
            <a:r>
              <a:rPr sz="1000" b="0" i="0">
                <a:solidFill>
                  <a:srgbClr val="6B7C85"/>
                </a:solidFill>
                <a:latin typeface="Arial"/>
              </a:rPr>
              <a:t>0.622</a:t>
            </a:r>
          </a:p>
        </p:txBody>
      </p:sp>
      <p:sp>
        <p:nvSpPr>
          <p:cNvPr id="54" name="TextBox 53"/>
          <p:cNvSpPr txBox="1"/>
          <p:nvPr/>
        </p:nvSpPr>
        <p:spPr>
          <a:xfrm>
            <a:off x="2880360" y="5623560"/>
            <a:ext cx="731520" cy="201168"/>
          </a:xfrm>
          <a:prstGeom prst="rect">
            <a:avLst/>
          </a:prstGeom>
          <a:noFill/>
        </p:spPr>
        <p:txBody>
          <a:bodyPr wrap="square" lIns="0" rIns="0" tIns="0" bIns="0" anchor="t">
            <a:spAutoFit/>
          </a:bodyPr>
          <a:lstStyle/>
          <a:p>
            <a:pPr algn="ctr"/>
            <a:r>
              <a:rPr sz="1000" b="0" i="0">
                <a:solidFill>
                  <a:srgbClr val="6B7C85"/>
                </a:solidFill>
                <a:latin typeface="Arial"/>
              </a:rPr>
              <a:t>0.40</a:t>
            </a:r>
          </a:p>
        </p:txBody>
      </p:sp>
      <p:sp>
        <p:nvSpPr>
          <p:cNvPr id="55" name="TextBox 54"/>
          <p:cNvSpPr txBox="1"/>
          <p:nvPr/>
        </p:nvSpPr>
        <p:spPr>
          <a:xfrm>
            <a:off x="3550920" y="5623560"/>
            <a:ext cx="731520" cy="201168"/>
          </a:xfrm>
          <a:prstGeom prst="rect">
            <a:avLst/>
          </a:prstGeom>
          <a:noFill/>
        </p:spPr>
        <p:txBody>
          <a:bodyPr wrap="square" lIns="0" rIns="0" tIns="0" bIns="0" anchor="t">
            <a:spAutoFit/>
          </a:bodyPr>
          <a:lstStyle/>
          <a:p>
            <a:pPr algn="ctr"/>
            <a:r>
              <a:rPr sz="1000" b="0" i="0">
                <a:solidFill>
                  <a:srgbClr val="6B7C85"/>
                </a:solidFill>
                <a:latin typeface="Arial"/>
              </a:rPr>
              <a:t>0.45</a:t>
            </a:r>
          </a:p>
        </p:txBody>
      </p:sp>
      <p:sp>
        <p:nvSpPr>
          <p:cNvPr id="56" name="TextBox 55"/>
          <p:cNvSpPr txBox="1"/>
          <p:nvPr/>
        </p:nvSpPr>
        <p:spPr>
          <a:xfrm>
            <a:off x="4221480" y="5623560"/>
            <a:ext cx="731520" cy="201168"/>
          </a:xfrm>
          <a:prstGeom prst="rect">
            <a:avLst/>
          </a:prstGeom>
          <a:noFill/>
        </p:spPr>
        <p:txBody>
          <a:bodyPr wrap="square" lIns="0" rIns="0" tIns="0" bIns="0" anchor="t">
            <a:spAutoFit/>
          </a:bodyPr>
          <a:lstStyle/>
          <a:p>
            <a:pPr algn="ctr"/>
            <a:r>
              <a:rPr sz="1000" b="0" i="0">
                <a:solidFill>
                  <a:srgbClr val="6B7C85"/>
                </a:solidFill>
                <a:latin typeface="Arial"/>
              </a:rPr>
              <a:t>0.50</a:t>
            </a:r>
          </a:p>
        </p:txBody>
      </p:sp>
      <p:sp>
        <p:nvSpPr>
          <p:cNvPr id="57" name="TextBox 56"/>
          <p:cNvSpPr txBox="1"/>
          <p:nvPr/>
        </p:nvSpPr>
        <p:spPr>
          <a:xfrm>
            <a:off x="4892040" y="5623560"/>
            <a:ext cx="731520" cy="201168"/>
          </a:xfrm>
          <a:prstGeom prst="rect">
            <a:avLst/>
          </a:prstGeom>
          <a:noFill/>
        </p:spPr>
        <p:txBody>
          <a:bodyPr wrap="square" lIns="0" rIns="0" tIns="0" bIns="0" anchor="t">
            <a:spAutoFit/>
          </a:bodyPr>
          <a:lstStyle/>
          <a:p>
            <a:pPr algn="ctr"/>
            <a:r>
              <a:rPr sz="1000" b="0" i="0">
                <a:solidFill>
                  <a:srgbClr val="6B7C85"/>
                </a:solidFill>
                <a:latin typeface="Arial"/>
              </a:rPr>
              <a:t>0.55</a:t>
            </a:r>
          </a:p>
        </p:txBody>
      </p:sp>
      <p:sp>
        <p:nvSpPr>
          <p:cNvPr id="58" name="TextBox 57"/>
          <p:cNvSpPr txBox="1"/>
          <p:nvPr/>
        </p:nvSpPr>
        <p:spPr>
          <a:xfrm>
            <a:off x="5562600" y="5623560"/>
            <a:ext cx="731520" cy="201168"/>
          </a:xfrm>
          <a:prstGeom prst="rect">
            <a:avLst/>
          </a:prstGeom>
          <a:noFill/>
        </p:spPr>
        <p:txBody>
          <a:bodyPr wrap="square" lIns="0" rIns="0" tIns="0" bIns="0" anchor="t">
            <a:spAutoFit/>
          </a:bodyPr>
          <a:lstStyle/>
          <a:p>
            <a:pPr algn="ctr"/>
            <a:r>
              <a:rPr sz="1000" b="0" i="0">
                <a:solidFill>
                  <a:srgbClr val="6B7C85"/>
                </a:solidFill>
                <a:latin typeface="Arial"/>
              </a:rPr>
              <a:t>0.60</a:t>
            </a:r>
          </a:p>
        </p:txBody>
      </p:sp>
      <p:sp>
        <p:nvSpPr>
          <p:cNvPr id="59" name="TextBox 58"/>
          <p:cNvSpPr txBox="1"/>
          <p:nvPr/>
        </p:nvSpPr>
        <p:spPr>
          <a:xfrm>
            <a:off x="6233160" y="5623560"/>
            <a:ext cx="731520" cy="201168"/>
          </a:xfrm>
          <a:prstGeom prst="rect">
            <a:avLst/>
          </a:prstGeom>
          <a:noFill/>
        </p:spPr>
        <p:txBody>
          <a:bodyPr wrap="square" lIns="0" rIns="0" tIns="0" bIns="0" anchor="t">
            <a:spAutoFit/>
          </a:bodyPr>
          <a:lstStyle/>
          <a:p>
            <a:pPr algn="ctr"/>
            <a:r>
              <a:rPr sz="1000" b="0" i="0">
                <a:solidFill>
                  <a:srgbClr val="6B7C85"/>
                </a:solidFill>
                <a:latin typeface="Arial"/>
              </a:rPr>
              <a:t>0.65</a:t>
            </a:r>
          </a:p>
        </p:txBody>
      </p:sp>
      <p:sp>
        <p:nvSpPr>
          <p:cNvPr id="60" name="TextBox 59"/>
          <p:cNvSpPr txBox="1"/>
          <p:nvPr/>
        </p:nvSpPr>
        <p:spPr>
          <a:xfrm>
            <a:off x="6903720" y="5623560"/>
            <a:ext cx="731520" cy="201168"/>
          </a:xfrm>
          <a:prstGeom prst="rect">
            <a:avLst/>
          </a:prstGeom>
          <a:noFill/>
        </p:spPr>
        <p:txBody>
          <a:bodyPr wrap="square" lIns="0" rIns="0" tIns="0" bIns="0" anchor="t">
            <a:spAutoFit/>
          </a:bodyPr>
          <a:lstStyle/>
          <a:p>
            <a:pPr algn="ctr"/>
            <a:r>
              <a:rPr sz="1000" b="0" i="0">
                <a:solidFill>
                  <a:srgbClr val="6B7C85"/>
                </a:solidFill>
                <a:latin typeface="Arial"/>
              </a:rPr>
              <a:t>0.70</a:t>
            </a:r>
          </a:p>
        </p:txBody>
      </p:sp>
      <p:cxnSp>
        <p:nvCxnSpPr>
          <p:cNvPr id="61" name="Connector 60"/>
          <p:cNvCxnSpPr/>
          <p:nvPr/>
        </p:nvCxnSpPr>
        <p:spPr>
          <a:xfrm>
            <a:off x="3246120" y="5577840"/>
            <a:ext cx="4023360" cy="0"/>
          </a:xfrm>
          <a:prstGeom prst="line">
            <a:avLst/>
          </a:prstGeom>
          <a:ln w="9525">
            <a:solidFill>
              <a:srgbClr val="D9DEE3"/>
            </a:solidFill>
          </a:ln>
        </p:spPr>
      </p:cxnSp>
      <p:cxnSp>
        <p:nvCxnSpPr>
          <p:cNvPr id="62" name="Connector 61"/>
          <p:cNvCxnSpPr/>
          <p:nvPr/>
        </p:nvCxnSpPr>
        <p:spPr>
          <a:xfrm>
            <a:off x="4587240" y="2286000"/>
            <a:ext cx="0" cy="3291840"/>
          </a:xfrm>
          <a:prstGeom prst="line">
            <a:avLst/>
          </a:prstGeom>
          <a:ln w="19050">
            <a:solidFill>
              <a:srgbClr val="B0B8BE"/>
            </a:solidFill>
            <a:prstDash val="sysDot"/>
          </a:ln>
        </p:spPr>
      </p:cxnSp>
      <p:sp>
        <p:nvSpPr>
          <p:cNvPr id="63" name="TextBox 62"/>
          <p:cNvSpPr txBox="1"/>
          <p:nvPr/>
        </p:nvSpPr>
        <p:spPr>
          <a:xfrm>
            <a:off x="4084320" y="2130552"/>
            <a:ext cx="1005840" cy="182880"/>
          </a:xfrm>
          <a:prstGeom prst="rect">
            <a:avLst/>
          </a:prstGeom>
          <a:noFill/>
        </p:spPr>
        <p:txBody>
          <a:bodyPr wrap="square" lIns="0" rIns="0" tIns="0" bIns="0" anchor="t">
            <a:spAutoFit/>
          </a:bodyPr>
          <a:lstStyle/>
          <a:p>
            <a:pPr algn="ctr"/>
            <a:r>
              <a:rPr sz="900" b="0" i="0">
                <a:solidFill>
                  <a:srgbClr val="6B7C85"/>
                </a:solidFill>
                <a:latin typeface="Arial"/>
              </a:rPr>
              <a:t>random</a:t>
            </a:r>
          </a:p>
        </p:txBody>
      </p:sp>
      <p:sp>
        <p:nvSpPr>
          <p:cNvPr id="64" name="Rectangle 63"/>
          <p:cNvSpPr/>
          <p:nvPr/>
        </p:nvSpPr>
        <p:spPr>
          <a:xfrm>
            <a:off x="7772400" y="1554480"/>
            <a:ext cx="3870655" cy="443484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973568" y="1691640"/>
            <a:ext cx="3474720" cy="4206240"/>
          </a:xfrm>
          <a:prstGeom prst="rect">
            <a:avLst/>
          </a:prstGeom>
          <a:noFill/>
        </p:spPr>
        <p:txBody>
          <a:bodyPr wrap="square" lIns="0" rIns="0" tIns="0" bIns="0" anchor="t">
            <a:spAutoFit/>
          </a:bodyPr>
          <a:lstStyle/>
          <a:p>
            <a:pPr algn="l">
              <a:spcAft>
                <a:spcPts val="400"/>
              </a:spcAft>
            </a:pPr>
            <a:r>
              <a:rPr sz="1200" b="1" i="0">
                <a:solidFill>
                  <a:srgbClr val="1976D2"/>
                </a:solidFill>
                <a:latin typeface="Arial"/>
              </a:rPr>
              <a:t>The gain is real</a:t>
            </a:r>
          </a:p>
          <a:p>
            <a:pPr algn="l" marL="155448" indent="-155448">
              <a:spcAft>
                <a:spcPts val="400"/>
              </a:spcAft>
              <a:buChar char="•"/>
            </a:pPr>
            <a:r>
              <a:rPr sz="1100" b="0" i="0">
                <a:solidFill>
                  <a:srgbClr val="222222"/>
                </a:solidFill>
                <a:latin typeface="Arial Unicode MS"/>
              </a:rPr>
              <a:t>+0.070 [+0.056, +0.084] for XGBoost; DeLong p = 6.6 × 10⁻²³</a:t>
            </a:r>
          </a:p>
          <a:p>
            <a:pPr algn="l" marL="155448" indent="-155448">
              <a:spcAft>
                <a:spcPts val="1400"/>
              </a:spcAft>
              <a:buChar char="•"/>
            </a:pPr>
            <a:r>
              <a:rPr sz="1100" b="0" i="0">
                <a:solidFill>
                  <a:srgbClr val="222222"/>
                </a:solidFill>
                <a:latin typeface="Arial"/>
              </a:rPr>
              <a:t>It holds on officers never seen in training (XGBoost 0.643, white box 0.629), in every test year (+0.05 to +0.09) and over 5 other officer draws</a:t>
            </a:r>
          </a:p>
          <a:p>
            <a:pPr algn="l">
              <a:spcAft>
                <a:spcPts val="400"/>
              </a:spcAft>
            </a:pPr>
            <a:r>
              <a:rPr sz="1200" b="1" i="0">
                <a:solidFill>
                  <a:srgbClr val="1976D2"/>
                </a:solidFill>
                <a:latin typeface="Arial"/>
              </a:rPr>
              <a:t>But it lies between officers</a:t>
            </a:r>
          </a:p>
          <a:p>
            <a:pPr algn="l" marL="155448" indent="-155448">
              <a:spcAft>
                <a:spcPts val="400"/>
              </a:spcAft>
              <a:buChar char="•"/>
            </a:pPr>
            <a:r>
              <a:rPr sz="1100" b="0" i="0">
                <a:solidFill>
                  <a:srgbClr val="222222"/>
                </a:solidFill>
                <a:latin typeface="Arial"/>
              </a:rPr>
              <a:t>With the record, 52%–60% of the score's variance is between officers (24% without)</a:t>
            </a:r>
          </a:p>
          <a:p>
            <a:pPr algn="l" marL="155448" indent="-155448">
              <a:spcAft>
                <a:spcPts val="1400"/>
              </a:spcAft>
              <a:buChar char="•"/>
            </a:pPr>
            <a:r>
              <a:rPr sz="1100" b="0" i="0">
                <a:solidFill>
                  <a:srgbClr val="222222"/>
                </a:solidFill>
                <a:latin typeface="Arial"/>
              </a:rPr>
              <a:t>The record tells you which officer, never which driver</a:t>
            </a:r>
          </a:p>
          <a:p>
            <a:pPr algn="l"/>
            <a:r>
              <a:rPr sz="1100" b="1" i="0">
                <a:solidFill>
                  <a:srgbClr val="1976D2"/>
                </a:solidFill>
                <a:latin typeface="Arial"/>
              </a:rPr>
              <a:t>So we use it to explain outcomes, never as an input to a deployed score.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Act II · Interpretability of the white box</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The white box reads like a profile of the searcher: 81% of its weight is about the officer</a:t>
            </a:r>
          </a:p>
        </p:txBody>
      </p:sp>
      <p:sp>
        <p:nvSpPr>
          <p:cNvPr id="4" name="TextBox 3"/>
          <p:cNvSpPr txBox="1"/>
          <p:nvPr/>
        </p:nvSpPr>
        <p:spPr>
          <a:xfrm>
            <a:off x="548640" y="6035040"/>
            <a:ext cx="11094415" cy="365760"/>
          </a:xfrm>
          <a:prstGeom prst="rect">
            <a:avLst/>
          </a:prstGeom>
          <a:noFill/>
        </p:spPr>
        <p:txBody>
          <a:bodyPr wrap="square" lIns="0" rIns="0" tIns="0" bIns="0" anchor="b">
            <a:spAutoFit/>
          </a:bodyPr>
          <a:lstStyle/>
          <a:p>
            <a:pPr algn="l"/>
            <a:r>
              <a:rPr sz="900" b="0" i="0">
                <a:solidFill>
                  <a:srgbClr val="6B7C85"/>
                </a:solidFill>
                <a:latin typeface="Arial"/>
              </a:rPr>
              <a:t>PLTR (Dumitrescu, Hué, Hurlin &amp; Tokpavi 2022): a logistic regression on data-driven threshold rules, adaptive lasso, 1-SE rule. The score is exact: log-odds = baseline + the rules that apply. Linear terms: odds ratio per standard deviation.</a:t>
            </a:r>
          </a:p>
        </p:txBody>
      </p:sp>
      <p:sp>
        <p:nvSpPr>
          <p:cNvPr id="5" name="TextBox 4"/>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data/pltr_terms.json, data/pltr_whitebox_report.json (scripts_claude/pltr_whitebox_report.py --fit); XGBoost SHAP: reports/xgboost_officer (Julia). MASTER §6.1–6.2.</a:t>
            </a:r>
          </a:p>
        </p:txBody>
      </p:sp>
      <p:sp>
        <p:nvSpPr>
          <p:cNvPr id="6" name="TextBox 5"/>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8</a:t>
            </a:r>
          </a:p>
        </p:txBody>
      </p:sp>
      <p:sp>
        <p:nvSpPr>
          <p:cNvPr id="7" name="TextBox 6"/>
          <p:cNvSpPr txBox="1"/>
          <p:nvPr/>
        </p:nvSpPr>
        <p:spPr>
          <a:xfrm>
            <a:off x="548640" y="1554480"/>
            <a:ext cx="6217920" cy="274320"/>
          </a:xfrm>
          <a:prstGeom prst="rect">
            <a:avLst/>
          </a:prstGeom>
          <a:noFill/>
        </p:spPr>
        <p:txBody>
          <a:bodyPr wrap="square" lIns="0" rIns="0" tIns="0" bIns="0" anchor="t">
            <a:spAutoFit/>
          </a:bodyPr>
          <a:lstStyle/>
          <a:p>
            <a:pPr algn="l"/>
            <a:r>
              <a:rPr sz="1200" b="1" i="0">
                <a:solidFill>
                  <a:srgbClr val="222222"/>
                </a:solidFill>
                <a:latin typeface="Arial"/>
              </a:rPr>
              <a:t>The white box's 10 heaviest rules: share of importance (odds ratio)</a:t>
            </a:r>
          </a:p>
        </p:txBody>
      </p:sp>
      <p:sp>
        <p:nvSpPr>
          <p:cNvPr id="8" name="TextBox 7"/>
          <p:cNvSpPr txBox="1"/>
          <p:nvPr/>
        </p:nvSpPr>
        <p:spPr>
          <a:xfrm>
            <a:off x="548640" y="1938528"/>
            <a:ext cx="3246120" cy="274320"/>
          </a:xfrm>
          <a:prstGeom prst="rect">
            <a:avLst/>
          </a:prstGeom>
          <a:noFill/>
        </p:spPr>
        <p:txBody>
          <a:bodyPr wrap="square" lIns="0" rIns="0" tIns="0" bIns="0" anchor="ctr">
            <a:spAutoFit/>
          </a:bodyPr>
          <a:lstStyle/>
          <a:p>
            <a:pPr algn="l"/>
            <a:r>
              <a:rPr sz="1000" b="0" i="0">
                <a:solidFill>
                  <a:srgbClr val="222222"/>
                </a:solidFill>
                <a:latin typeface="Arial"/>
              </a:rPr>
              <a:t>Officer's past-year consent hit rate (per SD)</a:t>
            </a:r>
          </a:p>
        </p:txBody>
      </p:sp>
      <p:sp>
        <p:nvSpPr>
          <p:cNvPr id="9" name="Rectangle 8"/>
          <p:cNvSpPr/>
          <p:nvPr/>
        </p:nvSpPr>
        <p:spPr>
          <a:xfrm>
            <a:off x="3886200" y="1975104"/>
            <a:ext cx="1920240" cy="219456"/>
          </a:xfrm>
          <a:prstGeom prst="rect">
            <a:avLst/>
          </a:prstGeom>
          <a:solidFill>
            <a:srgbClr val="19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70448" y="1938528"/>
            <a:ext cx="1097280" cy="274320"/>
          </a:xfrm>
          <a:prstGeom prst="rect">
            <a:avLst/>
          </a:prstGeom>
          <a:noFill/>
        </p:spPr>
        <p:txBody>
          <a:bodyPr wrap="square" lIns="0" rIns="0" tIns="0" bIns="0" anchor="ctr">
            <a:spAutoFit/>
          </a:bodyPr>
          <a:lstStyle/>
          <a:p>
            <a:pPr algn="l"/>
            <a:r>
              <a:rPr sz="1000" b="1" i="0">
                <a:solidFill>
                  <a:srgbClr val="222222"/>
                </a:solidFill>
                <a:latin typeface="Arial"/>
              </a:rPr>
              <a:t>32%</a:t>
            </a:r>
            <a:r>
              <a:rPr sz="1000" b="0" i="0">
                <a:solidFill>
                  <a:srgbClr val="6B7C85"/>
                </a:solidFill>
                <a:latin typeface="Arial"/>
              </a:rPr>
              <a:t>  OR 1.43</a:t>
            </a:r>
          </a:p>
        </p:txBody>
      </p:sp>
      <p:sp>
        <p:nvSpPr>
          <p:cNvPr id="11" name="TextBox 10"/>
          <p:cNvSpPr txBox="1"/>
          <p:nvPr/>
        </p:nvSpPr>
        <p:spPr>
          <a:xfrm>
            <a:off x="548640" y="2272284"/>
            <a:ext cx="3246120" cy="308356"/>
          </a:xfrm>
          <a:prstGeom prst="rect">
            <a:avLst/>
          </a:prstGeom>
          <a:noFill/>
        </p:spPr>
        <p:txBody>
          <a:bodyPr wrap="square" lIns="0" rIns="0" tIns="0" bIns="0" anchor="ctr">
            <a:spAutoFit/>
          </a:bodyPr>
          <a:lstStyle/>
          <a:p>
            <a:pPr algn="l"/>
            <a:r>
              <a:rPr sz="1000" b="0" i="0">
                <a:solidFill>
                  <a:srgbClr val="222222"/>
                </a:solidFill>
                <a:latin typeface="Arial"/>
              </a:rPr>
              <a:t>Officer's past hit rate low on this driver's race and overall</a:t>
            </a:r>
          </a:p>
        </p:txBody>
      </p:sp>
      <p:sp>
        <p:nvSpPr>
          <p:cNvPr id="12" name="Rectangle 11"/>
          <p:cNvSpPr/>
          <p:nvPr/>
        </p:nvSpPr>
        <p:spPr>
          <a:xfrm>
            <a:off x="3886200" y="2308860"/>
            <a:ext cx="861636" cy="219456"/>
          </a:xfrm>
          <a:prstGeom prst="rect">
            <a:avLst/>
          </a:prstGeom>
          <a:solidFill>
            <a:srgbClr val="19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11844" y="2272284"/>
            <a:ext cx="1097280" cy="274320"/>
          </a:xfrm>
          <a:prstGeom prst="rect">
            <a:avLst/>
          </a:prstGeom>
          <a:noFill/>
        </p:spPr>
        <p:txBody>
          <a:bodyPr wrap="square" lIns="0" rIns="0" tIns="0" bIns="0" anchor="ctr">
            <a:spAutoFit/>
          </a:bodyPr>
          <a:lstStyle/>
          <a:p>
            <a:pPr algn="l"/>
            <a:r>
              <a:rPr sz="1000" b="1" i="0">
                <a:solidFill>
                  <a:srgbClr val="222222"/>
                </a:solidFill>
                <a:latin typeface="Arial"/>
              </a:rPr>
              <a:t>14%</a:t>
            </a:r>
            <a:r>
              <a:rPr sz="1000" b="0" i="0">
                <a:solidFill>
                  <a:srgbClr val="6B7C85"/>
                </a:solidFill>
                <a:latin typeface="Arial"/>
              </a:rPr>
              <a:t>  OR 0.64</a:t>
            </a:r>
          </a:p>
        </p:txBody>
      </p:sp>
      <p:sp>
        <p:nvSpPr>
          <p:cNvPr id="14" name="TextBox 13"/>
          <p:cNvSpPr txBox="1"/>
          <p:nvPr/>
        </p:nvSpPr>
        <p:spPr>
          <a:xfrm>
            <a:off x="548640" y="2606040"/>
            <a:ext cx="3246120" cy="274320"/>
          </a:xfrm>
          <a:prstGeom prst="rect">
            <a:avLst/>
          </a:prstGeom>
          <a:noFill/>
        </p:spPr>
        <p:txBody>
          <a:bodyPr wrap="square" lIns="0" rIns="0" tIns="0" bIns="0" anchor="ctr">
            <a:spAutoFit/>
          </a:bodyPr>
          <a:lstStyle/>
          <a:p>
            <a:pPr algn="l"/>
            <a:r>
              <a:rPr sz="1000" b="0" i="0">
                <a:solidFill>
                  <a:srgbClr val="222222"/>
                </a:solidFill>
                <a:latin typeface="Arial"/>
              </a:rPr>
              <a:t>Driver is Hispanic</a:t>
            </a:r>
          </a:p>
        </p:txBody>
      </p:sp>
      <p:sp>
        <p:nvSpPr>
          <p:cNvPr id="15" name="Rectangle 14"/>
          <p:cNvSpPr/>
          <p:nvPr/>
        </p:nvSpPr>
        <p:spPr>
          <a:xfrm>
            <a:off x="3886200" y="2642616"/>
            <a:ext cx="499041" cy="219456"/>
          </a:xfrm>
          <a:prstGeom prst="rect">
            <a:avLst/>
          </a:prstGeom>
          <a:solidFill>
            <a:srgbClr val="B0B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9249" y="2606040"/>
            <a:ext cx="1097280" cy="274320"/>
          </a:xfrm>
          <a:prstGeom prst="rect">
            <a:avLst/>
          </a:prstGeom>
          <a:noFill/>
        </p:spPr>
        <p:txBody>
          <a:bodyPr wrap="square" lIns="0" rIns="0" tIns="0" bIns="0" anchor="ctr">
            <a:spAutoFit/>
          </a:bodyPr>
          <a:lstStyle/>
          <a:p>
            <a:pPr algn="l"/>
            <a:r>
              <a:rPr sz="1000" b="1" i="0">
                <a:solidFill>
                  <a:srgbClr val="222222"/>
                </a:solidFill>
                <a:latin typeface="Arial"/>
              </a:rPr>
              <a:t>8%</a:t>
            </a:r>
            <a:r>
              <a:rPr sz="1000" b="0" i="0">
                <a:solidFill>
                  <a:srgbClr val="6B7C85"/>
                </a:solidFill>
                <a:latin typeface="Arial"/>
              </a:rPr>
              <a:t>  OR 0.71</a:t>
            </a:r>
          </a:p>
        </p:txBody>
      </p:sp>
      <p:sp>
        <p:nvSpPr>
          <p:cNvPr id="17" name="TextBox 16"/>
          <p:cNvSpPr txBox="1"/>
          <p:nvPr/>
        </p:nvSpPr>
        <p:spPr>
          <a:xfrm>
            <a:off x="548640" y="2939796"/>
            <a:ext cx="3246120" cy="274320"/>
          </a:xfrm>
          <a:prstGeom prst="rect">
            <a:avLst/>
          </a:prstGeom>
          <a:noFill/>
        </p:spPr>
        <p:txBody>
          <a:bodyPr wrap="square" lIns="0" rIns="0" tIns="0" bIns="0" anchor="ctr">
            <a:spAutoFit/>
          </a:bodyPr>
          <a:lstStyle/>
          <a:p>
            <a:pPr algn="l"/>
            <a:r>
              <a:rPr sz="1000" b="0" i="0">
                <a:solidFill>
                  <a:srgbClr val="222222"/>
                </a:solidFill>
                <a:latin typeface="Arial"/>
              </a:rPr>
              <a:t>Driver is white</a:t>
            </a:r>
          </a:p>
        </p:txBody>
      </p:sp>
      <p:sp>
        <p:nvSpPr>
          <p:cNvPr id="18" name="Rectangle 17"/>
          <p:cNvSpPr/>
          <p:nvPr/>
        </p:nvSpPr>
        <p:spPr>
          <a:xfrm>
            <a:off x="3886200" y="2976372"/>
            <a:ext cx="490592" cy="219456"/>
          </a:xfrm>
          <a:prstGeom prst="rect">
            <a:avLst/>
          </a:prstGeom>
          <a:solidFill>
            <a:srgbClr val="B0B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40800" y="2939796"/>
            <a:ext cx="1097280" cy="274320"/>
          </a:xfrm>
          <a:prstGeom prst="rect">
            <a:avLst/>
          </a:prstGeom>
          <a:noFill/>
        </p:spPr>
        <p:txBody>
          <a:bodyPr wrap="square" lIns="0" rIns="0" tIns="0" bIns="0" anchor="ctr">
            <a:spAutoFit/>
          </a:bodyPr>
          <a:lstStyle/>
          <a:p>
            <a:pPr algn="l"/>
            <a:r>
              <a:rPr sz="1000" b="1" i="0">
                <a:solidFill>
                  <a:srgbClr val="222222"/>
                </a:solidFill>
                <a:latin typeface="Arial"/>
              </a:rPr>
              <a:t>8%</a:t>
            </a:r>
            <a:r>
              <a:rPr sz="1000" b="0" i="0">
                <a:solidFill>
                  <a:srgbClr val="6B7C85"/>
                </a:solidFill>
                <a:latin typeface="Arial"/>
              </a:rPr>
              <a:t>  OR 1.21</a:t>
            </a:r>
          </a:p>
        </p:txBody>
      </p:sp>
      <p:sp>
        <p:nvSpPr>
          <p:cNvPr id="20" name="TextBox 19"/>
          <p:cNvSpPr txBox="1"/>
          <p:nvPr/>
        </p:nvSpPr>
        <p:spPr>
          <a:xfrm>
            <a:off x="548640" y="3273552"/>
            <a:ext cx="3246120" cy="274320"/>
          </a:xfrm>
          <a:prstGeom prst="rect">
            <a:avLst/>
          </a:prstGeom>
          <a:noFill/>
        </p:spPr>
        <p:txBody>
          <a:bodyPr wrap="square" lIns="0" rIns="0" tIns="0" bIns="0" anchor="ctr">
            <a:spAutoFit/>
          </a:bodyPr>
          <a:lstStyle/>
          <a:p>
            <a:pPr algn="l"/>
            <a:r>
              <a:rPr sz="1000" b="0" i="0">
                <a:solidFill>
                  <a:srgbClr val="222222"/>
                </a:solidFill>
                <a:latin typeface="Arial"/>
              </a:rPr>
              <a:t>Experienced officer, first stop of the calendar day</a:t>
            </a:r>
          </a:p>
        </p:txBody>
      </p:sp>
      <p:sp>
        <p:nvSpPr>
          <p:cNvPr id="21" name="Rectangle 20"/>
          <p:cNvSpPr/>
          <p:nvPr/>
        </p:nvSpPr>
        <p:spPr>
          <a:xfrm>
            <a:off x="3886200" y="3310128"/>
            <a:ext cx="465064" cy="219456"/>
          </a:xfrm>
          <a:prstGeom prst="rect">
            <a:avLst/>
          </a:prstGeom>
          <a:solidFill>
            <a:srgbClr val="19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15272" y="3273552"/>
            <a:ext cx="1097280" cy="274320"/>
          </a:xfrm>
          <a:prstGeom prst="rect">
            <a:avLst/>
          </a:prstGeom>
          <a:noFill/>
        </p:spPr>
        <p:txBody>
          <a:bodyPr wrap="square" lIns="0" rIns="0" tIns="0" bIns="0" anchor="ctr">
            <a:spAutoFit/>
          </a:bodyPr>
          <a:lstStyle/>
          <a:p>
            <a:pPr algn="l"/>
            <a:r>
              <a:rPr sz="1000" b="1" i="0">
                <a:solidFill>
                  <a:srgbClr val="222222"/>
                </a:solidFill>
                <a:latin typeface="Arial"/>
              </a:rPr>
              <a:t>8%</a:t>
            </a:r>
            <a:r>
              <a:rPr sz="1000" b="0" i="0">
                <a:solidFill>
                  <a:srgbClr val="6B7C85"/>
                </a:solidFill>
                <a:latin typeface="Arial"/>
              </a:rPr>
              <a:t>  OR 1.24</a:t>
            </a:r>
          </a:p>
        </p:txBody>
      </p:sp>
      <p:sp>
        <p:nvSpPr>
          <p:cNvPr id="23" name="TextBox 22"/>
          <p:cNvSpPr txBox="1"/>
          <p:nvPr/>
        </p:nvSpPr>
        <p:spPr>
          <a:xfrm>
            <a:off x="548640" y="3607308"/>
            <a:ext cx="3246120" cy="274320"/>
          </a:xfrm>
          <a:prstGeom prst="rect">
            <a:avLst/>
          </a:prstGeom>
          <a:noFill/>
        </p:spPr>
        <p:txBody>
          <a:bodyPr wrap="square" lIns="0" rIns="0" tIns="0" bIns="0" anchor="ctr">
            <a:spAutoFit/>
          </a:bodyPr>
          <a:lstStyle/>
          <a:p>
            <a:pPr algn="l"/>
            <a:r>
              <a:rPr sz="1000" b="0" i="0">
                <a:solidFill>
                  <a:srgbClr val="222222"/>
                </a:solidFill>
                <a:latin typeface="Arial"/>
              </a:rPr>
              <a:t>Officer's previous search &lt; ~110 min ago</a:t>
            </a:r>
          </a:p>
        </p:txBody>
      </p:sp>
      <p:sp>
        <p:nvSpPr>
          <p:cNvPr id="24" name="Rectangle 23"/>
          <p:cNvSpPr/>
          <p:nvPr/>
        </p:nvSpPr>
        <p:spPr>
          <a:xfrm>
            <a:off x="3886200" y="3643884"/>
            <a:ext cx="375000" cy="219456"/>
          </a:xfrm>
          <a:prstGeom prst="rect">
            <a:avLst/>
          </a:prstGeom>
          <a:solidFill>
            <a:srgbClr val="19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25208" y="3607308"/>
            <a:ext cx="1097280" cy="274320"/>
          </a:xfrm>
          <a:prstGeom prst="rect">
            <a:avLst/>
          </a:prstGeom>
          <a:noFill/>
        </p:spPr>
        <p:txBody>
          <a:bodyPr wrap="square" lIns="0" rIns="0" tIns="0" bIns="0" anchor="ctr">
            <a:spAutoFit/>
          </a:bodyPr>
          <a:lstStyle/>
          <a:p>
            <a:pPr algn="l"/>
            <a:r>
              <a:rPr sz="1000" b="1" i="0">
                <a:solidFill>
                  <a:srgbClr val="222222"/>
                </a:solidFill>
                <a:latin typeface="Arial"/>
              </a:rPr>
              <a:t>6%</a:t>
            </a:r>
            <a:r>
              <a:rPr sz="1000" b="0" i="0">
                <a:solidFill>
                  <a:srgbClr val="6B7C85"/>
                </a:solidFill>
                <a:latin typeface="Arial"/>
              </a:rPr>
              <a:t>  OR 0.79</a:t>
            </a:r>
          </a:p>
        </p:txBody>
      </p:sp>
      <p:sp>
        <p:nvSpPr>
          <p:cNvPr id="26" name="TextBox 25"/>
          <p:cNvSpPr txBox="1"/>
          <p:nvPr/>
        </p:nvSpPr>
        <p:spPr>
          <a:xfrm>
            <a:off x="548640" y="3941064"/>
            <a:ext cx="3246120" cy="274320"/>
          </a:xfrm>
          <a:prstGeom prst="rect">
            <a:avLst/>
          </a:prstGeom>
          <a:noFill/>
        </p:spPr>
        <p:txBody>
          <a:bodyPr wrap="square" lIns="0" rIns="0" tIns="0" bIns="0" anchor="ctr">
            <a:spAutoFit/>
          </a:bodyPr>
          <a:lstStyle/>
          <a:p>
            <a:pPr algn="l"/>
            <a:r>
              <a:rPr sz="1000" b="0" i="0">
                <a:solidFill>
                  <a:srgbClr val="222222"/>
                </a:solidFill>
                <a:latin typeface="Arial"/>
              </a:rPr>
              <a:t>Male driver, officer with ≤ 9 consent searches last year</a:t>
            </a:r>
          </a:p>
        </p:txBody>
      </p:sp>
      <p:sp>
        <p:nvSpPr>
          <p:cNvPr id="27" name="Rectangle 26"/>
          <p:cNvSpPr/>
          <p:nvPr/>
        </p:nvSpPr>
        <p:spPr>
          <a:xfrm>
            <a:off x="3886200" y="3977640"/>
            <a:ext cx="331256" cy="219456"/>
          </a:xfrm>
          <a:prstGeom prst="rect">
            <a:avLst/>
          </a:prstGeom>
          <a:solidFill>
            <a:srgbClr val="19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81464" y="3941064"/>
            <a:ext cx="1097280" cy="274320"/>
          </a:xfrm>
          <a:prstGeom prst="rect">
            <a:avLst/>
          </a:prstGeom>
          <a:noFill/>
        </p:spPr>
        <p:txBody>
          <a:bodyPr wrap="square" lIns="0" rIns="0" tIns="0" bIns="0" anchor="ctr">
            <a:spAutoFit/>
          </a:bodyPr>
          <a:lstStyle/>
          <a:p>
            <a:pPr algn="l"/>
            <a:r>
              <a:rPr sz="1000" b="1" i="0">
                <a:solidFill>
                  <a:srgbClr val="222222"/>
                </a:solidFill>
                <a:latin typeface="Arial"/>
              </a:rPr>
              <a:t>6%</a:t>
            </a:r>
            <a:r>
              <a:rPr sz="1000" b="0" i="0">
                <a:solidFill>
                  <a:srgbClr val="6B7C85"/>
                </a:solidFill>
                <a:latin typeface="Arial"/>
              </a:rPr>
              <a:t>  OR 0.85</a:t>
            </a:r>
          </a:p>
        </p:txBody>
      </p:sp>
      <p:sp>
        <p:nvSpPr>
          <p:cNvPr id="29" name="TextBox 28"/>
          <p:cNvSpPr txBox="1"/>
          <p:nvPr/>
        </p:nvSpPr>
        <p:spPr>
          <a:xfrm>
            <a:off x="548640" y="4274820"/>
            <a:ext cx="3246120" cy="274320"/>
          </a:xfrm>
          <a:prstGeom prst="rect">
            <a:avLst/>
          </a:prstGeom>
          <a:noFill/>
        </p:spPr>
        <p:txBody>
          <a:bodyPr wrap="square" lIns="0" rIns="0" tIns="0" bIns="0" anchor="ctr">
            <a:spAutoFit/>
          </a:bodyPr>
          <a:lstStyle/>
          <a:p>
            <a:pPr algn="l"/>
            <a:r>
              <a:rPr sz="1000" b="0" i="0">
                <a:solidFill>
                  <a:srgbClr val="222222"/>
                </a:solidFill>
                <a:latin typeface="Arial"/>
              </a:rPr>
              <a:t>Lower-volume officer, stop at ~4:30–7:30</a:t>
            </a:r>
          </a:p>
        </p:txBody>
      </p:sp>
      <p:sp>
        <p:nvSpPr>
          <p:cNvPr id="30" name="Rectangle 29"/>
          <p:cNvSpPr/>
          <p:nvPr/>
        </p:nvSpPr>
        <p:spPr>
          <a:xfrm>
            <a:off x="3886200" y="4311396"/>
            <a:ext cx="317473" cy="219456"/>
          </a:xfrm>
          <a:prstGeom prst="rect">
            <a:avLst/>
          </a:prstGeom>
          <a:solidFill>
            <a:srgbClr val="19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67681" y="4274820"/>
            <a:ext cx="1097280" cy="274320"/>
          </a:xfrm>
          <a:prstGeom prst="rect">
            <a:avLst/>
          </a:prstGeom>
          <a:noFill/>
        </p:spPr>
        <p:txBody>
          <a:bodyPr wrap="square" lIns="0" rIns="0" tIns="0" bIns="0" anchor="ctr">
            <a:spAutoFit/>
          </a:bodyPr>
          <a:lstStyle/>
          <a:p>
            <a:pPr algn="l"/>
            <a:r>
              <a:rPr sz="1000" b="1" i="0">
                <a:solidFill>
                  <a:srgbClr val="222222"/>
                </a:solidFill>
                <a:latin typeface="Arial"/>
              </a:rPr>
              <a:t>5%</a:t>
            </a:r>
            <a:r>
              <a:rPr sz="1000" b="0" i="0">
                <a:solidFill>
                  <a:srgbClr val="6B7C85"/>
                </a:solidFill>
                <a:latin typeface="Arial"/>
              </a:rPr>
              <a:t>  OR 1.46</a:t>
            </a:r>
          </a:p>
        </p:txBody>
      </p:sp>
      <p:sp>
        <p:nvSpPr>
          <p:cNvPr id="32" name="TextBox 31"/>
          <p:cNvSpPr txBox="1"/>
          <p:nvPr/>
        </p:nvSpPr>
        <p:spPr>
          <a:xfrm>
            <a:off x="548640" y="4608576"/>
            <a:ext cx="3246120" cy="308356"/>
          </a:xfrm>
          <a:prstGeom prst="rect">
            <a:avLst/>
          </a:prstGeom>
          <a:noFill/>
        </p:spPr>
        <p:txBody>
          <a:bodyPr wrap="square" lIns="0" rIns="0" tIns="0" bIns="0" anchor="ctr">
            <a:spAutoFit/>
          </a:bodyPr>
          <a:lstStyle/>
          <a:p>
            <a:pPr algn="l"/>
            <a:r>
              <a:rPr sz="1000" b="0" i="0">
                <a:solidFill>
                  <a:srgbClr val="222222"/>
                </a:solidFill>
                <a:latin typeface="Arial"/>
              </a:rPr>
              <a:t>Officer searches Hispanic drivers &gt; 1.6× as often as white</a:t>
            </a:r>
          </a:p>
        </p:txBody>
      </p:sp>
      <p:sp>
        <p:nvSpPr>
          <p:cNvPr id="33" name="Rectangle 32"/>
          <p:cNvSpPr/>
          <p:nvPr/>
        </p:nvSpPr>
        <p:spPr>
          <a:xfrm>
            <a:off x="3886200" y="4645152"/>
            <a:ext cx="161373" cy="219456"/>
          </a:xfrm>
          <a:prstGeom prst="rect">
            <a:avLst/>
          </a:prstGeom>
          <a:solidFill>
            <a:srgbClr val="19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1581" y="4608576"/>
            <a:ext cx="1097280" cy="274320"/>
          </a:xfrm>
          <a:prstGeom prst="rect">
            <a:avLst/>
          </a:prstGeom>
          <a:noFill/>
        </p:spPr>
        <p:txBody>
          <a:bodyPr wrap="square" lIns="0" rIns="0" tIns="0" bIns="0" anchor="ctr">
            <a:spAutoFit/>
          </a:bodyPr>
          <a:lstStyle/>
          <a:p>
            <a:pPr algn="l"/>
            <a:r>
              <a:rPr sz="1000" b="1" i="0">
                <a:solidFill>
                  <a:srgbClr val="222222"/>
                </a:solidFill>
                <a:latin typeface="Arial"/>
              </a:rPr>
              <a:t>3%</a:t>
            </a:r>
            <a:r>
              <a:rPr sz="1000" b="0" i="0">
                <a:solidFill>
                  <a:srgbClr val="6B7C85"/>
                </a:solidFill>
                <a:latin typeface="Arial"/>
              </a:rPr>
              <a:t>  OR 0.93</a:t>
            </a:r>
          </a:p>
        </p:txBody>
      </p:sp>
      <p:sp>
        <p:nvSpPr>
          <p:cNvPr id="35" name="TextBox 34"/>
          <p:cNvSpPr txBox="1"/>
          <p:nvPr/>
        </p:nvSpPr>
        <p:spPr>
          <a:xfrm>
            <a:off x="548640" y="4942332"/>
            <a:ext cx="3246120" cy="274320"/>
          </a:xfrm>
          <a:prstGeom prst="rect">
            <a:avLst/>
          </a:prstGeom>
          <a:noFill/>
        </p:spPr>
        <p:txBody>
          <a:bodyPr wrap="square" lIns="0" rIns="0" tIns="0" bIns="0" anchor="ctr">
            <a:spAutoFit/>
          </a:bodyPr>
          <a:lstStyle/>
          <a:p>
            <a:pPr algn="l"/>
            <a:r>
              <a:rPr sz="1000" b="0" i="0">
                <a:solidFill>
                  <a:srgbClr val="222222"/>
                </a:solidFill>
                <a:latin typeface="Arial"/>
              </a:rPr>
              <a:t>Low search-rate officer, driver aged 19 or younger</a:t>
            </a:r>
          </a:p>
        </p:txBody>
      </p:sp>
      <p:sp>
        <p:nvSpPr>
          <p:cNvPr id="36" name="Rectangle 35"/>
          <p:cNvSpPr/>
          <p:nvPr/>
        </p:nvSpPr>
        <p:spPr>
          <a:xfrm>
            <a:off x="3886200" y="4978908"/>
            <a:ext cx="137164" cy="219456"/>
          </a:xfrm>
          <a:prstGeom prst="rect">
            <a:avLst/>
          </a:prstGeom>
          <a:solidFill>
            <a:srgbClr val="19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87372" y="4942332"/>
            <a:ext cx="1097280" cy="274320"/>
          </a:xfrm>
          <a:prstGeom prst="rect">
            <a:avLst/>
          </a:prstGeom>
          <a:noFill/>
        </p:spPr>
        <p:txBody>
          <a:bodyPr wrap="square" lIns="0" rIns="0" tIns="0" bIns="0" anchor="ctr">
            <a:spAutoFit/>
          </a:bodyPr>
          <a:lstStyle/>
          <a:p>
            <a:pPr algn="l"/>
            <a:r>
              <a:rPr sz="1000" b="1" i="0">
                <a:solidFill>
                  <a:srgbClr val="222222"/>
                </a:solidFill>
                <a:latin typeface="Arial"/>
              </a:rPr>
              <a:t>2%</a:t>
            </a:r>
            <a:r>
              <a:rPr sz="1000" b="0" i="0">
                <a:solidFill>
                  <a:srgbClr val="6B7C85"/>
                </a:solidFill>
                <a:latin typeface="Arial"/>
              </a:rPr>
              <a:t>  OR 1.09</a:t>
            </a:r>
          </a:p>
        </p:txBody>
      </p:sp>
      <p:sp>
        <p:nvSpPr>
          <p:cNvPr id="38" name="Rectangle 37"/>
          <p:cNvSpPr/>
          <p:nvPr/>
        </p:nvSpPr>
        <p:spPr>
          <a:xfrm>
            <a:off x="548640" y="5385816"/>
            <a:ext cx="128016" cy="128016"/>
          </a:xfrm>
          <a:prstGeom prst="rect">
            <a:avLst/>
          </a:prstGeom>
          <a:solidFill>
            <a:srgbClr val="19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5349240"/>
            <a:ext cx="1463040" cy="201168"/>
          </a:xfrm>
          <a:prstGeom prst="rect">
            <a:avLst/>
          </a:prstGeom>
          <a:noFill/>
        </p:spPr>
        <p:txBody>
          <a:bodyPr wrap="square" lIns="0" rIns="0" tIns="0" bIns="0" anchor="t">
            <a:spAutoFit/>
          </a:bodyPr>
          <a:lstStyle/>
          <a:p>
            <a:pPr algn="l"/>
            <a:r>
              <a:rPr sz="1000" b="0" i="0">
                <a:solidFill>
                  <a:srgbClr val="222222"/>
                </a:solidFill>
                <a:latin typeface="Arial"/>
              </a:rPr>
              <a:t>involves the officer</a:t>
            </a:r>
          </a:p>
        </p:txBody>
      </p:sp>
      <p:sp>
        <p:nvSpPr>
          <p:cNvPr id="40" name="Rectangle 39"/>
          <p:cNvSpPr/>
          <p:nvPr/>
        </p:nvSpPr>
        <p:spPr>
          <a:xfrm>
            <a:off x="2423160" y="5385816"/>
            <a:ext cx="128016" cy="128016"/>
          </a:xfrm>
          <a:prstGeom prst="rect">
            <a:avLst/>
          </a:prstGeom>
          <a:solidFill>
            <a:srgbClr val="B0B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606040" y="5349240"/>
            <a:ext cx="1394460" cy="201168"/>
          </a:xfrm>
          <a:prstGeom prst="rect">
            <a:avLst/>
          </a:prstGeom>
          <a:noFill/>
        </p:spPr>
        <p:txBody>
          <a:bodyPr wrap="square" lIns="0" rIns="0" tIns="0" bIns="0" anchor="t">
            <a:spAutoFit/>
          </a:bodyPr>
          <a:lstStyle/>
          <a:p>
            <a:pPr algn="l"/>
            <a:r>
              <a:rPr sz="1000" b="0" i="0">
                <a:solidFill>
                  <a:srgbClr val="222222"/>
                </a:solidFill>
                <a:latin typeface="Arial"/>
              </a:rPr>
              <a:t>driver or stop only</a:t>
            </a:r>
          </a:p>
        </p:txBody>
      </p:sp>
      <p:sp>
        <p:nvSpPr>
          <p:cNvPr id="42" name="TextBox 41"/>
          <p:cNvSpPr txBox="1"/>
          <p:nvPr/>
        </p:nvSpPr>
        <p:spPr>
          <a:xfrm>
            <a:off x="548640" y="5623560"/>
            <a:ext cx="6217920" cy="365760"/>
          </a:xfrm>
          <a:prstGeom prst="rect">
            <a:avLst/>
          </a:prstGeom>
          <a:noFill/>
        </p:spPr>
        <p:txBody>
          <a:bodyPr wrap="square" lIns="0" rIns="0" tIns="0" bIns="0" anchor="t">
            <a:spAutoFit/>
          </a:bodyPr>
          <a:lstStyle/>
          <a:p>
            <a:pPr algn="l"/>
            <a:r>
              <a:rPr sz="1050" b="1" i="0">
                <a:solidFill>
                  <a:srgbClr val="222222"/>
                </a:solidFill>
                <a:latin typeface="Arial"/>
              </a:rPr>
              <a:t>XGBoost agrees: 62% of its SHAP attribution is the officer record.</a:t>
            </a:r>
          </a:p>
        </p:txBody>
      </p:sp>
      <p:sp>
        <p:nvSpPr>
          <p:cNvPr id="43" name="TextBox 42"/>
          <p:cNvSpPr txBox="1"/>
          <p:nvPr/>
        </p:nvSpPr>
        <p:spPr>
          <a:xfrm>
            <a:off x="7040880" y="1554480"/>
            <a:ext cx="4602175" cy="411480"/>
          </a:xfrm>
          <a:prstGeom prst="rect">
            <a:avLst/>
          </a:prstGeom>
          <a:noFill/>
        </p:spPr>
        <p:txBody>
          <a:bodyPr wrap="square" lIns="0" rIns="0" tIns="0" bIns="0" anchor="t">
            <a:spAutoFit/>
          </a:bodyPr>
          <a:lstStyle/>
          <a:p>
            <a:pPr algn="l"/>
            <a:r>
              <a:rPr sz="1200" b="1" i="0">
                <a:solidFill>
                  <a:srgbClr val="222222"/>
                </a:solidFill>
                <a:latin typeface="Arial"/>
              </a:rPr>
              <a:t>One decision, rule by rule: the two highest-scored test searches (log-odds)</a:t>
            </a:r>
          </a:p>
        </p:txBody>
      </p:sp>
      <p:graphicFrame>
        <p:nvGraphicFramePr>
          <p:cNvPr id="44" name="Table 43"/>
          <p:cNvGraphicFramePr>
            <a:graphicFrameLocks noGrp="1"/>
          </p:cNvGraphicFramePr>
          <p:nvPr/>
        </p:nvGraphicFramePr>
        <p:xfrm>
          <a:off x="7040880" y="2057400"/>
          <a:ext cx="4602175" cy="2916936"/>
        </p:xfrm>
        <a:graphic>
          <a:graphicData uri="http://schemas.openxmlformats.org/drawingml/2006/table">
            <a:tbl>
              <a:tblPr>
                <a:tableStyleId>{2D5ABB26-0587-4C30-8999-92F81FD0307C}</a:tableStyleId>
              </a:tblPr>
              <a:tblGrid>
                <a:gridCol w="2377440"/>
                <a:gridCol w="1115568"/>
                <a:gridCol w="1109167"/>
              </a:tblGrid>
              <a:tr h="365760">
                <a:tc>
                  <a:txBody>
                    <a:bodyPr wrap="square"/>
                    <a:lstStyle/>
                    <a:p>
                      <a:pPr algn="l"/>
                      <a:r>
                        <a:rPr sz="1050" b="1" i="0">
                          <a:solidFill>
                            <a:srgbClr val="222222"/>
                          </a:solidFill>
                          <a:latin typeface="Arial"/>
                        </a:rPr>
                        <a:t/>
                      </a:r>
                    </a:p>
                  </a:txBody>
                  <a:tcPr marL="64008" marR="64008" marT="36576" marB="36576" anchor="ctr">
                    <a:lnL w="0">
                      <a:noFill/>
                    </a:lnL>
                    <a:lnR w="0">
                      <a:noFill/>
                    </a:lnR>
                    <a:lnT w="0">
                      <a:noFill/>
                    </a:lnT>
                    <a:lnB w="12700">
                      <a:solidFill>
                        <a:srgbClr val="222222"/>
                      </a:solidFill>
                    </a:lnB>
                    <a:noFill/>
                  </a:tcPr>
                </a:tc>
                <a:tc>
                  <a:txBody>
                    <a:bodyPr wrap="square"/>
                    <a:lstStyle/>
                    <a:p>
                      <a:pPr algn="ctr"/>
                      <a:r>
                        <a:rPr sz="1050" b="1" i="0">
                          <a:solidFill>
                            <a:srgbClr val="222222"/>
                          </a:solidFill>
                          <a:latin typeface="Arial"/>
                        </a:rPr>
                        <a:t>Found contraband</a:t>
                      </a:r>
                    </a:p>
                  </a:txBody>
                  <a:tcPr marL="64008" marR="64008" marT="36576" marB="36576" anchor="ctr">
                    <a:lnL w="0">
                      <a:noFill/>
                    </a:lnL>
                    <a:lnR w="0">
                      <a:noFill/>
                    </a:lnR>
                    <a:lnT w="0">
                      <a:noFill/>
                    </a:lnT>
                    <a:lnB w="12700">
                      <a:solidFill>
                        <a:srgbClr val="222222"/>
                      </a:solidFill>
                    </a:lnB>
                    <a:noFill/>
                  </a:tcPr>
                </a:tc>
                <a:tc>
                  <a:txBody>
                    <a:bodyPr wrap="square"/>
                    <a:lstStyle/>
                    <a:p>
                      <a:pPr algn="ctr"/>
                      <a:r>
                        <a:rPr sz="1050" b="1" i="0">
                          <a:solidFill>
                            <a:srgbClr val="222222"/>
                          </a:solidFill>
                          <a:latin typeface="Arial"/>
                        </a:rPr>
                        <a:t>Found nothing</a:t>
                      </a:r>
                    </a:p>
                  </a:txBody>
                  <a:tcPr marL="64008" marR="64008" marT="36576" marB="36576" anchor="ctr">
                    <a:lnL w="0">
                      <a:noFill/>
                    </a:lnL>
                    <a:lnR w="0">
                      <a:noFill/>
                    </a:lnR>
                    <a:lnT w="0">
                      <a:noFill/>
                    </a:lnT>
                    <a:lnB w="12700">
                      <a:solidFill>
                        <a:srgbClr val="222222"/>
                      </a:solidFill>
                    </a:lnB>
                    <a:noFill/>
                  </a:tcPr>
                </a:tc>
              </a:tr>
              <a:tr h="283464">
                <a:tc>
                  <a:txBody>
                    <a:bodyPr wrap="square"/>
                    <a:lstStyle/>
                    <a:p>
                      <a:pPr algn="l"/>
                      <a:r>
                        <a:rPr sz="1050" b="0" i="0">
                          <a:solidFill>
                            <a:srgbClr val="222222"/>
                          </a:solidFill>
                          <a:latin typeface="Arial"/>
                        </a:rPr>
                        <a:t>Predicted probability</a:t>
                      </a:r>
                    </a:p>
                  </a:txBody>
                  <a:tcPr marL="64008" marR="64008" marT="36576" marB="36576" anchor="ctr">
                    <a:lnL w="0">
                      <a:noFill/>
                    </a:lnL>
                    <a:lnR w="0">
                      <a:noFill/>
                    </a:lnR>
                    <a:lnT w="0">
                      <a:noFill/>
                    </a:lnT>
                    <a:lnB w="9525">
                      <a:solidFill>
                        <a:srgbClr val="D9DEE3"/>
                      </a:solidFill>
                    </a:lnB>
                    <a:noFill/>
                  </a:tcPr>
                </a:tc>
                <a:tc>
                  <a:txBody>
                    <a:bodyPr wrap="square"/>
                    <a:lstStyle/>
                    <a:p>
                      <a:pPr algn="ctr"/>
                      <a:r>
                        <a:rPr sz="1050" b="1" i="0">
                          <a:solidFill>
                            <a:srgbClr val="222222"/>
                          </a:solidFill>
                          <a:latin typeface="Arial"/>
                        </a:rPr>
                        <a:t>0.76</a:t>
                      </a:r>
                    </a:p>
                  </a:txBody>
                  <a:tcPr marL="64008" marR="64008" marT="36576" marB="36576" anchor="ctr">
                    <a:lnL w="0">
                      <a:noFill/>
                    </a:lnL>
                    <a:lnR w="0">
                      <a:noFill/>
                    </a:lnR>
                    <a:lnT w="0">
                      <a:noFill/>
                    </a:lnT>
                    <a:lnB w="9525">
                      <a:solidFill>
                        <a:srgbClr val="D9DEE3"/>
                      </a:solidFill>
                    </a:lnB>
                    <a:noFill/>
                  </a:tcPr>
                </a:tc>
                <a:tc>
                  <a:txBody>
                    <a:bodyPr wrap="square"/>
                    <a:lstStyle/>
                    <a:p>
                      <a:pPr algn="ctr"/>
                      <a:r>
                        <a:rPr sz="1050" b="1" i="0">
                          <a:solidFill>
                            <a:srgbClr val="222222"/>
                          </a:solidFill>
                          <a:latin typeface="Arial"/>
                        </a:rPr>
                        <a:t>0.75</a:t>
                      </a:r>
                    </a:p>
                  </a:txBody>
                  <a:tcPr marL="64008" marR="64008" marT="36576" marB="36576" anchor="ctr">
                    <a:lnL w="0">
                      <a:noFill/>
                    </a:lnL>
                    <a:lnR w="0">
                      <a:noFill/>
                    </a:lnR>
                    <a:lnT w="0">
                      <a:noFill/>
                    </a:lnT>
                    <a:lnB w="9525">
                      <a:solidFill>
                        <a:srgbClr val="D9DEE3"/>
                      </a:solidFill>
                    </a:lnB>
                    <a:noFill/>
                  </a:tcPr>
                </a:tc>
              </a:tr>
              <a:tr h="283464">
                <a:tc>
                  <a:txBody>
                    <a:bodyPr wrap="square"/>
                    <a:lstStyle/>
                    <a:p>
                      <a:pPr algn="l"/>
                      <a:r>
                        <a:rPr sz="1050" b="0" i="0">
                          <a:solidFill>
                            <a:srgbClr val="222222"/>
                          </a:solidFill>
                          <a:latin typeface="Arial"/>
                        </a:rPr>
                        <a:t>Driver</a:t>
                      </a:r>
                    </a:p>
                  </a:txBody>
                  <a:tcPr marL="64008" marR="64008" marT="36576" marB="36576" anchor="ctr">
                    <a:lnL w="0">
                      <a:noFill/>
                    </a:lnL>
                    <a:lnR w="0">
                      <a:noFill/>
                    </a:lnR>
                    <a:lnT w="0">
                      <a:noFill/>
                    </a:lnT>
                    <a:lnB w="9525">
                      <a:solidFill>
                        <a:srgbClr val="D9DEE3"/>
                      </a:solidFill>
                    </a:lnB>
                    <a:noFill/>
                  </a:tcPr>
                </a:tc>
                <a:tc>
                  <a:txBody>
                    <a:bodyPr wrap="square"/>
                    <a:lstStyle/>
                    <a:p>
                      <a:pPr algn="ctr"/>
                      <a:r>
                        <a:rPr sz="1050" b="0" i="0">
                          <a:solidFill>
                            <a:srgbClr val="222222"/>
                          </a:solidFill>
                          <a:latin typeface="Arial"/>
                        </a:rPr>
                        <a:t>white woman</a:t>
                      </a:r>
                    </a:p>
                  </a:txBody>
                  <a:tcPr marL="64008" marR="64008" marT="36576" marB="36576" anchor="ctr">
                    <a:lnL w="0">
                      <a:noFill/>
                    </a:lnL>
                    <a:lnR w="0">
                      <a:noFill/>
                    </a:lnR>
                    <a:lnT w="0">
                      <a:noFill/>
                    </a:lnT>
                    <a:lnB w="9525">
                      <a:solidFill>
                        <a:srgbClr val="D9DEE3"/>
                      </a:solidFill>
                    </a:lnB>
                    <a:noFill/>
                  </a:tcPr>
                </a:tc>
                <a:tc>
                  <a:txBody>
                    <a:bodyPr wrap="square"/>
                    <a:lstStyle/>
                    <a:p>
                      <a:pPr algn="ctr"/>
                      <a:r>
                        <a:rPr sz="1050" b="0" i="0">
                          <a:solidFill>
                            <a:srgbClr val="222222"/>
                          </a:solidFill>
                          <a:latin typeface="Arial"/>
                        </a:rPr>
                        <a:t>white man</a:t>
                      </a:r>
                    </a:p>
                  </a:txBody>
                  <a:tcPr marL="64008" marR="64008" marT="36576" marB="36576" anchor="ctr">
                    <a:lnL w="0">
                      <a:noFill/>
                    </a:lnL>
                    <a:lnR w="0">
                      <a:noFill/>
                    </a:lnR>
                    <a:lnT w="0">
                      <a:noFill/>
                    </a:lnT>
                    <a:lnB w="9525">
                      <a:solidFill>
                        <a:srgbClr val="D9DEE3"/>
                      </a:solidFill>
                    </a:lnB>
                    <a:noFill/>
                  </a:tcPr>
                </a:tc>
              </a:tr>
              <a:tr h="283464">
                <a:tc>
                  <a:txBody>
                    <a:bodyPr wrap="square"/>
                    <a:lstStyle/>
                    <a:p>
                      <a:pPr algn="l"/>
                      <a:r>
                        <a:rPr sz="1050" b="0" i="0">
                          <a:solidFill>
                            <a:srgbClr val="222222"/>
                          </a:solidFill>
                          <a:latin typeface="Arial"/>
                        </a:rPr>
                        <a:t>Officer's past consent hit rate</a:t>
                      </a:r>
                    </a:p>
                  </a:txBody>
                  <a:tcPr marL="64008" marR="64008" marT="36576" marB="36576" anchor="ctr">
                    <a:lnL w="0">
                      <a:noFill/>
                    </a:lnL>
                    <a:lnR w="0">
                      <a:noFill/>
                    </a:lnR>
                    <a:lnT w="0">
                      <a:noFill/>
                    </a:lnT>
                    <a:lnB w="9525">
                      <a:solidFill>
                        <a:srgbClr val="D9DEE3"/>
                      </a:solidFill>
                    </a:lnB>
                    <a:solidFill>
                      <a:srgbClr val="EEF3F6"/>
                    </a:solidFill>
                  </a:tcPr>
                </a:tc>
                <a:tc>
                  <a:txBody>
                    <a:bodyPr wrap="square"/>
                    <a:lstStyle/>
                    <a:p>
                      <a:pPr algn="ctr"/>
                      <a:r>
                        <a:rPr sz="1050" b="1" i="0">
                          <a:solidFill>
                            <a:srgbClr val="1976D2"/>
                          </a:solidFill>
                          <a:latin typeface="Arial"/>
                        </a:rPr>
                        <a:t>+2.37</a:t>
                      </a:r>
                    </a:p>
                  </a:txBody>
                  <a:tcPr marL="64008" marR="64008" marT="36576" marB="36576" anchor="ctr">
                    <a:lnL w="0">
                      <a:noFill/>
                    </a:lnL>
                    <a:lnR w="0">
                      <a:noFill/>
                    </a:lnR>
                    <a:lnT w="0">
                      <a:noFill/>
                    </a:lnT>
                    <a:lnB w="9525">
                      <a:solidFill>
                        <a:srgbClr val="D9DEE3"/>
                      </a:solidFill>
                    </a:lnB>
                    <a:solidFill>
                      <a:srgbClr val="EEF3F6"/>
                    </a:solidFill>
                  </a:tcPr>
                </a:tc>
                <a:tc>
                  <a:txBody>
                    <a:bodyPr wrap="square"/>
                    <a:lstStyle/>
                    <a:p>
                      <a:pPr algn="ctr"/>
                      <a:r>
                        <a:rPr sz="1050" b="1" i="0">
                          <a:solidFill>
                            <a:srgbClr val="1976D2"/>
                          </a:solidFill>
                          <a:latin typeface="Arial"/>
                        </a:rPr>
                        <a:t>+2.36</a:t>
                      </a:r>
                    </a:p>
                  </a:txBody>
                  <a:tcPr marL="64008" marR="64008" marT="36576" marB="36576" anchor="ctr">
                    <a:lnL w="0">
                      <a:noFill/>
                    </a:lnL>
                    <a:lnR w="0">
                      <a:noFill/>
                    </a:lnR>
                    <a:lnT w="0">
                      <a:noFill/>
                    </a:lnT>
                    <a:lnB w="9525">
                      <a:solidFill>
                        <a:srgbClr val="D9DEE3"/>
                      </a:solidFill>
                    </a:lnB>
                    <a:solidFill>
                      <a:srgbClr val="EEF3F6"/>
                    </a:solidFill>
                  </a:tcPr>
                </a:tc>
              </a:tr>
              <a:tr h="283464">
                <a:tc>
                  <a:txBody>
                    <a:bodyPr wrap="square"/>
                    <a:lstStyle/>
                    <a:p>
                      <a:pPr algn="l"/>
                      <a:r>
                        <a:rPr sz="1050" b="0" i="0">
                          <a:solidFill>
                            <a:srgbClr val="222222"/>
                          </a:solidFill>
                          <a:latin typeface="Arial"/>
                        </a:rPr>
                        <a:t>Experienced officer, first stop of the day</a:t>
                      </a:r>
                    </a:p>
                  </a:txBody>
                  <a:tcPr marL="64008" marR="64008" marT="36576" marB="36576" anchor="ctr">
                    <a:lnL w="0">
                      <a:noFill/>
                    </a:lnL>
                    <a:lnR w="0">
                      <a:noFill/>
                    </a:lnR>
                    <a:lnT w="0">
                      <a:noFill/>
                    </a:lnT>
                    <a:lnB w="9525">
                      <a:solidFill>
                        <a:srgbClr val="D9DEE3"/>
                      </a:solidFill>
                    </a:lnB>
                    <a:noFill/>
                  </a:tcPr>
                </a:tc>
                <a:tc>
                  <a:txBody>
                    <a:bodyPr wrap="square"/>
                    <a:lstStyle/>
                    <a:p>
                      <a:pPr algn="ctr"/>
                      <a:r>
                        <a:rPr sz="1050" b="0" i="0">
                          <a:solidFill>
                            <a:srgbClr val="222222"/>
                          </a:solidFill>
                          <a:latin typeface="Arial"/>
                        </a:rPr>
                        <a:t>+0.21</a:t>
                      </a:r>
                    </a:p>
                  </a:txBody>
                  <a:tcPr marL="64008" marR="64008" marT="36576" marB="36576" anchor="ctr">
                    <a:lnL w="0">
                      <a:noFill/>
                    </a:lnL>
                    <a:lnR w="0">
                      <a:noFill/>
                    </a:lnR>
                    <a:lnT w="0">
                      <a:noFill/>
                    </a:lnT>
                    <a:lnB w="9525">
                      <a:solidFill>
                        <a:srgbClr val="D9DEE3"/>
                      </a:solidFill>
                    </a:lnB>
                    <a:noFill/>
                  </a:tcPr>
                </a:tc>
                <a:tc>
                  <a:txBody>
                    <a:bodyPr wrap="square"/>
                    <a:lstStyle/>
                    <a:p>
                      <a:pPr algn="ctr"/>
                      <a:r>
                        <a:rPr sz="1050" b="0" i="0">
                          <a:solidFill>
                            <a:srgbClr val="222222"/>
                          </a:solidFill>
                          <a:latin typeface="Arial"/>
                        </a:rPr>
                        <a:t>+0.21</a:t>
                      </a:r>
                    </a:p>
                  </a:txBody>
                  <a:tcPr marL="64008" marR="64008" marT="36576" marB="36576" anchor="ctr">
                    <a:lnL w="0">
                      <a:noFill/>
                    </a:lnL>
                    <a:lnR w="0">
                      <a:noFill/>
                    </a:lnR>
                    <a:lnT w="0">
                      <a:noFill/>
                    </a:lnT>
                    <a:lnB w="9525">
                      <a:solidFill>
                        <a:srgbClr val="D9DEE3"/>
                      </a:solidFill>
                    </a:lnB>
                    <a:noFill/>
                  </a:tcPr>
                </a:tc>
              </a:tr>
              <a:tr h="283464">
                <a:tc>
                  <a:txBody>
                    <a:bodyPr wrap="square"/>
                    <a:lstStyle/>
                    <a:p>
                      <a:pPr algn="l"/>
                      <a:r>
                        <a:rPr sz="1050" b="0" i="0">
                          <a:solidFill>
                            <a:srgbClr val="222222"/>
                          </a:solidFill>
                          <a:latin typeface="Arial"/>
                        </a:rPr>
                        <a:t>Driver is white</a:t>
                      </a:r>
                    </a:p>
                  </a:txBody>
                  <a:tcPr marL="64008" marR="64008" marT="36576" marB="36576" anchor="ctr">
                    <a:lnL w="0">
                      <a:noFill/>
                    </a:lnL>
                    <a:lnR w="0">
                      <a:noFill/>
                    </a:lnR>
                    <a:lnT w="0">
                      <a:noFill/>
                    </a:lnT>
                    <a:lnB w="9525">
                      <a:solidFill>
                        <a:srgbClr val="D9DEE3"/>
                      </a:solidFill>
                    </a:lnB>
                    <a:noFill/>
                  </a:tcPr>
                </a:tc>
                <a:tc>
                  <a:txBody>
                    <a:bodyPr wrap="square"/>
                    <a:lstStyle/>
                    <a:p>
                      <a:pPr algn="ctr"/>
                      <a:r>
                        <a:rPr sz="1050" b="0" i="0">
                          <a:solidFill>
                            <a:srgbClr val="222222"/>
                          </a:solidFill>
                          <a:latin typeface="Arial"/>
                        </a:rPr>
                        <a:t>+0.19</a:t>
                      </a:r>
                    </a:p>
                  </a:txBody>
                  <a:tcPr marL="64008" marR="64008" marT="36576" marB="36576" anchor="ctr">
                    <a:lnL w="0">
                      <a:noFill/>
                    </a:lnL>
                    <a:lnR w="0">
                      <a:noFill/>
                    </a:lnR>
                    <a:lnT w="0">
                      <a:noFill/>
                    </a:lnT>
                    <a:lnB w="9525">
                      <a:solidFill>
                        <a:srgbClr val="D9DEE3"/>
                      </a:solidFill>
                    </a:lnB>
                    <a:noFill/>
                  </a:tcPr>
                </a:tc>
                <a:tc>
                  <a:txBody>
                    <a:bodyPr wrap="square"/>
                    <a:lstStyle/>
                    <a:p>
                      <a:pPr algn="ctr"/>
                      <a:r>
                        <a:rPr sz="1050" b="0" i="0">
                          <a:solidFill>
                            <a:srgbClr val="222222"/>
                          </a:solidFill>
                          <a:latin typeface="Arial"/>
                        </a:rPr>
                        <a:t>+0.19</a:t>
                      </a:r>
                    </a:p>
                  </a:txBody>
                  <a:tcPr marL="64008" marR="64008" marT="36576" marB="36576" anchor="ctr">
                    <a:lnL w="0">
                      <a:noFill/>
                    </a:lnL>
                    <a:lnR w="0">
                      <a:noFill/>
                    </a:lnR>
                    <a:lnT w="0">
                      <a:noFill/>
                    </a:lnT>
                    <a:lnB w="9525">
                      <a:solidFill>
                        <a:srgbClr val="D9DEE3"/>
                      </a:solidFill>
                    </a:lnB>
                    <a:noFill/>
                  </a:tcPr>
                </a:tc>
              </a:tr>
              <a:tr h="283464">
                <a:tc>
                  <a:txBody>
                    <a:bodyPr wrap="square"/>
                    <a:lstStyle/>
                    <a:p>
                      <a:pPr algn="l"/>
                      <a:r>
                        <a:rPr sz="1050" b="0" i="0">
                          <a:solidFill>
                            <a:srgbClr val="222222"/>
                          </a:solidFill>
                          <a:latin typeface="Arial"/>
                        </a:rPr>
                        <a:t>Officer's past search rate</a:t>
                      </a:r>
                    </a:p>
                  </a:txBody>
                  <a:tcPr marL="64008" marR="64008" marT="36576" marB="36576" anchor="ctr">
                    <a:lnL w="0">
                      <a:noFill/>
                    </a:lnL>
                    <a:lnR w="0">
                      <a:noFill/>
                    </a:lnR>
                    <a:lnT w="0">
                      <a:noFill/>
                    </a:lnT>
                    <a:lnB w="9525">
                      <a:solidFill>
                        <a:srgbClr val="D9DEE3"/>
                      </a:solidFill>
                    </a:lnB>
                    <a:noFill/>
                  </a:tcPr>
                </a:tc>
                <a:tc>
                  <a:txBody>
                    <a:bodyPr wrap="square"/>
                    <a:lstStyle/>
                    <a:p>
                      <a:pPr algn="ctr"/>
                      <a:r>
                        <a:rPr sz="1050" b="0" i="0">
                          <a:solidFill>
                            <a:srgbClr val="222222"/>
                          </a:solidFill>
                          <a:latin typeface="Arial"/>
                        </a:rPr>
                        <a:t>+0.06</a:t>
                      </a:r>
                    </a:p>
                  </a:txBody>
                  <a:tcPr marL="64008" marR="64008" marT="36576" marB="36576" anchor="ctr">
                    <a:lnL w="0">
                      <a:noFill/>
                    </a:lnL>
                    <a:lnR w="0">
                      <a:noFill/>
                    </a:lnR>
                    <a:lnT w="0">
                      <a:noFill/>
                    </a:lnT>
                    <a:lnB w="9525">
                      <a:solidFill>
                        <a:srgbClr val="D9DEE3"/>
                      </a:solidFill>
                    </a:lnB>
                    <a:noFill/>
                  </a:tcPr>
                </a:tc>
                <a:tc>
                  <a:txBody>
                    <a:bodyPr wrap="square"/>
                    <a:lstStyle/>
                    <a:p>
                      <a:pPr algn="ctr"/>
                      <a:r>
                        <a:rPr sz="1050" b="0" i="0">
                          <a:solidFill>
                            <a:srgbClr val="222222"/>
                          </a:solidFill>
                          <a:latin typeface="Arial"/>
                        </a:rPr>
                        <a:t>+0.06</a:t>
                      </a:r>
                    </a:p>
                  </a:txBody>
                  <a:tcPr marL="64008" marR="64008" marT="36576" marB="36576" anchor="ctr">
                    <a:lnL w="0">
                      <a:noFill/>
                    </a:lnL>
                    <a:lnR w="0">
                      <a:noFill/>
                    </a:lnR>
                    <a:lnT w="0">
                      <a:noFill/>
                    </a:lnT>
                    <a:lnB w="9525">
                      <a:solidFill>
                        <a:srgbClr val="D9DEE3"/>
                      </a:solidFill>
                    </a:lnB>
                    <a:noFill/>
                  </a:tcPr>
                </a:tc>
              </a:tr>
              <a:tr h="283464">
                <a:tc>
                  <a:txBody>
                    <a:bodyPr wrap="square"/>
                    <a:lstStyle/>
                    <a:p>
                      <a:pPr algn="l"/>
                      <a:r>
                        <a:rPr sz="1050" b="0" i="0">
                          <a:solidFill>
                            <a:srgbClr val="222222"/>
                          </a:solidFill>
                          <a:latin typeface="Arial"/>
                        </a:rPr>
                        <a:t>Other rules</a:t>
                      </a:r>
                    </a:p>
                  </a:txBody>
                  <a:tcPr marL="64008" marR="64008" marT="36576" marB="36576" anchor="ctr">
                    <a:lnL w="0">
                      <a:noFill/>
                    </a:lnL>
                    <a:lnR w="0">
                      <a:noFill/>
                    </a:lnR>
                    <a:lnT w="0">
                      <a:noFill/>
                    </a:lnT>
                    <a:lnB w="9525">
                      <a:solidFill>
                        <a:srgbClr val="D9DEE3"/>
                      </a:solidFill>
                    </a:lnB>
                    <a:noFill/>
                  </a:tcPr>
                </a:tc>
                <a:tc>
                  <a:txBody>
                    <a:bodyPr wrap="square"/>
                    <a:lstStyle/>
                    <a:p>
                      <a:pPr algn="ctr"/>
                      <a:r>
                        <a:rPr sz="1050" b="0" i="0">
                          <a:solidFill>
                            <a:srgbClr val="222222"/>
                          </a:solidFill>
                          <a:latin typeface="Arial"/>
                        </a:rPr>
                        <a:t>+0.04</a:t>
                      </a:r>
                    </a:p>
                  </a:txBody>
                  <a:tcPr marL="64008" marR="64008" marT="36576" marB="36576" anchor="ctr">
                    <a:lnL w="0">
                      <a:noFill/>
                    </a:lnL>
                    <a:lnR w="0">
                      <a:noFill/>
                    </a:lnR>
                    <a:lnT w="0">
                      <a:noFill/>
                    </a:lnT>
                    <a:lnB w="9525">
                      <a:solidFill>
                        <a:srgbClr val="D9DEE3"/>
                      </a:solidFill>
                    </a:lnB>
                    <a:noFill/>
                  </a:tcPr>
                </a:tc>
                <a:tc>
                  <a:txBody>
                    <a:bodyPr wrap="square"/>
                    <a:lstStyle/>
                    <a:p>
                      <a:pPr algn="ctr"/>
                      <a:r>
                        <a:rPr sz="1050" b="0" i="0">
                          <a:solidFill>
                            <a:srgbClr val="222222"/>
                          </a:solidFill>
                          <a:latin typeface="Arial"/>
                        </a:rPr>
                        <a:t>+0.02</a:t>
                      </a:r>
                    </a:p>
                  </a:txBody>
                  <a:tcPr marL="64008" marR="64008" marT="36576" marB="36576" anchor="ctr">
                    <a:lnL w="0">
                      <a:noFill/>
                    </a:lnL>
                    <a:lnR w="0">
                      <a:noFill/>
                    </a:lnR>
                    <a:lnT w="0">
                      <a:noFill/>
                    </a:lnT>
                    <a:lnB w="9525">
                      <a:solidFill>
                        <a:srgbClr val="D9DEE3"/>
                      </a:solidFill>
                    </a:lnB>
                    <a:noFill/>
                  </a:tcPr>
                </a:tc>
              </a:tr>
              <a:tr h="283464">
                <a:tc>
                  <a:txBody>
                    <a:bodyPr wrap="square"/>
                    <a:lstStyle/>
                    <a:p>
                      <a:pPr algn="l"/>
                      <a:r>
                        <a:rPr sz="1050" b="0" i="0">
                          <a:solidFill>
                            <a:srgbClr val="222222"/>
                          </a:solidFill>
                          <a:latin typeface="Arial"/>
                        </a:rPr>
                        <a:t>Baseline</a:t>
                      </a:r>
                    </a:p>
                  </a:txBody>
                  <a:tcPr marL="64008" marR="64008" marT="36576" marB="36576" anchor="ctr">
                    <a:lnL w="0">
                      <a:noFill/>
                    </a:lnL>
                    <a:lnR w="0">
                      <a:noFill/>
                    </a:lnR>
                    <a:lnT w="0">
                      <a:noFill/>
                    </a:lnT>
                    <a:lnB w="9525">
                      <a:solidFill>
                        <a:srgbClr val="D9DEE3"/>
                      </a:solidFill>
                    </a:lnB>
                    <a:noFill/>
                  </a:tcPr>
                </a:tc>
                <a:tc>
                  <a:txBody>
                    <a:bodyPr wrap="square"/>
                    <a:lstStyle/>
                    <a:p>
                      <a:pPr algn="ctr"/>
                      <a:r>
                        <a:rPr sz="1050" b="0" i="0">
                          <a:solidFill>
                            <a:srgbClr val="222222"/>
                          </a:solidFill>
                          <a:latin typeface="Arial"/>
                        </a:rPr>
                        <a:t>−1.73</a:t>
                      </a:r>
                    </a:p>
                  </a:txBody>
                  <a:tcPr marL="64008" marR="64008" marT="36576" marB="36576" anchor="ctr">
                    <a:lnL w="0">
                      <a:noFill/>
                    </a:lnL>
                    <a:lnR w="0">
                      <a:noFill/>
                    </a:lnR>
                    <a:lnT w="0">
                      <a:noFill/>
                    </a:lnT>
                    <a:lnB w="9525">
                      <a:solidFill>
                        <a:srgbClr val="D9DEE3"/>
                      </a:solidFill>
                    </a:lnB>
                    <a:noFill/>
                  </a:tcPr>
                </a:tc>
                <a:tc>
                  <a:txBody>
                    <a:bodyPr wrap="square"/>
                    <a:lstStyle/>
                    <a:p>
                      <a:pPr algn="ctr"/>
                      <a:r>
                        <a:rPr sz="1050" b="0" i="0">
                          <a:solidFill>
                            <a:srgbClr val="222222"/>
                          </a:solidFill>
                          <a:latin typeface="Arial"/>
                        </a:rPr>
                        <a:t>−1.73</a:t>
                      </a:r>
                    </a:p>
                  </a:txBody>
                  <a:tcPr marL="64008" marR="64008" marT="36576" marB="36576" anchor="ctr">
                    <a:lnL w="0">
                      <a:noFill/>
                    </a:lnL>
                    <a:lnR w="0">
                      <a:noFill/>
                    </a:lnR>
                    <a:lnT w="0">
                      <a:noFill/>
                    </a:lnT>
                    <a:lnB w="9525">
                      <a:solidFill>
                        <a:srgbClr val="D9DEE3"/>
                      </a:solidFill>
                    </a:lnB>
                    <a:noFill/>
                  </a:tcPr>
                </a:tc>
              </a:tr>
              <a:tr h="283464">
                <a:tc>
                  <a:txBody>
                    <a:bodyPr wrap="square"/>
                    <a:lstStyle/>
                    <a:p>
                      <a:pPr algn="l"/>
                      <a:r>
                        <a:rPr sz="1050" b="1" i="0">
                          <a:solidFill>
                            <a:srgbClr val="222222"/>
                          </a:solidFill>
                          <a:latin typeface="Arial"/>
                        </a:rPr>
                        <a:t>Total log-odds</a:t>
                      </a:r>
                    </a:p>
                  </a:txBody>
                  <a:tcPr marL="64008" marR="64008" marT="36576" marB="36576" anchor="ctr">
                    <a:lnL w="0">
                      <a:noFill/>
                    </a:lnL>
                    <a:lnR w="0">
                      <a:noFill/>
                    </a:lnR>
                    <a:lnT w="0">
                      <a:noFill/>
                    </a:lnT>
                    <a:lnB w="9525">
                      <a:solidFill>
                        <a:srgbClr val="D9DEE3"/>
                      </a:solidFill>
                    </a:lnB>
                    <a:noFill/>
                  </a:tcPr>
                </a:tc>
                <a:tc>
                  <a:txBody>
                    <a:bodyPr wrap="square"/>
                    <a:lstStyle/>
                    <a:p>
                      <a:pPr algn="ctr"/>
                      <a:r>
                        <a:rPr sz="1050" b="1" i="0">
                          <a:solidFill>
                            <a:srgbClr val="222222"/>
                          </a:solidFill>
                          <a:latin typeface="Arial"/>
                        </a:rPr>
                        <a:t>+1.14</a:t>
                      </a:r>
                    </a:p>
                  </a:txBody>
                  <a:tcPr marL="64008" marR="64008" marT="36576" marB="36576" anchor="ctr">
                    <a:lnL w="0">
                      <a:noFill/>
                    </a:lnL>
                    <a:lnR w="0">
                      <a:noFill/>
                    </a:lnR>
                    <a:lnT w="0">
                      <a:noFill/>
                    </a:lnT>
                    <a:lnB w="9525">
                      <a:solidFill>
                        <a:srgbClr val="D9DEE3"/>
                      </a:solidFill>
                    </a:lnB>
                    <a:noFill/>
                  </a:tcPr>
                </a:tc>
                <a:tc>
                  <a:txBody>
                    <a:bodyPr wrap="square"/>
                    <a:lstStyle/>
                    <a:p>
                      <a:pPr algn="ctr"/>
                      <a:r>
                        <a:rPr sz="1050" b="1" i="0">
                          <a:solidFill>
                            <a:srgbClr val="222222"/>
                          </a:solidFill>
                          <a:latin typeface="Arial"/>
                        </a:rPr>
                        <a:t>+1.11</a:t>
                      </a:r>
                    </a:p>
                  </a:txBody>
                  <a:tcPr marL="64008" marR="64008" marT="36576" marB="36576" anchor="ctr">
                    <a:lnL w="0">
                      <a:noFill/>
                    </a:lnL>
                    <a:lnR w="0">
                      <a:noFill/>
                    </a:lnR>
                    <a:lnT w="0">
                      <a:noFill/>
                    </a:lnT>
                    <a:lnB w="9525">
                      <a:solidFill>
                        <a:srgbClr val="D9DEE3"/>
                      </a:solidFill>
                    </a:lnB>
                    <a:noFill/>
                  </a:tcPr>
                </a:tc>
              </a:tr>
            </a:tbl>
          </a:graphicData>
        </a:graphic>
      </p:graphicFrame>
      <p:sp>
        <p:nvSpPr>
          <p:cNvPr id="45" name="Rectangle 44"/>
          <p:cNvSpPr/>
          <p:nvPr/>
        </p:nvSpPr>
        <p:spPr>
          <a:xfrm>
            <a:off x="7040880" y="5074920"/>
            <a:ext cx="4602175" cy="86868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78040" y="5138928"/>
            <a:ext cx="4327855" cy="777240"/>
          </a:xfrm>
          <a:prstGeom prst="rect">
            <a:avLst/>
          </a:prstGeom>
          <a:noFill/>
        </p:spPr>
        <p:txBody>
          <a:bodyPr wrap="square" lIns="0" rIns="0" tIns="0" bIns="0" anchor="ctr">
            <a:spAutoFit/>
          </a:bodyPr>
          <a:lstStyle/>
          <a:p>
            <a:pPr algn="l"/>
            <a:r>
              <a:rPr sz="1050" b="0" i="0">
                <a:solidFill>
                  <a:srgbClr val="222222"/>
                </a:solidFill>
                <a:latin typeface="Arial"/>
              </a:rPr>
              <a:t>Near-identical officer profile, near-identical score, opposite outcomes. In both, the officer's past consent hit rate is above 50% (16.1% across the force in training): the score describes who searches.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Act II · What the officers' records say</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A fifth of consent searches, made by 140 officers, find contraband 12% of the time and target Hispanic drivers twice as often</a:t>
            </a:r>
          </a:p>
        </p:txBody>
      </p:sp>
      <p:sp>
        <p:nvSpPr>
          <p:cNvPr id="4" name="TextBox 3"/>
          <p:cNvSpPr txBox="1"/>
          <p:nvPr/>
        </p:nvSpPr>
        <p:spPr>
          <a:xfrm>
            <a:off x="548640" y="6035040"/>
            <a:ext cx="11094415" cy="365760"/>
          </a:xfrm>
          <a:prstGeom prst="rect">
            <a:avLst/>
          </a:prstGeom>
          <a:noFill/>
        </p:spPr>
        <p:txBody>
          <a:bodyPr wrap="square" lIns="0" rIns="0" tIns="0" bIns="0" anchor="b">
            <a:spAutoFit/>
          </a:bodyPr>
          <a:lstStyle/>
          <a:p>
            <a:pPr algn="l"/>
            <a:r>
              <a:rPr sz="900" b="0" i="0">
                <a:solidFill>
                  <a:srgbClr val="6B7C85"/>
                </a:solidFill>
                <a:latin typeface="Arial"/>
              </a:rPr>
              <a:t>Test searches 2016–2018 in fifths (≈ 1,823 each) of the officer's past consent hit rate, known before the search. Skew: each officer's own consent-search rate by driver race, per stop.</a:t>
            </a:r>
          </a:p>
        </p:txBody>
      </p:sp>
      <p:sp>
        <p:nvSpPr>
          <p:cNvPr id="5" name="TextBox 4"/>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data/officer_model_diagnostics.json §D; data/officer_disparity_findings.json; MASTER §5.5. Groups of officers only; IDs are hashed.</a:t>
            </a:r>
          </a:p>
        </p:txBody>
      </p:sp>
      <p:sp>
        <p:nvSpPr>
          <p:cNvPr id="6" name="TextBox 5"/>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9</a:t>
            </a:r>
          </a:p>
        </p:txBody>
      </p:sp>
      <p:sp>
        <p:nvSpPr>
          <p:cNvPr id="7" name="TextBox 6"/>
          <p:cNvSpPr txBox="1"/>
          <p:nvPr/>
        </p:nvSpPr>
        <p:spPr>
          <a:xfrm>
            <a:off x="548640" y="1554480"/>
            <a:ext cx="6675120" cy="411480"/>
          </a:xfrm>
          <a:prstGeom prst="rect">
            <a:avLst/>
          </a:prstGeom>
          <a:noFill/>
        </p:spPr>
        <p:txBody>
          <a:bodyPr wrap="square" lIns="0" rIns="0" tIns="0" bIns="0" anchor="t">
            <a:spAutoFit/>
          </a:bodyPr>
          <a:lstStyle/>
          <a:p>
            <a:pPr algn="l"/>
            <a:r>
              <a:rPr sz="1200" b="1" i="0">
                <a:solidFill>
                  <a:srgbClr val="222222"/>
                </a:solidFill>
                <a:latin typeface="Arial"/>
              </a:rPr>
              <a:t>Hit rate of 2016–2018 consent searches, by fifth of the officer's past consent hit rate</a:t>
            </a:r>
          </a:p>
        </p:txBody>
      </p:sp>
      <p:cxnSp>
        <p:nvCxnSpPr>
          <p:cNvPr id="8" name="Connector 7"/>
          <p:cNvCxnSpPr/>
          <p:nvPr/>
        </p:nvCxnSpPr>
        <p:spPr>
          <a:xfrm>
            <a:off x="548640" y="4434840"/>
            <a:ext cx="6675120" cy="0"/>
          </a:xfrm>
          <a:prstGeom prst="line">
            <a:avLst/>
          </a:prstGeom>
          <a:ln w="9525">
            <a:solidFill>
              <a:srgbClr val="D9DEE3"/>
            </a:solidFill>
          </a:ln>
        </p:spPr>
      </p:cxnSp>
      <p:sp>
        <p:nvSpPr>
          <p:cNvPr id="9" name="Rectangle 8"/>
          <p:cNvSpPr/>
          <p:nvPr/>
        </p:nvSpPr>
        <p:spPr>
          <a:xfrm>
            <a:off x="941832" y="3669879"/>
            <a:ext cx="768096" cy="764961"/>
          </a:xfrm>
          <a:prstGeom prst="rect">
            <a:avLst/>
          </a:prstGeom>
          <a:solidFill>
            <a:srgbClr val="19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395559"/>
            <a:ext cx="1097280" cy="246888"/>
          </a:xfrm>
          <a:prstGeom prst="rect">
            <a:avLst/>
          </a:prstGeom>
          <a:noFill/>
        </p:spPr>
        <p:txBody>
          <a:bodyPr wrap="square" lIns="0" rIns="0" tIns="0" bIns="0" anchor="t">
            <a:spAutoFit/>
          </a:bodyPr>
          <a:lstStyle/>
          <a:p>
            <a:pPr algn="ctr"/>
            <a:r>
              <a:rPr sz="1200" b="1" i="0">
                <a:solidFill>
                  <a:srgbClr val="1976D2"/>
                </a:solidFill>
                <a:latin typeface="Arial"/>
              </a:rPr>
              <a:t>12.2%</a:t>
            </a:r>
          </a:p>
        </p:txBody>
      </p:sp>
      <p:sp>
        <p:nvSpPr>
          <p:cNvPr id="11" name="TextBox 10"/>
          <p:cNvSpPr txBox="1"/>
          <p:nvPr/>
        </p:nvSpPr>
        <p:spPr>
          <a:xfrm>
            <a:off x="685800" y="4498848"/>
            <a:ext cx="1280160" cy="228600"/>
          </a:xfrm>
          <a:prstGeom prst="rect">
            <a:avLst/>
          </a:prstGeom>
          <a:noFill/>
        </p:spPr>
        <p:txBody>
          <a:bodyPr wrap="square" lIns="0" rIns="0" tIns="0" bIns="0" anchor="t">
            <a:spAutoFit/>
          </a:bodyPr>
          <a:lstStyle/>
          <a:p>
            <a:pPr algn="ctr"/>
            <a:r>
              <a:rPr sz="1100" b="1" i="0">
                <a:solidFill>
                  <a:srgbClr val="1976D2"/>
                </a:solidFill>
                <a:latin typeface="Arial"/>
              </a:rPr>
              <a:t>Lowest</a:t>
            </a:r>
          </a:p>
        </p:txBody>
      </p:sp>
      <p:sp>
        <p:nvSpPr>
          <p:cNvPr id="12" name="TextBox 11"/>
          <p:cNvSpPr txBox="1"/>
          <p:nvPr/>
        </p:nvSpPr>
        <p:spPr>
          <a:xfrm>
            <a:off x="685800" y="4773168"/>
            <a:ext cx="1280160" cy="228600"/>
          </a:xfrm>
          <a:prstGeom prst="rect">
            <a:avLst/>
          </a:prstGeom>
          <a:noFill/>
        </p:spPr>
        <p:txBody>
          <a:bodyPr wrap="square" lIns="0" rIns="0" tIns="0" bIns="0" anchor="t">
            <a:spAutoFit/>
          </a:bodyPr>
          <a:lstStyle/>
          <a:p>
            <a:pPr algn="ctr"/>
            <a:r>
              <a:rPr sz="1050" b="0" i="0">
                <a:solidFill>
                  <a:srgbClr val="1976D2"/>
                </a:solidFill>
                <a:latin typeface="Arial"/>
              </a:rPr>
              <a:t>140 officers</a:t>
            </a:r>
          </a:p>
        </p:txBody>
      </p:sp>
      <p:sp>
        <p:nvSpPr>
          <p:cNvPr id="13" name="TextBox 12"/>
          <p:cNvSpPr txBox="1"/>
          <p:nvPr/>
        </p:nvSpPr>
        <p:spPr>
          <a:xfrm>
            <a:off x="685800" y="5020056"/>
            <a:ext cx="1280160" cy="228600"/>
          </a:xfrm>
          <a:prstGeom prst="rect">
            <a:avLst/>
          </a:prstGeom>
          <a:noFill/>
        </p:spPr>
        <p:txBody>
          <a:bodyPr wrap="square" lIns="0" rIns="0" tIns="0" bIns="0" anchor="t">
            <a:spAutoFit/>
          </a:bodyPr>
          <a:lstStyle/>
          <a:p>
            <a:pPr algn="ctr"/>
            <a:r>
              <a:rPr sz="1050" b="1" i="0">
                <a:solidFill>
                  <a:srgbClr val="1976D2"/>
                </a:solidFill>
                <a:latin typeface="Arial"/>
              </a:rPr>
              <a:t>12.7%</a:t>
            </a:r>
          </a:p>
        </p:txBody>
      </p:sp>
      <p:sp>
        <p:nvSpPr>
          <p:cNvPr id="14" name="Rectangle 13"/>
          <p:cNvSpPr/>
          <p:nvPr/>
        </p:nvSpPr>
        <p:spPr>
          <a:xfrm>
            <a:off x="2240280" y="3256048"/>
            <a:ext cx="768096" cy="1178792"/>
          </a:xfrm>
          <a:prstGeom prst="rect">
            <a:avLst/>
          </a:prstGeom>
          <a:solidFill>
            <a:srgbClr val="C6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75688" y="2981728"/>
            <a:ext cx="1097280" cy="246888"/>
          </a:xfrm>
          <a:prstGeom prst="rect">
            <a:avLst/>
          </a:prstGeom>
          <a:noFill/>
        </p:spPr>
        <p:txBody>
          <a:bodyPr wrap="square" lIns="0" rIns="0" tIns="0" bIns="0" anchor="t">
            <a:spAutoFit/>
          </a:bodyPr>
          <a:lstStyle/>
          <a:p>
            <a:pPr algn="ctr"/>
            <a:r>
              <a:rPr sz="1200" b="1" i="0">
                <a:solidFill>
                  <a:srgbClr val="222222"/>
                </a:solidFill>
                <a:latin typeface="Arial"/>
              </a:rPr>
              <a:t>18.8%</a:t>
            </a:r>
          </a:p>
        </p:txBody>
      </p:sp>
      <p:sp>
        <p:nvSpPr>
          <p:cNvPr id="16" name="TextBox 15"/>
          <p:cNvSpPr txBox="1"/>
          <p:nvPr/>
        </p:nvSpPr>
        <p:spPr>
          <a:xfrm>
            <a:off x="1984248" y="4498848"/>
            <a:ext cx="1280160" cy="228600"/>
          </a:xfrm>
          <a:prstGeom prst="rect">
            <a:avLst/>
          </a:prstGeom>
          <a:noFill/>
        </p:spPr>
        <p:txBody>
          <a:bodyPr wrap="square" lIns="0" rIns="0" tIns="0" bIns="0" anchor="t">
            <a:spAutoFit/>
          </a:bodyPr>
          <a:lstStyle/>
          <a:p>
            <a:pPr algn="ctr"/>
            <a:r>
              <a:rPr sz="1100" b="1" i="0">
                <a:solidFill>
                  <a:srgbClr val="222222"/>
                </a:solidFill>
                <a:latin typeface="Arial"/>
              </a:rPr>
              <a:t>Second</a:t>
            </a:r>
          </a:p>
        </p:txBody>
      </p:sp>
      <p:sp>
        <p:nvSpPr>
          <p:cNvPr id="17" name="TextBox 16"/>
          <p:cNvSpPr txBox="1"/>
          <p:nvPr/>
        </p:nvSpPr>
        <p:spPr>
          <a:xfrm>
            <a:off x="1984248" y="4773168"/>
            <a:ext cx="1280160" cy="228600"/>
          </a:xfrm>
          <a:prstGeom prst="rect">
            <a:avLst/>
          </a:prstGeom>
          <a:noFill/>
        </p:spPr>
        <p:txBody>
          <a:bodyPr wrap="square" lIns="0" rIns="0" tIns="0" bIns="0" anchor="t">
            <a:spAutoFit/>
          </a:bodyPr>
          <a:lstStyle/>
          <a:p>
            <a:pPr algn="ctr"/>
            <a:r>
              <a:rPr sz="1050" b="0" i="0">
                <a:solidFill>
                  <a:srgbClr val="222222"/>
                </a:solidFill>
                <a:latin typeface="Arial"/>
              </a:rPr>
              <a:t>355 officers</a:t>
            </a:r>
          </a:p>
        </p:txBody>
      </p:sp>
      <p:sp>
        <p:nvSpPr>
          <p:cNvPr id="18" name="TextBox 17"/>
          <p:cNvSpPr txBox="1"/>
          <p:nvPr/>
        </p:nvSpPr>
        <p:spPr>
          <a:xfrm>
            <a:off x="1984248" y="5020056"/>
            <a:ext cx="1280160" cy="228600"/>
          </a:xfrm>
          <a:prstGeom prst="rect">
            <a:avLst/>
          </a:prstGeom>
          <a:noFill/>
        </p:spPr>
        <p:txBody>
          <a:bodyPr wrap="square" lIns="0" rIns="0" tIns="0" bIns="0" anchor="t">
            <a:spAutoFit/>
          </a:bodyPr>
          <a:lstStyle/>
          <a:p>
            <a:pPr algn="ctr"/>
            <a:r>
              <a:rPr sz="1050" b="0" i="0">
                <a:solidFill>
                  <a:srgbClr val="222222"/>
                </a:solidFill>
                <a:latin typeface="Arial"/>
              </a:rPr>
              <a:t>6.2%</a:t>
            </a:r>
          </a:p>
        </p:txBody>
      </p:sp>
      <p:sp>
        <p:nvSpPr>
          <p:cNvPr id="19" name="Rectangle 18"/>
          <p:cNvSpPr/>
          <p:nvPr/>
        </p:nvSpPr>
        <p:spPr>
          <a:xfrm>
            <a:off x="3538728" y="3124374"/>
            <a:ext cx="768096" cy="1310466"/>
          </a:xfrm>
          <a:prstGeom prst="rect">
            <a:avLst/>
          </a:prstGeom>
          <a:solidFill>
            <a:srgbClr val="C6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74136" y="2850054"/>
            <a:ext cx="1097280" cy="246888"/>
          </a:xfrm>
          <a:prstGeom prst="rect">
            <a:avLst/>
          </a:prstGeom>
          <a:noFill/>
        </p:spPr>
        <p:txBody>
          <a:bodyPr wrap="square" lIns="0" rIns="0" tIns="0" bIns="0" anchor="t">
            <a:spAutoFit/>
          </a:bodyPr>
          <a:lstStyle/>
          <a:p>
            <a:pPr algn="ctr"/>
            <a:r>
              <a:rPr sz="1200" b="1" i="0">
                <a:solidFill>
                  <a:srgbClr val="222222"/>
                </a:solidFill>
                <a:latin typeface="Arial"/>
              </a:rPr>
              <a:t>20.9%</a:t>
            </a:r>
          </a:p>
        </p:txBody>
      </p:sp>
      <p:sp>
        <p:nvSpPr>
          <p:cNvPr id="21" name="TextBox 20"/>
          <p:cNvSpPr txBox="1"/>
          <p:nvPr/>
        </p:nvSpPr>
        <p:spPr>
          <a:xfrm>
            <a:off x="3282696" y="4498848"/>
            <a:ext cx="1280160" cy="228600"/>
          </a:xfrm>
          <a:prstGeom prst="rect">
            <a:avLst/>
          </a:prstGeom>
          <a:noFill/>
        </p:spPr>
        <p:txBody>
          <a:bodyPr wrap="square" lIns="0" rIns="0" tIns="0" bIns="0" anchor="t">
            <a:spAutoFit/>
          </a:bodyPr>
          <a:lstStyle/>
          <a:p>
            <a:pPr algn="ctr"/>
            <a:r>
              <a:rPr sz="1100" b="1" i="0">
                <a:solidFill>
                  <a:srgbClr val="222222"/>
                </a:solidFill>
                <a:latin typeface="Arial"/>
              </a:rPr>
              <a:t>Median</a:t>
            </a:r>
          </a:p>
        </p:txBody>
      </p:sp>
      <p:sp>
        <p:nvSpPr>
          <p:cNvPr id="22" name="TextBox 21"/>
          <p:cNvSpPr txBox="1"/>
          <p:nvPr/>
        </p:nvSpPr>
        <p:spPr>
          <a:xfrm>
            <a:off x="3282696" y="4773168"/>
            <a:ext cx="1280160" cy="228600"/>
          </a:xfrm>
          <a:prstGeom prst="rect">
            <a:avLst/>
          </a:prstGeom>
          <a:noFill/>
        </p:spPr>
        <p:txBody>
          <a:bodyPr wrap="square" lIns="0" rIns="0" tIns="0" bIns="0" anchor="t">
            <a:spAutoFit/>
          </a:bodyPr>
          <a:lstStyle/>
          <a:p>
            <a:pPr algn="ctr"/>
            <a:r>
              <a:rPr sz="1050" b="0" i="0">
                <a:solidFill>
                  <a:srgbClr val="222222"/>
                </a:solidFill>
                <a:latin typeface="Arial"/>
              </a:rPr>
              <a:t>541 officers</a:t>
            </a:r>
          </a:p>
        </p:txBody>
      </p:sp>
      <p:sp>
        <p:nvSpPr>
          <p:cNvPr id="23" name="TextBox 22"/>
          <p:cNvSpPr txBox="1"/>
          <p:nvPr/>
        </p:nvSpPr>
        <p:spPr>
          <a:xfrm>
            <a:off x="3282696" y="5020056"/>
            <a:ext cx="1280160" cy="228600"/>
          </a:xfrm>
          <a:prstGeom prst="rect">
            <a:avLst/>
          </a:prstGeom>
          <a:noFill/>
        </p:spPr>
        <p:txBody>
          <a:bodyPr wrap="square" lIns="0" rIns="0" tIns="0" bIns="0" anchor="t">
            <a:spAutoFit/>
          </a:bodyPr>
          <a:lstStyle/>
          <a:p>
            <a:pPr algn="ctr"/>
            <a:r>
              <a:rPr sz="1050" b="0" i="0">
                <a:solidFill>
                  <a:srgbClr val="222222"/>
                </a:solidFill>
                <a:latin typeface="Arial"/>
              </a:rPr>
              <a:t>5.6%</a:t>
            </a:r>
          </a:p>
        </p:txBody>
      </p:sp>
      <p:sp>
        <p:nvSpPr>
          <p:cNvPr id="24" name="Rectangle 23"/>
          <p:cNvSpPr/>
          <p:nvPr/>
        </p:nvSpPr>
        <p:spPr>
          <a:xfrm>
            <a:off x="4837176" y="2973890"/>
            <a:ext cx="768096" cy="1460950"/>
          </a:xfrm>
          <a:prstGeom prst="rect">
            <a:avLst/>
          </a:prstGeom>
          <a:solidFill>
            <a:srgbClr val="C6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72584" y="2699570"/>
            <a:ext cx="1097280" cy="246888"/>
          </a:xfrm>
          <a:prstGeom prst="rect">
            <a:avLst/>
          </a:prstGeom>
          <a:noFill/>
        </p:spPr>
        <p:txBody>
          <a:bodyPr wrap="square" lIns="0" rIns="0" tIns="0" bIns="0" anchor="t">
            <a:spAutoFit/>
          </a:bodyPr>
          <a:lstStyle/>
          <a:p>
            <a:pPr algn="ctr"/>
            <a:r>
              <a:rPr sz="1200" b="1" i="0">
                <a:solidFill>
                  <a:srgbClr val="222222"/>
                </a:solidFill>
                <a:latin typeface="Arial"/>
              </a:rPr>
              <a:t>23.3%</a:t>
            </a:r>
          </a:p>
        </p:txBody>
      </p:sp>
      <p:sp>
        <p:nvSpPr>
          <p:cNvPr id="26" name="TextBox 25"/>
          <p:cNvSpPr txBox="1"/>
          <p:nvPr/>
        </p:nvSpPr>
        <p:spPr>
          <a:xfrm>
            <a:off x="4581144" y="4498848"/>
            <a:ext cx="1280160" cy="228600"/>
          </a:xfrm>
          <a:prstGeom prst="rect">
            <a:avLst/>
          </a:prstGeom>
          <a:noFill/>
        </p:spPr>
        <p:txBody>
          <a:bodyPr wrap="square" lIns="0" rIns="0" tIns="0" bIns="0" anchor="t">
            <a:spAutoFit/>
          </a:bodyPr>
          <a:lstStyle/>
          <a:p>
            <a:pPr algn="ctr"/>
            <a:r>
              <a:rPr sz="1100" b="1" i="0">
                <a:solidFill>
                  <a:srgbClr val="222222"/>
                </a:solidFill>
                <a:latin typeface="Arial"/>
              </a:rPr>
              <a:t>Fourth</a:t>
            </a:r>
          </a:p>
        </p:txBody>
      </p:sp>
      <p:sp>
        <p:nvSpPr>
          <p:cNvPr id="27" name="TextBox 26"/>
          <p:cNvSpPr txBox="1"/>
          <p:nvPr/>
        </p:nvSpPr>
        <p:spPr>
          <a:xfrm>
            <a:off x="4581144" y="4773168"/>
            <a:ext cx="1280160" cy="228600"/>
          </a:xfrm>
          <a:prstGeom prst="rect">
            <a:avLst/>
          </a:prstGeom>
          <a:noFill/>
        </p:spPr>
        <p:txBody>
          <a:bodyPr wrap="square" lIns="0" rIns="0" tIns="0" bIns="0" anchor="t">
            <a:spAutoFit/>
          </a:bodyPr>
          <a:lstStyle/>
          <a:p>
            <a:pPr algn="ctr"/>
            <a:r>
              <a:rPr sz="1050" b="0" i="0">
                <a:solidFill>
                  <a:srgbClr val="222222"/>
                </a:solidFill>
                <a:latin typeface="Arial"/>
              </a:rPr>
              <a:t>509 officers</a:t>
            </a:r>
          </a:p>
        </p:txBody>
      </p:sp>
      <p:sp>
        <p:nvSpPr>
          <p:cNvPr id="28" name="TextBox 27"/>
          <p:cNvSpPr txBox="1"/>
          <p:nvPr/>
        </p:nvSpPr>
        <p:spPr>
          <a:xfrm>
            <a:off x="4581144" y="5020056"/>
            <a:ext cx="1280160" cy="228600"/>
          </a:xfrm>
          <a:prstGeom prst="rect">
            <a:avLst/>
          </a:prstGeom>
          <a:noFill/>
        </p:spPr>
        <p:txBody>
          <a:bodyPr wrap="square" lIns="0" rIns="0" tIns="0" bIns="0" anchor="t">
            <a:spAutoFit/>
          </a:bodyPr>
          <a:lstStyle/>
          <a:p>
            <a:pPr algn="ctr"/>
            <a:r>
              <a:rPr sz="1050" b="0" i="0">
                <a:solidFill>
                  <a:srgbClr val="222222"/>
                </a:solidFill>
                <a:latin typeface="Arial"/>
              </a:rPr>
              <a:t>6.5%</a:t>
            </a:r>
          </a:p>
        </p:txBody>
      </p:sp>
      <p:sp>
        <p:nvSpPr>
          <p:cNvPr id="29" name="Rectangle 28"/>
          <p:cNvSpPr/>
          <p:nvPr/>
        </p:nvSpPr>
        <p:spPr>
          <a:xfrm>
            <a:off x="6135624" y="2459736"/>
            <a:ext cx="768096" cy="1975104"/>
          </a:xfrm>
          <a:prstGeom prst="rect">
            <a:avLst/>
          </a:prstGeom>
          <a:solidFill>
            <a:srgbClr val="C6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71032" y="2185416"/>
            <a:ext cx="1097280" cy="246888"/>
          </a:xfrm>
          <a:prstGeom prst="rect">
            <a:avLst/>
          </a:prstGeom>
          <a:noFill/>
        </p:spPr>
        <p:txBody>
          <a:bodyPr wrap="square" lIns="0" rIns="0" tIns="0" bIns="0" anchor="t">
            <a:spAutoFit/>
          </a:bodyPr>
          <a:lstStyle/>
          <a:p>
            <a:pPr algn="ctr"/>
            <a:r>
              <a:rPr sz="1200" b="1" i="0">
                <a:solidFill>
                  <a:srgbClr val="222222"/>
                </a:solidFill>
                <a:latin typeface="Arial"/>
              </a:rPr>
              <a:t>31.5%</a:t>
            </a:r>
          </a:p>
        </p:txBody>
      </p:sp>
      <p:sp>
        <p:nvSpPr>
          <p:cNvPr id="31" name="TextBox 30"/>
          <p:cNvSpPr txBox="1"/>
          <p:nvPr/>
        </p:nvSpPr>
        <p:spPr>
          <a:xfrm>
            <a:off x="5879592" y="4498848"/>
            <a:ext cx="1280160" cy="228600"/>
          </a:xfrm>
          <a:prstGeom prst="rect">
            <a:avLst/>
          </a:prstGeom>
          <a:noFill/>
        </p:spPr>
        <p:txBody>
          <a:bodyPr wrap="square" lIns="0" rIns="0" tIns="0" bIns="0" anchor="t">
            <a:spAutoFit/>
          </a:bodyPr>
          <a:lstStyle/>
          <a:p>
            <a:pPr algn="ctr"/>
            <a:r>
              <a:rPr sz="1100" b="1" i="0">
                <a:solidFill>
                  <a:srgbClr val="222222"/>
                </a:solidFill>
                <a:latin typeface="Arial"/>
              </a:rPr>
              <a:t>Highest</a:t>
            </a:r>
          </a:p>
        </p:txBody>
      </p:sp>
      <p:sp>
        <p:nvSpPr>
          <p:cNvPr id="32" name="TextBox 31"/>
          <p:cNvSpPr txBox="1"/>
          <p:nvPr/>
        </p:nvSpPr>
        <p:spPr>
          <a:xfrm>
            <a:off x="5879592" y="4773168"/>
            <a:ext cx="1280160" cy="228600"/>
          </a:xfrm>
          <a:prstGeom prst="rect">
            <a:avLst/>
          </a:prstGeom>
          <a:noFill/>
        </p:spPr>
        <p:txBody>
          <a:bodyPr wrap="square" lIns="0" rIns="0" tIns="0" bIns="0" anchor="t">
            <a:spAutoFit/>
          </a:bodyPr>
          <a:lstStyle/>
          <a:p>
            <a:pPr algn="ctr"/>
            <a:r>
              <a:rPr sz="1050" b="0" i="0">
                <a:solidFill>
                  <a:srgbClr val="222222"/>
                </a:solidFill>
                <a:latin typeface="Arial"/>
              </a:rPr>
              <a:t>228 officers</a:t>
            </a:r>
          </a:p>
        </p:txBody>
      </p:sp>
      <p:sp>
        <p:nvSpPr>
          <p:cNvPr id="33" name="TextBox 32"/>
          <p:cNvSpPr txBox="1"/>
          <p:nvPr/>
        </p:nvSpPr>
        <p:spPr>
          <a:xfrm>
            <a:off x="5879592" y="5020056"/>
            <a:ext cx="1280160" cy="228600"/>
          </a:xfrm>
          <a:prstGeom prst="rect">
            <a:avLst/>
          </a:prstGeom>
          <a:noFill/>
        </p:spPr>
        <p:txBody>
          <a:bodyPr wrap="square" lIns="0" rIns="0" tIns="0" bIns="0" anchor="t">
            <a:spAutoFit/>
          </a:bodyPr>
          <a:lstStyle/>
          <a:p>
            <a:pPr algn="ctr"/>
            <a:r>
              <a:rPr sz="1050" b="0" i="0">
                <a:solidFill>
                  <a:srgbClr val="222222"/>
                </a:solidFill>
                <a:latin typeface="Arial"/>
              </a:rPr>
              <a:t>6.8%</a:t>
            </a:r>
          </a:p>
        </p:txBody>
      </p:sp>
      <p:sp>
        <p:nvSpPr>
          <p:cNvPr id="34" name="TextBox 33"/>
          <p:cNvSpPr txBox="1"/>
          <p:nvPr/>
        </p:nvSpPr>
        <p:spPr>
          <a:xfrm>
            <a:off x="548640" y="5276088"/>
            <a:ext cx="6675120" cy="228600"/>
          </a:xfrm>
          <a:prstGeom prst="rect">
            <a:avLst/>
          </a:prstGeom>
          <a:noFill/>
        </p:spPr>
        <p:txBody>
          <a:bodyPr wrap="square" lIns="0" rIns="0" tIns="0" bIns="0" anchor="t">
            <a:spAutoFit/>
          </a:bodyPr>
          <a:lstStyle/>
          <a:p>
            <a:pPr algn="l"/>
            <a:r>
              <a:rPr sz="950" b="0" i="0">
                <a:solidFill>
                  <a:srgbClr val="6B7C85"/>
                </a:solidFill>
                <a:latin typeface="Arial"/>
              </a:rPr>
              <a:t>Share of searched drivers who are Hispanic, by fifth (row above)</a:t>
            </a:r>
          </a:p>
        </p:txBody>
      </p:sp>
      <p:sp>
        <p:nvSpPr>
          <p:cNvPr id="35" name="Rectangle 34"/>
          <p:cNvSpPr/>
          <p:nvPr/>
        </p:nvSpPr>
        <p:spPr>
          <a:xfrm>
            <a:off x="7589520" y="1554480"/>
            <a:ext cx="4053535" cy="443484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90688" y="1691640"/>
            <a:ext cx="3657600" cy="4206240"/>
          </a:xfrm>
          <a:prstGeom prst="rect">
            <a:avLst/>
          </a:prstGeom>
          <a:noFill/>
        </p:spPr>
        <p:txBody>
          <a:bodyPr wrap="square" lIns="0" rIns="0" tIns="0" bIns="0" anchor="t">
            <a:spAutoFit/>
          </a:bodyPr>
          <a:lstStyle/>
          <a:p>
            <a:pPr algn="l">
              <a:spcAft>
                <a:spcPts val="800"/>
              </a:spcAft>
            </a:pPr>
            <a:r>
              <a:rPr sz="1200" b="1" i="0">
                <a:solidFill>
                  <a:srgbClr val="1976D2"/>
                </a:solidFill>
                <a:latin typeface="Arial"/>
              </a:rPr>
              <a:t>Each officer compared with themselves</a:t>
            </a:r>
          </a:p>
          <a:p>
            <a:pPr algn="l">
              <a:spcAft>
                <a:spcPts val="800"/>
              </a:spcAft>
            </a:pPr>
            <a:r>
              <a:rPr sz="1100" b="1" i="0">
                <a:solidFill>
                  <a:srgbClr val="222222"/>
                </a:solidFill>
                <a:latin typeface="Arial"/>
              </a:rPr>
              <a:t>1.4× and 2.3×: </a:t>
            </a:r>
            <a:r>
              <a:rPr sz="1100" b="0" i="0">
                <a:solidFill>
                  <a:srgbClr val="222222"/>
                </a:solidFill>
                <a:latin typeface="Arial"/>
              </a:rPr>
              <a:t>the median officer asks Black and Hispanic drivers for consent that much more often per stop than white drivers.</a:t>
            </a:r>
          </a:p>
          <a:p>
            <a:pPr algn="l">
              <a:spcAft>
                <a:spcPts val="800"/>
              </a:spcAft>
            </a:pPr>
            <a:r>
              <a:rPr sz="1100" b="1" i="0">
                <a:solidFill>
                  <a:srgbClr val="222222"/>
                </a:solidFill>
                <a:latin typeface="Arial"/>
              </a:rPr>
              <a:t>Skewed officers find less, on white drivers too: </a:t>
            </a:r>
            <a:r>
              <a:rPr sz="1100" b="0" i="0">
                <a:solidFill>
                  <a:srgbClr val="222222"/>
                </a:solidFill>
                <a:latin typeface="Arial"/>
              </a:rPr>
              <a:t>most vs least skewed fifth hit 14.3% vs 21.7% (Black/white skew), 5.0% vs 21.8% (Hispanic/white).</a:t>
            </a:r>
          </a:p>
          <a:p>
            <a:pPr algn="l">
              <a:spcAft>
                <a:spcPts val="800"/>
              </a:spcAft>
            </a:pPr>
            <a:r>
              <a:rPr sz="1100" b="1" i="0">
                <a:solidFill>
                  <a:srgbClr val="222222"/>
                </a:solidFill>
                <a:latin typeface="Arial"/>
              </a:rPr>
              <a:t>9 officers </a:t>
            </a:r>
            <a:r>
              <a:rPr sz="1100" b="0" i="0">
                <a:solidFill>
                  <a:srgbClr val="222222"/>
                </a:solidFill>
                <a:latin typeface="Arial"/>
              </a:rPr>
              <a:t>carry out a quarter of all consent searches of Hispanic drivers (1,146 of 4,645); 98% of those find nothing.</a:t>
            </a:r>
          </a:p>
          <a:p>
            <a:pPr algn="l">
              <a:spcAft>
                <a:spcPts val="1200"/>
              </a:spcAft>
            </a:pPr>
            <a:r>
              <a:rPr sz="1100" b="1" i="0">
                <a:solidFill>
                  <a:srgbClr val="222222"/>
                </a:solidFill>
                <a:latin typeface="Arial"/>
              </a:rPr>
              <a:t>77% of officers </a:t>
            </a:r>
            <a:r>
              <a:rPr sz="1100" b="0" i="0">
                <a:solidFill>
                  <a:srgbClr val="222222"/>
                </a:solidFill>
                <a:latin typeface="Arial"/>
              </a:rPr>
              <a:t>find less on Black than on white drivers; 91% less on Hispanic drivers.</a:t>
            </a:r>
          </a:p>
          <a:p>
            <a:pPr algn="l"/>
            <a:r>
              <a:rPr sz="1050" b="0" i="0">
                <a:solidFill>
                  <a:srgbClr val="6B7C85"/>
                </a:solidFill>
                <a:latin typeface="Arial"/>
              </a:rPr>
              <a:t>Consistent with a lower evidentiary bar. The outcome test cannot prove intent.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Fairness</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No version of the model treats every group fairly, because the searches it learned from didn't either</a:t>
            </a:r>
          </a:p>
        </p:txBody>
      </p:sp>
      <p:sp>
        <p:nvSpPr>
          <p:cNvPr id="4" name="TextBox 3"/>
          <p:cNvSpPr txBox="1"/>
          <p:nvPr/>
        </p:nvSpPr>
        <p:spPr>
          <a:xfrm>
            <a:off x="548640" y="6035040"/>
            <a:ext cx="11094415" cy="365760"/>
          </a:xfrm>
          <a:prstGeom prst="rect">
            <a:avLst/>
          </a:prstGeom>
          <a:noFill/>
        </p:spPr>
        <p:txBody>
          <a:bodyPr wrap="square" lIns="0" rIns="0" tIns="0" bIns="0" anchor="b">
            <a:spAutoFit/>
          </a:bodyPr>
          <a:lstStyle/>
          <a:p>
            <a:pPr algn="l"/>
            <a:r>
              <a:rPr sz="900" b="0" i="0">
                <a:solidFill>
                  <a:srgbClr val="6B7C85"/>
                </a:solidFill>
                <a:latin typeface="Arial"/>
              </a:rPr>
              <a:t>"Race-blind" removes the driver's race, sex and same-race feature; the officer's own past search-skew features remain (a fully blind rerun is pending). XGBoost shows the same pattern (MASTER §6.2). Full numbers, with confidence intervals, in backup.</a:t>
            </a:r>
          </a:p>
        </p:txBody>
      </p:sp>
      <p:sp>
        <p:nvSpPr>
          <p:cNvPr id="5" name="TextBox 4"/>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data/matched_arms_diagnostics.json, data/pltr_whitebox_report.json; MASTER §7.</a:t>
            </a:r>
          </a:p>
        </p:txBody>
      </p:sp>
      <p:sp>
        <p:nvSpPr>
          <p:cNvPr id="6" name="TextBox 5"/>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10</a:t>
            </a:r>
          </a:p>
        </p:txBody>
      </p:sp>
      <p:sp>
        <p:nvSpPr>
          <p:cNvPr id="7" name="TextBox 6"/>
          <p:cNvSpPr txBox="1"/>
          <p:nvPr/>
        </p:nvSpPr>
        <p:spPr>
          <a:xfrm>
            <a:off x="548640" y="1554480"/>
            <a:ext cx="6766560" cy="411480"/>
          </a:xfrm>
          <a:prstGeom prst="rect">
            <a:avLst/>
          </a:prstGeom>
          <a:noFill/>
        </p:spPr>
        <p:txBody>
          <a:bodyPr wrap="square" lIns="0" rIns="0" tIns="0" bIns="0" anchor="t">
            <a:spAutoFit/>
          </a:bodyPr>
          <a:lstStyle/>
          <a:p>
            <a:pPr algn="l"/>
            <a:r>
              <a:rPr sz="1200" b="1" i="0">
                <a:solidFill>
                  <a:srgbClr val="222222"/>
                </a:solidFill>
                <a:latin typeface="Arial"/>
              </a:rPr>
              <a:t>Share of each driver group flagged, at the search budget used earlier</a:t>
            </a:r>
          </a:p>
        </p:txBody>
      </p:sp>
      <p:sp>
        <p:nvSpPr>
          <p:cNvPr id="8" name="Rectangle 7"/>
          <p:cNvSpPr/>
          <p:nvPr/>
        </p:nvSpPr>
        <p:spPr>
          <a:xfrm>
            <a:off x="548640" y="2093976"/>
            <a:ext cx="128016" cy="128016"/>
          </a:xfrm>
          <a:prstGeom prst="rect">
            <a:avLst/>
          </a:prstGeom>
          <a:solidFill>
            <a:srgbClr val="4C6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57400"/>
            <a:ext cx="982980" cy="201168"/>
          </a:xfrm>
          <a:prstGeom prst="rect">
            <a:avLst/>
          </a:prstGeom>
          <a:noFill/>
        </p:spPr>
        <p:txBody>
          <a:bodyPr wrap="square" lIns="0" rIns="0" tIns="0" bIns="0" anchor="t">
            <a:spAutoFit/>
          </a:bodyPr>
          <a:lstStyle/>
          <a:p>
            <a:pPr algn="l"/>
            <a:r>
              <a:rPr sz="1000" b="0" i="0">
                <a:solidFill>
                  <a:srgbClr val="222222"/>
                </a:solidFill>
                <a:latin typeface="Arial"/>
              </a:rPr>
              <a:t>White drivers</a:t>
            </a:r>
          </a:p>
        </p:txBody>
      </p:sp>
      <p:sp>
        <p:nvSpPr>
          <p:cNvPr id="10" name="Rectangle 9"/>
          <p:cNvSpPr/>
          <p:nvPr/>
        </p:nvSpPr>
        <p:spPr>
          <a:xfrm>
            <a:off x="1943100" y="2093976"/>
            <a:ext cx="128016" cy="128016"/>
          </a:xfrm>
          <a:prstGeom prst="rect">
            <a:avLst/>
          </a:prstGeom>
          <a:solidFill>
            <a:srgbClr val="8C6B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25980" y="2057400"/>
            <a:ext cx="982980" cy="201168"/>
          </a:xfrm>
          <a:prstGeom prst="rect">
            <a:avLst/>
          </a:prstGeom>
          <a:noFill/>
        </p:spPr>
        <p:txBody>
          <a:bodyPr wrap="square" lIns="0" rIns="0" tIns="0" bIns="0" anchor="t">
            <a:spAutoFit/>
          </a:bodyPr>
          <a:lstStyle/>
          <a:p>
            <a:pPr algn="l"/>
            <a:r>
              <a:rPr sz="1000" b="0" i="0">
                <a:solidFill>
                  <a:srgbClr val="222222"/>
                </a:solidFill>
                <a:latin typeface="Arial"/>
              </a:rPr>
              <a:t>Black drivers</a:t>
            </a:r>
          </a:p>
        </p:txBody>
      </p:sp>
      <p:sp>
        <p:nvSpPr>
          <p:cNvPr id="12" name="Rectangle 11"/>
          <p:cNvSpPr/>
          <p:nvPr/>
        </p:nvSpPr>
        <p:spPr>
          <a:xfrm>
            <a:off x="3337560" y="2093976"/>
            <a:ext cx="128016" cy="128016"/>
          </a:xfrm>
          <a:prstGeom prst="rect">
            <a:avLst/>
          </a:prstGeom>
          <a:solidFill>
            <a:srgbClr val="3A9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0440" y="2057400"/>
            <a:ext cx="1188720" cy="201168"/>
          </a:xfrm>
          <a:prstGeom prst="rect">
            <a:avLst/>
          </a:prstGeom>
          <a:noFill/>
        </p:spPr>
        <p:txBody>
          <a:bodyPr wrap="square" lIns="0" rIns="0" tIns="0" bIns="0" anchor="t">
            <a:spAutoFit/>
          </a:bodyPr>
          <a:lstStyle/>
          <a:p>
            <a:pPr algn="l"/>
            <a:r>
              <a:rPr sz="1000" b="0" i="0">
                <a:solidFill>
                  <a:srgbClr val="222222"/>
                </a:solidFill>
                <a:latin typeface="Arial"/>
              </a:rPr>
              <a:t>Hispanic drivers</a:t>
            </a:r>
          </a:p>
        </p:txBody>
      </p:sp>
      <p:cxnSp>
        <p:nvCxnSpPr>
          <p:cNvPr id="14" name="Connector 13"/>
          <p:cNvCxnSpPr/>
          <p:nvPr/>
        </p:nvCxnSpPr>
        <p:spPr>
          <a:xfrm>
            <a:off x="548640" y="4709160"/>
            <a:ext cx="6766560" cy="0"/>
          </a:xfrm>
          <a:prstGeom prst="line">
            <a:avLst/>
          </a:prstGeom>
          <a:ln w="9525">
            <a:solidFill>
              <a:srgbClr val="D9DEE3"/>
            </a:solidFill>
          </a:ln>
        </p:spPr>
      </p:cxnSp>
      <p:sp>
        <p:nvSpPr>
          <p:cNvPr id="15" name="Rectangle 14"/>
          <p:cNvSpPr/>
          <p:nvPr/>
        </p:nvSpPr>
        <p:spPr>
          <a:xfrm>
            <a:off x="886968" y="3172602"/>
            <a:ext cx="502920" cy="1536558"/>
          </a:xfrm>
          <a:prstGeom prst="rect">
            <a:avLst/>
          </a:prstGeom>
          <a:solidFill>
            <a:srgbClr val="4C6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2916570"/>
            <a:ext cx="868680" cy="228600"/>
          </a:xfrm>
          <a:prstGeom prst="rect">
            <a:avLst/>
          </a:prstGeom>
          <a:noFill/>
        </p:spPr>
        <p:txBody>
          <a:bodyPr wrap="square" lIns="0" rIns="0" tIns="0" bIns="0" anchor="t">
            <a:spAutoFit/>
          </a:bodyPr>
          <a:lstStyle/>
          <a:p>
            <a:pPr algn="ctr"/>
            <a:r>
              <a:rPr sz="1050" b="1" i="0">
                <a:solidFill>
                  <a:srgbClr val="222222"/>
                </a:solidFill>
                <a:latin typeface="Arial"/>
              </a:rPr>
              <a:t>42.0%</a:t>
            </a:r>
          </a:p>
        </p:txBody>
      </p:sp>
      <p:sp>
        <p:nvSpPr>
          <p:cNvPr id="17" name="Rectangle 16"/>
          <p:cNvSpPr/>
          <p:nvPr/>
        </p:nvSpPr>
        <p:spPr>
          <a:xfrm>
            <a:off x="1463040" y="4311213"/>
            <a:ext cx="502920" cy="397947"/>
          </a:xfrm>
          <a:prstGeom prst="rect">
            <a:avLst/>
          </a:prstGeom>
          <a:solidFill>
            <a:srgbClr val="8C6B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80160" y="4055181"/>
            <a:ext cx="868680" cy="228600"/>
          </a:xfrm>
          <a:prstGeom prst="rect">
            <a:avLst/>
          </a:prstGeom>
          <a:noFill/>
        </p:spPr>
        <p:txBody>
          <a:bodyPr wrap="square" lIns="0" rIns="0" tIns="0" bIns="0" anchor="t">
            <a:spAutoFit/>
          </a:bodyPr>
          <a:lstStyle/>
          <a:p>
            <a:pPr algn="ctr"/>
            <a:r>
              <a:rPr sz="1050" b="1" i="0">
                <a:solidFill>
                  <a:srgbClr val="222222"/>
                </a:solidFill>
                <a:latin typeface="Arial"/>
              </a:rPr>
              <a:t>10.9%</a:t>
            </a:r>
          </a:p>
        </p:txBody>
      </p:sp>
      <p:sp>
        <p:nvSpPr>
          <p:cNvPr id="19" name="Rectangle 18"/>
          <p:cNvSpPr/>
          <p:nvPr/>
        </p:nvSpPr>
        <p:spPr>
          <a:xfrm>
            <a:off x="2039112" y="4690872"/>
            <a:ext cx="502920" cy="18288"/>
          </a:xfrm>
          <a:prstGeom prst="rect">
            <a:avLst/>
          </a:prstGeom>
          <a:solidFill>
            <a:srgbClr val="3A9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56232" y="4434840"/>
            <a:ext cx="868680" cy="228600"/>
          </a:xfrm>
          <a:prstGeom prst="rect">
            <a:avLst/>
          </a:prstGeom>
          <a:noFill/>
        </p:spPr>
        <p:txBody>
          <a:bodyPr wrap="square" lIns="0" rIns="0" tIns="0" bIns="0" anchor="t">
            <a:spAutoFit/>
          </a:bodyPr>
          <a:lstStyle/>
          <a:p>
            <a:pPr algn="ctr"/>
            <a:r>
              <a:rPr sz="1050" b="1" i="0">
                <a:solidFill>
                  <a:srgbClr val="222222"/>
                </a:solidFill>
                <a:latin typeface="Arial"/>
              </a:rPr>
              <a:t>0.0%</a:t>
            </a:r>
          </a:p>
        </p:txBody>
      </p:sp>
      <p:sp>
        <p:nvSpPr>
          <p:cNvPr id="21" name="Oval 20"/>
          <p:cNvSpPr/>
          <p:nvPr/>
        </p:nvSpPr>
        <p:spPr>
          <a:xfrm>
            <a:off x="1106424" y="4846320"/>
            <a:ext cx="128016" cy="128016"/>
          </a:xfrm>
          <a:prstGeom prst="ellipse">
            <a:avLst/>
          </a:prstGeom>
          <a:solidFill>
            <a:srgbClr val="1976D2"/>
          </a:solidFill>
          <a:ln w="22225">
            <a:solidFill>
              <a:srgbClr val="197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98448" y="4782312"/>
            <a:ext cx="1463040" cy="256032"/>
          </a:xfrm>
          <a:prstGeom prst="rect">
            <a:avLst/>
          </a:prstGeom>
          <a:noFill/>
        </p:spPr>
        <p:txBody>
          <a:bodyPr wrap="square" lIns="0" rIns="0" tIns="0" bIns="0" anchor="t">
            <a:spAutoFit/>
          </a:bodyPr>
          <a:lstStyle/>
          <a:p>
            <a:pPr algn="l"/>
            <a:r>
              <a:rPr sz="1200" b="1" i="0">
                <a:solidFill>
                  <a:srgbClr val="222222"/>
                </a:solidFill>
                <a:latin typeface="Arial"/>
              </a:rPr>
              <a:t>White box</a:t>
            </a:r>
          </a:p>
        </p:txBody>
      </p:sp>
      <p:sp>
        <p:nvSpPr>
          <p:cNvPr id="23" name="Rectangle 22"/>
          <p:cNvSpPr/>
          <p:nvPr/>
        </p:nvSpPr>
        <p:spPr>
          <a:xfrm>
            <a:off x="3127248" y="3486424"/>
            <a:ext cx="502920" cy="1222736"/>
          </a:xfrm>
          <a:prstGeom prst="rect">
            <a:avLst/>
          </a:prstGeom>
          <a:solidFill>
            <a:srgbClr val="4C6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44368" y="3230392"/>
            <a:ext cx="868680" cy="228600"/>
          </a:xfrm>
          <a:prstGeom prst="rect">
            <a:avLst/>
          </a:prstGeom>
          <a:noFill/>
        </p:spPr>
        <p:txBody>
          <a:bodyPr wrap="square" lIns="0" rIns="0" tIns="0" bIns="0" anchor="t">
            <a:spAutoFit/>
          </a:bodyPr>
          <a:lstStyle/>
          <a:p>
            <a:pPr algn="ctr"/>
            <a:r>
              <a:rPr sz="1050" b="1" i="0">
                <a:solidFill>
                  <a:srgbClr val="222222"/>
                </a:solidFill>
                <a:latin typeface="Arial"/>
              </a:rPr>
              <a:t>33.4%</a:t>
            </a:r>
          </a:p>
        </p:txBody>
      </p:sp>
      <p:sp>
        <p:nvSpPr>
          <p:cNvPr id="25" name="Rectangle 24"/>
          <p:cNvSpPr/>
          <p:nvPr/>
        </p:nvSpPr>
        <p:spPr>
          <a:xfrm>
            <a:off x="3703320" y="4106753"/>
            <a:ext cx="502920" cy="602407"/>
          </a:xfrm>
          <a:prstGeom prst="rect">
            <a:avLst/>
          </a:prstGeom>
          <a:solidFill>
            <a:srgbClr val="8C6B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20440" y="3850721"/>
            <a:ext cx="868680" cy="228600"/>
          </a:xfrm>
          <a:prstGeom prst="rect">
            <a:avLst/>
          </a:prstGeom>
          <a:noFill/>
        </p:spPr>
        <p:txBody>
          <a:bodyPr wrap="square" lIns="0" rIns="0" tIns="0" bIns="0" anchor="t">
            <a:spAutoFit/>
          </a:bodyPr>
          <a:lstStyle/>
          <a:p>
            <a:pPr algn="ctr"/>
            <a:r>
              <a:rPr sz="1050" b="1" i="0">
                <a:solidFill>
                  <a:srgbClr val="222222"/>
                </a:solidFill>
                <a:latin typeface="Arial"/>
              </a:rPr>
              <a:t>16.5%</a:t>
            </a:r>
          </a:p>
        </p:txBody>
      </p:sp>
      <p:sp>
        <p:nvSpPr>
          <p:cNvPr id="27" name="Rectangle 26"/>
          <p:cNvSpPr/>
          <p:nvPr/>
        </p:nvSpPr>
        <p:spPr>
          <a:xfrm>
            <a:off x="4279392" y="4661245"/>
            <a:ext cx="502920" cy="47915"/>
          </a:xfrm>
          <a:prstGeom prst="rect">
            <a:avLst/>
          </a:prstGeom>
          <a:solidFill>
            <a:srgbClr val="3A9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96512" y="4405213"/>
            <a:ext cx="868680" cy="228600"/>
          </a:xfrm>
          <a:prstGeom prst="rect">
            <a:avLst/>
          </a:prstGeom>
          <a:noFill/>
        </p:spPr>
        <p:txBody>
          <a:bodyPr wrap="square" lIns="0" rIns="0" tIns="0" bIns="0" anchor="t">
            <a:spAutoFit/>
          </a:bodyPr>
          <a:lstStyle/>
          <a:p>
            <a:pPr algn="ctr"/>
            <a:r>
              <a:rPr sz="1050" b="1" i="0">
                <a:solidFill>
                  <a:srgbClr val="222222"/>
                </a:solidFill>
                <a:latin typeface="Arial"/>
              </a:rPr>
              <a:t>1.3%</a:t>
            </a:r>
          </a:p>
        </p:txBody>
      </p:sp>
      <p:sp>
        <p:nvSpPr>
          <p:cNvPr id="29" name="Oval 28"/>
          <p:cNvSpPr/>
          <p:nvPr/>
        </p:nvSpPr>
        <p:spPr>
          <a:xfrm>
            <a:off x="3346704" y="4846320"/>
            <a:ext cx="128016" cy="128016"/>
          </a:xfrm>
          <a:prstGeom prst="ellipse">
            <a:avLst/>
          </a:prstGeom>
          <a:solidFill>
            <a:srgbClr val="5E6B75"/>
          </a:solidFill>
          <a:ln w="22225">
            <a:solidFill>
              <a:srgbClr val="5E6B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38728" y="4782312"/>
            <a:ext cx="1463040" cy="256032"/>
          </a:xfrm>
          <a:prstGeom prst="rect">
            <a:avLst/>
          </a:prstGeom>
          <a:noFill/>
        </p:spPr>
        <p:txBody>
          <a:bodyPr wrap="square" lIns="0" rIns="0" tIns="0" bIns="0" anchor="t">
            <a:spAutoFit/>
          </a:bodyPr>
          <a:lstStyle/>
          <a:p>
            <a:pPr algn="l"/>
            <a:r>
              <a:rPr sz="1200" b="1" i="0">
                <a:solidFill>
                  <a:srgbClr val="222222"/>
                </a:solidFill>
                <a:latin typeface="Arial"/>
              </a:rPr>
              <a:t>XGBoost</a:t>
            </a:r>
          </a:p>
        </p:txBody>
      </p:sp>
      <p:sp>
        <p:nvSpPr>
          <p:cNvPr id="31" name="Rectangle 30"/>
          <p:cNvSpPr/>
          <p:nvPr/>
        </p:nvSpPr>
        <p:spPr>
          <a:xfrm>
            <a:off x="5367528" y="2643713"/>
            <a:ext cx="502920" cy="2065447"/>
          </a:xfrm>
          <a:prstGeom prst="rect">
            <a:avLst/>
          </a:prstGeom>
          <a:solidFill>
            <a:srgbClr val="4C6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84648" y="2387681"/>
            <a:ext cx="868680" cy="228600"/>
          </a:xfrm>
          <a:prstGeom prst="rect">
            <a:avLst/>
          </a:prstGeom>
          <a:noFill/>
        </p:spPr>
        <p:txBody>
          <a:bodyPr wrap="square" lIns="0" rIns="0" tIns="0" bIns="0" anchor="t">
            <a:spAutoFit/>
          </a:bodyPr>
          <a:lstStyle/>
          <a:p>
            <a:pPr algn="ctr"/>
            <a:r>
              <a:rPr sz="1050" b="1" i="0">
                <a:solidFill>
                  <a:srgbClr val="222222"/>
                </a:solidFill>
                <a:latin typeface="Arial"/>
              </a:rPr>
              <a:t>56.5%</a:t>
            </a:r>
          </a:p>
        </p:txBody>
      </p:sp>
      <p:sp>
        <p:nvSpPr>
          <p:cNvPr id="33" name="Rectangle 32"/>
          <p:cNvSpPr/>
          <p:nvPr/>
        </p:nvSpPr>
        <p:spPr>
          <a:xfrm>
            <a:off x="5943600" y="4648444"/>
            <a:ext cx="502920" cy="60716"/>
          </a:xfrm>
          <a:prstGeom prst="rect">
            <a:avLst/>
          </a:prstGeom>
          <a:solidFill>
            <a:srgbClr val="8C6B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60720" y="4392412"/>
            <a:ext cx="868680" cy="228600"/>
          </a:xfrm>
          <a:prstGeom prst="rect">
            <a:avLst/>
          </a:prstGeom>
          <a:noFill/>
        </p:spPr>
        <p:txBody>
          <a:bodyPr wrap="square" lIns="0" rIns="0" tIns="0" bIns="0" anchor="t">
            <a:spAutoFit/>
          </a:bodyPr>
          <a:lstStyle/>
          <a:p>
            <a:pPr algn="ctr"/>
            <a:r>
              <a:rPr sz="1050" b="1" i="0">
                <a:solidFill>
                  <a:srgbClr val="222222"/>
                </a:solidFill>
                <a:latin typeface="Arial"/>
              </a:rPr>
              <a:t>1.7%</a:t>
            </a:r>
          </a:p>
        </p:txBody>
      </p:sp>
      <p:sp>
        <p:nvSpPr>
          <p:cNvPr id="35" name="Rectangle 34"/>
          <p:cNvSpPr/>
          <p:nvPr/>
        </p:nvSpPr>
        <p:spPr>
          <a:xfrm>
            <a:off x="6519672" y="4690872"/>
            <a:ext cx="502920" cy="18288"/>
          </a:xfrm>
          <a:prstGeom prst="rect">
            <a:avLst/>
          </a:prstGeom>
          <a:solidFill>
            <a:srgbClr val="3A9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36792" y="4434840"/>
            <a:ext cx="868680" cy="228600"/>
          </a:xfrm>
          <a:prstGeom prst="rect">
            <a:avLst/>
          </a:prstGeom>
          <a:noFill/>
        </p:spPr>
        <p:txBody>
          <a:bodyPr wrap="square" lIns="0" rIns="0" tIns="0" bIns="0" anchor="t">
            <a:spAutoFit/>
          </a:bodyPr>
          <a:lstStyle/>
          <a:p>
            <a:pPr algn="ctr"/>
            <a:r>
              <a:rPr sz="1050" b="1" i="0">
                <a:solidFill>
                  <a:srgbClr val="222222"/>
                </a:solidFill>
                <a:latin typeface="Arial"/>
              </a:rPr>
              <a:t>0.0%</a:t>
            </a:r>
          </a:p>
        </p:txBody>
      </p:sp>
      <p:sp>
        <p:nvSpPr>
          <p:cNvPr id="37" name="Oval 36"/>
          <p:cNvSpPr/>
          <p:nvPr/>
        </p:nvSpPr>
        <p:spPr>
          <a:xfrm>
            <a:off x="5586984" y="4846320"/>
            <a:ext cx="128016" cy="128016"/>
          </a:xfrm>
          <a:prstGeom prst="ellipse">
            <a:avLst/>
          </a:prstGeom>
          <a:solidFill>
            <a:srgbClr val="98C1EB"/>
          </a:solidFill>
          <a:ln w="22225">
            <a:solidFill>
              <a:srgbClr val="98C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79008" y="4782312"/>
            <a:ext cx="1463040" cy="256032"/>
          </a:xfrm>
          <a:prstGeom prst="rect">
            <a:avLst/>
          </a:prstGeom>
          <a:noFill/>
        </p:spPr>
        <p:txBody>
          <a:bodyPr wrap="square" lIns="0" rIns="0" tIns="0" bIns="0" anchor="t">
            <a:spAutoFit/>
          </a:bodyPr>
          <a:lstStyle/>
          <a:p>
            <a:pPr algn="l"/>
            <a:r>
              <a:rPr sz="1200" b="1" i="0">
                <a:solidFill>
                  <a:srgbClr val="222222"/>
                </a:solidFill>
                <a:latin typeface="Arial"/>
              </a:rPr>
              <a:t>TabPFN</a:t>
            </a:r>
          </a:p>
        </p:txBody>
      </p:sp>
      <p:sp>
        <p:nvSpPr>
          <p:cNvPr id="39" name="TextBox 38"/>
          <p:cNvSpPr txBox="1"/>
          <p:nvPr/>
        </p:nvSpPr>
        <p:spPr>
          <a:xfrm>
            <a:off x="548640" y="5138928"/>
            <a:ext cx="6766560" cy="365760"/>
          </a:xfrm>
          <a:prstGeom prst="rect">
            <a:avLst/>
          </a:prstGeom>
          <a:noFill/>
        </p:spPr>
        <p:txBody>
          <a:bodyPr wrap="square" lIns="0" rIns="0" tIns="0" bIns="0" anchor="t">
            <a:spAutoFit/>
          </a:bodyPr>
          <a:lstStyle/>
          <a:p>
            <a:pPr algn="l"/>
            <a:r>
              <a:rPr sz="1050" b="0" i="0">
                <a:solidFill>
                  <a:srgbClr val="222222"/>
                </a:solidFill>
                <a:latin typeface="Arial"/>
              </a:rPr>
              <a:t>Why: white drivers' searches found something more often in these years (25.5% vs 19.5% Black, 15.1% Hispanic) — a model chasing accuracy copies that.</a:t>
            </a:r>
          </a:p>
        </p:txBody>
      </p:sp>
      <p:sp>
        <p:nvSpPr>
          <p:cNvPr id="40" name="Rectangle 39"/>
          <p:cNvSpPr/>
          <p:nvPr/>
        </p:nvSpPr>
        <p:spPr>
          <a:xfrm>
            <a:off x="7680960" y="1554480"/>
            <a:ext cx="3962095" cy="443484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82128" y="1737360"/>
            <a:ext cx="3566160" cy="4114800"/>
          </a:xfrm>
          <a:prstGeom prst="rect">
            <a:avLst/>
          </a:prstGeom>
          <a:noFill/>
        </p:spPr>
        <p:txBody>
          <a:bodyPr wrap="square" lIns="0" rIns="0" tIns="0" bIns="0" anchor="t">
            <a:spAutoFit/>
          </a:bodyPr>
          <a:lstStyle/>
          <a:p>
            <a:pPr algn="l">
              <a:spcAft>
                <a:spcPts val="1200"/>
              </a:spcAft>
            </a:pPr>
            <a:r>
              <a:rPr sz="1300" b="1" i="0">
                <a:solidFill>
                  <a:srgbClr val="1976D2"/>
                </a:solidFill>
                <a:latin typeface="Arial"/>
              </a:rPr>
              <a:t>Hiding race from the model only trades one unfairness for another</a:t>
            </a:r>
          </a:p>
          <a:p>
            <a:pPr algn="l" marL="155448" indent="-155448">
              <a:spcAft>
                <a:spcPts val="800"/>
              </a:spcAft>
              <a:buChar char="•"/>
            </a:pPr>
            <a:r>
              <a:rPr sz="1200" b="0" i="0">
                <a:solidFill>
                  <a:srgbClr val="222222"/>
                </a:solidFill>
                <a:latin typeface="Arial"/>
              </a:rPr>
              <a:t>Blind it to race, and it flags each group at close to the same rate.</a:t>
            </a:r>
          </a:p>
          <a:p>
            <a:pPr algn="l" marL="155448" indent="-155448">
              <a:spcAft>
                <a:spcPts val="800"/>
              </a:spcAft>
              <a:buChar char="•"/>
            </a:pPr>
            <a:r>
              <a:rPr sz="1200" b="0" i="0">
                <a:solidFill>
                  <a:srgbClr val="222222"/>
                </a:solidFill>
                <a:latin typeface="Arial"/>
              </a:rPr>
              <a:t>But then the Black and Hispanic drivers it flags are 5–7 points less likely to actually be carrying anything than the white drivers it flags.</a:t>
            </a:r>
          </a:p>
          <a:p>
            <a:pPr algn="l" marL="155448" indent="-155448">
              <a:spcAft>
                <a:spcPts val="1600"/>
              </a:spcAft>
              <a:buChar char="•"/>
            </a:pPr>
            <a:r>
              <a:rPr sz="1200" b="0" i="0">
                <a:solidFill>
                  <a:srgbClr val="222222"/>
                </a:solidFill>
                <a:latin typeface="Arial"/>
              </a:rPr>
              <a:t>In plain terms: it can be fair on paper, or accurate — not both, because the groups’ real rates already differ.</a:t>
            </a:r>
          </a:p>
          <a:p>
            <a:pPr algn="l"/>
            <a:r>
              <a:rPr sz="1200" b="1" i="0">
                <a:solidFill>
                  <a:srgbClr val="1976D2"/>
                </a:solidFill>
                <a:latin typeface="Arial"/>
              </a:rPr>
              <a:t>The fix is not a better model. It is the search practice behind the data — which is exactly what we recommend acting on next.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Trade-offs</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Accuracy barely separates the three models; explainability, stability and governance do</a:t>
            </a:r>
          </a:p>
        </p:txBody>
      </p:sp>
      <p:sp>
        <p:nvSpPr>
          <p:cNvPr id="4" name="TextBox 3"/>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MASTER §6.1–6.4 and the slides above. Full numbers with citations: backup.</a:t>
            </a:r>
          </a:p>
        </p:txBody>
      </p:sp>
      <p:sp>
        <p:nvSpPr>
          <p:cNvPr id="5" name="TextBox 4"/>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11</a:t>
            </a:r>
          </a:p>
        </p:txBody>
      </p:sp>
      <p:graphicFrame>
        <p:nvGraphicFramePr>
          <p:cNvPr id="6" name="Table 5"/>
          <p:cNvGraphicFramePr>
            <a:graphicFrameLocks noGrp="1"/>
          </p:cNvGraphicFramePr>
          <p:nvPr/>
        </p:nvGraphicFramePr>
        <p:xfrm>
          <a:off x="548640" y="1737360"/>
          <a:ext cx="11095329" cy="3657600"/>
        </p:xfrm>
        <a:graphic>
          <a:graphicData uri="http://schemas.openxmlformats.org/drawingml/2006/table">
            <a:tbl>
              <a:tblPr>
                <a:tableStyleId>{2D5ABB26-0587-4C30-8999-92F81FD0307C}</a:tableStyleId>
              </a:tblPr>
              <a:tblGrid>
                <a:gridCol w="1691640"/>
                <a:gridCol w="3134563"/>
                <a:gridCol w="3134563"/>
                <a:gridCol w="3134563"/>
              </a:tblGrid>
              <a:tr h="365760">
                <a:tc>
                  <a:txBody>
                    <a:bodyPr wrap="square"/>
                    <a:lstStyle/>
                    <a:p>
                      <a:pPr algn="l"/>
                      <a:r>
                        <a:rPr sz="1150" b="1" i="0">
                          <a:solidFill>
                            <a:srgbClr val="222222"/>
                          </a:solidFill>
                          <a:latin typeface="Arial"/>
                        </a:rPr>
                        <a:t>Dimension</a:t>
                      </a:r>
                    </a:p>
                  </a:txBody>
                  <a:tcPr marL="64008" marR="64008" marT="36576" marB="36576" anchor="ctr">
                    <a:lnL w="0">
                      <a:noFill/>
                    </a:lnL>
                    <a:lnR w="0">
                      <a:noFill/>
                    </a:lnR>
                    <a:lnT w="0">
                      <a:noFill/>
                    </a:lnT>
                    <a:lnB w="12700">
                      <a:solidFill>
                        <a:srgbClr val="222222"/>
                      </a:solidFill>
                    </a:lnB>
                    <a:noFill/>
                  </a:tcPr>
                </a:tc>
                <a:tc>
                  <a:txBody>
                    <a:bodyPr wrap="square"/>
                    <a:lstStyle/>
                    <a:p>
                      <a:pPr algn="l"/>
                      <a:r>
                        <a:rPr sz="1150" b="1" i="0">
                          <a:solidFill>
                            <a:srgbClr val="FFFFFF"/>
                          </a:solidFill>
                          <a:latin typeface="Arial"/>
                        </a:rPr>
                        <a:t>White box</a:t>
                      </a:r>
                    </a:p>
                  </a:txBody>
                  <a:tcPr marL="64008" marR="64008" marT="36576" marB="36576" anchor="ctr">
                    <a:lnL w="0">
                      <a:noFill/>
                    </a:lnL>
                    <a:lnR w="0">
                      <a:noFill/>
                    </a:lnR>
                    <a:lnT w="0">
                      <a:noFill/>
                    </a:lnT>
                    <a:lnB w="12700">
                      <a:solidFill>
                        <a:srgbClr val="222222"/>
                      </a:solidFill>
                    </a:lnB>
                    <a:solidFill>
                      <a:srgbClr val="1976D2"/>
                    </a:solidFill>
                  </a:tcPr>
                </a:tc>
                <a:tc>
                  <a:txBody>
                    <a:bodyPr wrap="square"/>
                    <a:lstStyle/>
                    <a:p>
                      <a:pPr algn="l"/>
                      <a:r>
                        <a:rPr sz="1150" b="1" i="0">
                          <a:solidFill>
                            <a:srgbClr val="FFFFFF"/>
                          </a:solidFill>
                          <a:latin typeface="Arial"/>
                        </a:rPr>
                        <a:t>XGBoost</a:t>
                      </a:r>
                    </a:p>
                  </a:txBody>
                  <a:tcPr marL="64008" marR="64008" marT="36576" marB="36576" anchor="ctr">
                    <a:lnL w="0">
                      <a:noFill/>
                    </a:lnL>
                    <a:lnR w="0">
                      <a:noFill/>
                    </a:lnR>
                    <a:lnT w="0">
                      <a:noFill/>
                    </a:lnT>
                    <a:lnB w="12700">
                      <a:solidFill>
                        <a:srgbClr val="222222"/>
                      </a:solidFill>
                    </a:lnB>
                    <a:solidFill>
                      <a:srgbClr val="5E6B75"/>
                    </a:solidFill>
                  </a:tcPr>
                </a:tc>
                <a:tc>
                  <a:txBody>
                    <a:bodyPr wrap="square"/>
                    <a:lstStyle/>
                    <a:p>
                      <a:pPr algn="l"/>
                      <a:r>
                        <a:rPr sz="1150" b="1" i="0">
                          <a:solidFill>
                            <a:srgbClr val="222222"/>
                          </a:solidFill>
                          <a:latin typeface="Arial"/>
                        </a:rPr>
                        <a:t>TabPFN</a:t>
                      </a:r>
                    </a:p>
                  </a:txBody>
                  <a:tcPr marL="64008" marR="64008" marT="36576" marB="36576" anchor="ctr">
                    <a:lnL w="0">
                      <a:noFill/>
                    </a:lnL>
                    <a:lnR w="0">
                      <a:noFill/>
                    </a:lnR>
                    <a:lnT w="0">
                      <a:noFill/>
                    </a:lnT>
                    <a:lnB w="12700">
                      <a:solidFill>
                        <a:srgbClr val="222222"/>
                      </a:solidFill>
                    </a:lnB>
                    <a:solidFill>
                      <a:srgbClr val="98C1EB"/>
                    </a:solidFill>
                  </a:tcPr>
                </a:tc>
              </a:tr>
              <a:tr h="658368">
                <a:tc>
                  <a:txBody>
                    <a:bodyPr wrap="square"/>
                    <a:lstStyle/>
                    <a:p>
                      <a:pPr algn="l"/>
                      <a:r>
                        <a:rPr sz="1150" b="1" i="0">
                          <a:solidFill>
                            <a:srgbClr val="222222"/>
                          </a:solidFill>
                          <a:latin typeface="Arial"/>
                        </a:rPr>
                        <a:t>Accuracy</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Slightly behind, barely above random either way</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Statistically tied with TabPFN</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Statistically tied with XGBoost</a:t>
                      </a:r>
                    </a:p>
                  </a:txBody>
                  <a:tcPr marL="64008" marR="64008" marT="36576" marB="36576" anchor="ctr">
                    <a:lnL w="0">
                      <a:noFill/>
                    </a:lnL>
                    <a:lnR w="0">
                      <a:noFill/>
                    </a:lnR>
                    <a:lnT w="0">
                      <a:noFill/>
                    </a:lnT>
                    <a:lnB w="9525">
                      <a:solidFill>
                        <a:srgbClr val="D9DEE3"/>
                      </a:solidFill>
                    </a:lnB>
                    <a:noFill/>
                  </a:tcPr>
                </a:tc>
              </a:tr>
              <a:tr h="658368">
                <a:tc>
                  <a:txBody>
                    <a:bodyPr wrap="square"/>
                    <a:lstStyle/>
                    <a:p>
                      <a:pPr algn="l"/>
                      <a:r>
                        <a:rPr sz="1150" b="1" i="0">
                          <a:solidFill>
                            <a:srgbClr val="222222"/>
                          </a:solidFill>
                          <a:latin typeface="Arial"/>
                        </a:rPr>
                        <a:t>Explainability</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Exact — the model is its own explanation</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Exact, but a simple version only captures 39% of it</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Approximate only; no real explanation</a:t>
                      </a:r>
                    </a:p>
                  </a:txBody>
                  <a:tcPr marL="64008" marR="64008" marT="36576" marB="36576" anchor="ctr">
                    <a:lnL w="0">
                      <a:noFill/>
                    </a:lnL>
                    <a:lnR w="0">
                      <a:noFill/>
                    </a:lnR>
                    <a:lnT w="0">
                      <a:noFill/>
                    </a:lnT>
                    <a:lnB w="9525">
                      <a:solidFill>
                        <a:srgbClr val="D9DEE3"/>
                      </a:solidFill>
                    </a:lnB>
                    <a:noFill/>
                  </a:tcPr>
                </a:tc>
              </a:tr>
              <a:tr h="658368">
                <a:tc>
                  <a:txBody>
                    <a:bodyPr wrap="square"/>
                    <a:lstStyle/>
                    <a:p>
                      <a:pPr algn="l"/>
                      <a:r>
                        <a:rPr sz="1150" b="1" i="0">
                          <a:solidFill>
                            <a:srgbClr val="222222"/>
                          </a:solidFill>
                          <a:latin typeface="Arial"/>
                        </a:rPr>
                        <a:t>Stability on retrain</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Most stable core</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Stable, but its reasons shift over time</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Most sensitive of the three</a:t>
                      </a:r>
                    </a:p>
                  </a:txBody>
                  <a:tcPr marL="64008" marR="64008" marT="36576" marB="36576" anchor="ctr">
                    <a:lnL w="0">
                      <a:noFill/>
                    </a:lnL>
                    <a:lnR w="0">
                      <a:noFill/>
                    </a:lnR>
                    <a:lnT w="0">
                      <a:noFill/>
                    </a:lnT>
                    <a:lnB w="9525">
                      <a:solidFill>
                        <a:srgbClr val="D9DEE3"/>
                      </a:solidFill>
                    </a:lnB>
                    <a:noFill/>
                  </a:tcPr>
                </a:tc>
              </a:tr>
              <a:tr h="658368">
                <a:tc>
                  <a:txBody>
                    <a:bodyPr wrap="square"/>
                    <a:lstStyle/>
                    <a:p>
                      <a:pPr algn="l"/>
                      <a:r>
                        <a:rPr sz="1150" b="1" i="0">
                          <a:solidFill>
                            <a:srgbClr val="222222"/>
                          </a:solidFill>
                          <a:latin typeface="Arial"/>
                        </a:rPr>
                        <a:t>Fairness</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Fails: too few minority drivers flagged, or wrong about them if blinded</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Fails the same way</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Fails worst: 56.5% of white drivers flagged vs 1.7% of Black drivers</a:t>
                      </a:r>
                    </a:p>
                  </a:txBody>
                  <a:tcPr marL="64008" marR="64008" marT="36576" marB="36576" anchor="ctr">
                    <a:lnL w="0">
                      <a:noFill/>
                    </a:lnL>
                    <a:lnR w="0">
                      <a:noFill/>
                    </a:lnR>
                    <a:lnT w="0">
                      <a:noFill/>
                    </a:lnT>
                    <a:lnB w="9525">
                      <a:solidFill>
                        <a:srgbClr val="D9DEE3"/>
                      </a:solidFill>
                    </a:lnB>
                    <a:noFill/>
                  </a:tcPr>
                </a:tc>
              </a:tr>
              <a:tr h="658368">
                <a:tc>
                  <a:txBody>
                    <a:bodyPr wrap="square"/>
                    <a:lstStyle/>
                    <a:p>
                      <a:pPr algn="l"/>
                      <a:r>
                        <a:rPr sz="1150" b="1" i="0">
                          <a:solidFill>
                            <a:srgbClr val="222222"/>
                          </a:solidFill>
                          <a:latin typeface="Arial"/>
                        </a:rPr>
                        <a:t>Governance</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Runs anywhere, easy to audit</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Needs standard ML infrastructure</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Needs a GPU, or sends data to a third party</a:t>
                      </a:r>
                    </a:p>
                  </a:txBody>
                  <a:tcPr marL="64008" marR="64008" marT="36576" marB="36576" anchor="ctr">
                    <a:lnL w="0">
                      <a:noFill/>
                    </a:lnL>
                    <a:lnR w="0">
                      <a:noFill/>
                    </a:lnR>
                    <a:lnT w="0">
                      <a:noFill/>
                    </a:lnT>
                    <a:lnB w="9525">
                      <a:solidFill>
                        <a:srgbClr val="D9DEE3"/>
                      </a:solidFill>
                    </a:lnB>
                    <a:noFill/>
                  </a:tcPr>
                </a:tc>
              </a:tr>
            </a:tbl>
          </a:graphicData>
        </a:graphic>
      </p:graphicFrame>
      <p:sp>
        <p:nvSpPr>
          <p:cNvPr id="7" name="TextBox 6"/>
          <p:cNvSpPr txBox="1"/>
          <p:nvPr/>
        </p:nvSpPr>
        <p:spPr>
          <a:xfrm>
            <a:off x="548640" y="5623560"/>
            <a:ext cx="11094415" cy="502920"/>
          </a:xfrm>
          <a:prstGeom prst="rect">
            <a:avLst/>
          </a:prstGeom>
          <a:noFill/>
        </p:spPr>
        <p:txBody>
          <a:bodyPr wrap="square" lIns="0" rIns="0" tIns="0" bIns="0" anchor="t">
            <a:spAutoFit/>
          </a:bodyPr>
          <a:lstStyle/>
          <a:p>
            <a:pPr algn="l"/>
            <a:r>
              <a:rPr sz="1300" b="1" i="0">
                <a:solidFill>
                  <a:srgbClr val="1976D2"/>
                </a:solidFill>
                <a:latin typeface="Arial"/>
              </a:rPr>
              <a:t>The white box wins on everything except a small amount of accuracy</a:t>
            </a:r>
            <a:r>
              <a:rPr sz="1300" b="1" i="0">
                <a:solidFill>
                  <a:srgbClr val="222222"/>
                </a:solidFill>
                <a:latin typeface="Arial"/>
              </a:rPr>
              <a:t> — and that small gap buys nothing once we get to how it would actually be used.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Recommendation</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MNPD should use the white box to review consent-search practice, not to score drivers at the roadside</a:t>
            </a:r>
          </a:p>
        </p:txBody>
      </p:sp>
      <p:sp>
        <p:nvSpPr>
          <p:cNvPr id="4" name="TextBox 3"/>
          <p:cNvSpPr txBox="1"/>
          <p:nvPr/>
        </p:nvSpPr>
        <p:spPr>
          <a:xfrm>
            <a:off x="548640" y="6035040"/>
            <a:ext cx="11094415" cy="365760"/>
          </a:xfrm>
          <a:prstGeom prst="rect">
            <a:avLst/>
          </a:prstGeom>
          <a:noFill/>
        </p:spPr>
        <p:txBody>
          <a:bodyPr wrap="square" lIns="0" rIns="0" tIns="0" bIns="0" anchor="b">
            <a:spAutoFit/>
          </a:bodyPr>
          <a:lstStyle/>
          <a:p>
            <a:pPr algn="l"/>
            <a:r>
              <a:rPr sz="900" b="0" i="0">
                <a:solidFill>
                  <a:srgbClr val="6B7C85"/>
                </a:solidFill>
                <a:latin typeface="Arial"/>
              </a:rPr>
              <a:t>Illustrative counterfactual: the least successful fifth keeps its finds and drops searches until it reaches the median fifth's hit rate; 95% CI by resampling officers. "About two thirds" assumes the avoided searches are spread like that fifth's searches.</a:t>
            </a:r>
          </a:p>
        </p:txBody>
      </p:sp>
      <p:sp>
        <p:nvSpPr>
          <p:cNvPr id="5" name="TextBox 4"/>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data/officer_model_diagnostics.json §D; MASTER §8–9.</a:t>
            </a:r>
          </a:p>
        </p:txBody>
      </p:sp>
      <p:sp>
        <p:nvSpPr>
          <p:cNvPr id="6" name="TextBox 5"/>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12</a:t>
            </a:r>
          </a:p>
        </p:txBody>
      </p:sp>
      <p:sp>
        <p:nvSpPr>
          <p:cNvPr id="7" name="TextBox 6"/>
          <p:cNvSpPr txBox="1"/>
          <p:nvPr/>
        </p:nvSpPr>
        <p:spPr>
          <a:xfrm>
            <a:off x="548640" y="1554480"/>
            <a:ext cx="6035040" cy="274320"/>
          </a:xfrm>
          <a:prstGeom prst="rect">
            <a:avLst/>
          </a:prstGeom>
          <a:noFill/>
        </p:spPr>
        <p:txBody>
          <a:bodyPr wrap="square" lIns="0" rIns="0" tIns="0" bIns="0" anchor="t">
            <a:spAutoFit/>
          </a:bodyPr>
          <a:lstStyle/>
          <a:p>
            <a:pPr algn="l"/>
            <a:r>
              <a:rPr sz="1200" b="1" i="0">
                <a:solidFill>
                  <a:srgbClr val="222222"/>
                </a:solidFill>
                <a:latin typeface="Arial"/>
              </a:rPr>
              <a:t>Where a model can legitimately help — and where it can’t</a:t>
            </a:r>
          </a:p>
        </p:txBody>
      </p:sp>
      <p:graphicFrame>
        <p:nvGraphicFramePr>
          <p:cNvPr id="8" name="Table 7"/>
          <p:cNvGraphicFramePr>
            <a:graphicFrameLocks noGrp="1"/>
          </p:cNvGraphicFramePr>
          <p:nvPr/>
        </p:nvGraphicFramePr>
        <p:xfrm>
          <a:off x="548640" y="1874520"/>
          <a:ext cx="6080760" cy="3657600"/>
        </p:xfrm>
        <a:graphic>
          <a:graphicData uri="http://schemas.openxmlformats.org/drawingml/2006/table">
            <a:tbl>
              <a:tblPr>
                <a:tableStyleId>{2D5ABB26-0587-4C30-8999-92F81FD0307C}</a:tableStyleId>
              </a:tblPr>
              <a:tblGrid>
                <a:gridCol w="2331720"/>
                <a:gridCol w="411480"/>
                <a:gridCol w="3337560"/>
              </a:tblGrid>
              <a:tr h="365760">
                <a:tc>
                  <a:txBody>
                    <a:bodyPr wrap="square"/>
                    <a:lstStyle/>
                    <a:p>
                      <a:pPr algn="l"/>
                      <a:r>
                        <a:rPr sz="1150" b="1" i="0">
                          <a:solidFill>
                            <a:srgbClr val="222222"/>
                          </a:solidFill>
                          <a:latin typeface="Arial"/>
                        </a:rPr>
                        <a:t>Use</a:t>
                      </a:r>
                    </a:p>
                  </a:txBody>
                  <a:tcPr marL="64008" marR="64008" marT="36576" marB="36576" anchor="ctr">
                    <a:lnL w="0">
                      <a:noFill/>
                    </a:lnL>
                    <a:lnR w="0">
                      <a:noFill/>
                    </a:lnR>
                    <a:lnT w="0">
                      <a:noFill/>
                    </a:lnT>
                    <a:lnB w="12700">
                      <a:solidFill>
                        <a:srgbClr val="222222"/>
                      </a:solidFill>
                    </a:lnB>
                    <a:noFill/>
                  </a:tcPr>
                </a:tc>
                <a:tc>
                  <a:txBody>
                    <a:bodyPr wrap="square"/>
                    <a:lstStyle/>
                    <a:p>
                      <a:pPr algn="ctr"/>
                      <a:r>
                        <a:rPr sz="1150" b="1" i="0">
                          <a:solidFill>
                            <a:srgbClr val="222222"/>
                          </a:solidFill>
                          <a:latin typeface="Arial"/>
                        </a:rPr>
                        <a:t/>
                      </a:r>
                    </a:p>
                  </a:txBody>
                  <a:tcPr marL="64008" marR="64008" marT="36576" marB="36576" anchor="ctr">
                    <a:lnL w="0">
                      <a:noFill/>
                    </a:lnL>
                    <a:lnR w="0">
                      <a:noFill/>
                    </a:lnR>
                    <a:lnT w="0">
                      <a:noFill/>
                    </a:lnT>
                    <a:lnB w="12700">
                      <a:solidFill>
                        <a:srgbClr val="222222"/>
                      </a:solidFill>
                    </a:lnB>
                    <a:noFill/>
                  </a:tcPr>
                </a:tc>
                <a:tc>
                  <a:txBody>
                    <a:bodyPr wrap="square"/>
                    <a:lstStyle/>
                    <a:p>
                      <a:pPr algn="l"/>
                      <a:r>
                        <a:rPr sz="1150" b="1" i="0">
                          <a:solidFill>
                            <a:srgbClr val="222222"/>
                          </a:solidFill>
                          <a:latin typeface="Arial"/>
                        </a:rPr>
                        <a:t>Why</a:t>
                      </a:r>
                    </a:p>
                  </a:txBody>
                  <a:tcPr marL="64008" marR="64008" marT="36576" marB="36576" anchor="ctr">
                    <a:lnL w="0">
                      <a:noFill/>
                    </a:lnL>
                    <a:lnR w="0">
                      <a:noFill/>
                    </a:lnR>
                    <a:lnT w="0">
                      <a:noFill/>
                    </a:lnT>
                    <a:lnB w="12700">
                      <a:solidFill>
                        <a:srgbClr val="222222"/>
                      </a:solidFill>
                    </a:lnB>
                    <a:noFill/>
                  </a:tcPr>
                </a:tc>
              </a:tr>
              <a:tr h="548640">
                <a:tc>
                  <a:txBody>
                    <a:bodyPr wrap="square"/>
                    <a:lstStyle/>
                    <a:p>
                      <a:pPr algn="l"/>
                      <a:r>
                        <a:rPr sz="1150" b="0" i="0">
                          <a:solidFill>
                            <a:srgbClr val="222222"/>
                          </a:solidFill>
                          <a:latin typeface="Arial"/>
                        </a:rPr>
                        <a:t>Tell an officer whom to search</a:t>
                      </a:r>
                    </a:p>
                  </a:txBody>
                  <a:tcPr marL="64008" marR="64008" marT="36576" marB="36576" anchor="ctr">
                    <a:lnL w="0">
                      <a:noFill/>
                    </a:lnL>
                    <a:lnR w="0">
                      <a:noFill/>
                    </a:lnR>
                    <a:lnT w="0">
                      <a:noFill/>
                    </a:lnT>
                    <a:lnB w="9525">
                      <a:solidFill>
                        <a:srgbClr val="D9DEE3"/>
                      </a:solidFill>
                    </a:lnB>
                    <a:noFill/>
                  </a:tcPr>
                </a:tc>
                <a:tc>
                  <a:txBody>
                    <a:bodyPr wrap="square"/>
                    <a:lstStyle/>
                    <a:p>
                      <a:pPr algn="ctr"/>
                      <a:r>
                        <a:rPr sz="1400" b="1" i="0">
                          <a:solidFill>
                            <a:srgbClr val="6B7C85"/>
                          </a:solidFill>
                          <a:latin typeface="Arial Unicode MS"/>
                        </a:rPr>
                        <a:t>✗</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At chance inside one officer’s stops; otherwise mostly race</a:t>
                      </a:r>
                    </a:p>
                  </a:txBody>
                  <a:tcPr marL="64008" marR="64008" marT="36576" marB="36576" anchor="ctr">
                    <a:lnL w="0">
                      <a:noFill/>
                    </a:lnL>
                    <a:lnR w="0">
                      <a:noFill/>
                    </a:lnR>
                    <a:lnT w="0">
                      <a:noFill/>
                    </a:lnT>
                    <a:lnB w="9525">
                      <a:solidFill>
                        <a:srgbClr val="D9DEE3"/>
                      </a:solidFill>
                    </a:lnB>
                    <a:noFill/>
                  </a:tcPr>
                </a:tc>
              </a:tr>
              <a:tr h="548640">
                <a:tc>
                  <a:txBody>
                    <a:bodyPr wrap="square"/>
                    <a:lstStyle/>
                    <a:p>
                      <a:pPr algn="l"/>
                      <a:r>
                        <a:rPr sz="1150" b="0" i="0">
                          <a:solidFill>
                            <a:srgbClr val="222222"/>
                          </a:solidFill>
                          <a:latin typeface="Arial"/>
                        </a:rPr>
                        <a:t>Justify a search after the fact</a:t>
                      </a:r>
                    </a:p>
                  </a:txBody>
                  <a:tcPr marL="64008" marR="64008" marT="36576" marB="36576" anchor="ctr">
                    <a:lnL w="0">
                      <a:noFill/>
                    </a:lnL>
                    <a:lnR w="0">
                      <a:noFill/>
                    </a:lnR>
                    <a:lnT w="0">
                      <a:noFill/>
                    </a:lnT>
                    <a:lnB w="9525">
                      <a:solidFill>
                        <a:srgbClr val="D9DEE3"/>
                      </a:solidFill>
                    </a:lnB>
                    <a:noFill/>
                  </a:tcPr>
                </a:tc>
                <a:tc>
                  <a:txBody>
                    <a:bodyPr wrap="square"/>
                    <a:lstStyle/>
                    <a:p>
                      <a:pPr algn="ctr"/>
                      <a:r>
                        <a:rPr sz="1400" b="1" i="0">
                          <a:solidFill>
                            <a:srgbClr val="6B7C85"/>
                          </a:solidFill>
                          <a:latin typeface="Arial Unicode MS"/>
                        </a:rPr>
                        <a:t>✗</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Would launder a discretionary decision</a:t>
                      </a:r>
                    </a:p>
                  </a:txBody>
                  <a:tcPr marL="64008" marR="64008" marT="36576" marB="36576" anchor="ctr">
                    <a:lnL w="0">
                      <a:noFill/>
                    </a:lnL>
                    <a:lnR w="0">
                      <a:noFill/>
                    </a:lnR>
                    <a:lnT w="0">
                      <a:noFill/>
                    </a:lnT>
                    <a:lnB w="9525">
                      <a:solidFill>
                        <a:srgbClr val="D9DEE3"/>
                      </a:solidFill>
                    </a:lnB>
                    <a:noFill/>
                  </a:tcPr>
                </a:tc>
              </a:tr>
              <a:tr h="548640">
                <a:tc>
                  <a:txBody>
                    <a:bodyPr wrap="square"/>
                    <a:lstStyle/>
                    <a:p>
                      <a:pPr algn="l"/>
                      <a:r>
                        <a:rPr sz="1150" b="0" i="0">
                          <a:solidFill>
                            <a:srgbClr val="222222"/>
                          </a:solidFill>
                          <a:latin typeface="Arial"/>
                        </a:rPr>
                        <a:t>Decide where to patrol</a:t>
                      </a:r>
                    </a:p>
                  </a:txBody>
                  <a:tcPr marL="64008" marR="64008" marT="36576" marB="36576" anchor="ctr">
                    <a:lnL w="0">
                      <a:noFill/>
                    </a:lnL>
                    <a:lnR w="0">
                      <a:noFill/>
                    </a:lnR>
                    <a:lnT w="0">
                      <a:noFill/>
                    </a:lnT>
                    <a:lnB w="9525">
                      <a:solidFill>
                        <a:srgbClr val="D9DEE3"/>
                      </a:solidFill>
                    </a:lnB>
                    <a:noFill/>
                  </a:tcPr>
                </a:tc>
                <a:tc>
                  <a:txBody>
                    <a:bodyPr wrap="square"/>
                    <a:lstStyle/>
                    <a:p>
                      <a:pPr algn="ctr"/>
                      <a:r>
                        <a:rPr sz="1400" b="1" i="0">
                          <a:solidFill>
                            <a:srgbClr val="6B7C85"/>
                          </a:solidFill>
                          <a:latin typeface="Arial Unicode MS"/>
                        </a:rPr>
                        <a:t>✗</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Barely predicts anything; risks a feedback loop</a:t>
                      </a:r>
                    </a:p>
                  </a:txBody>
                  <a:tcPr marL="64008" marR="64008" marT="36576" marB="36576" anchor="ctr">
                    <a:lnL w="0">
                      <a:noFill/>
                    </a:lnL>
                    <a:lnR w="0">
                      <a:noFill/>
                    </a:lnR>
                    <a:lnT w="0">
                      <a:noFill/>
                    </a:lnT>
                    <a:lnB w="9525">
                      <a:solidFill>
                        <a:srgbClr val="D9DEE3"/>
                      </a:solidFill>
                    </a:lnB>
                    <a:noFill/>
                  </a:tcPr>
                </a:tc>
              </a:tr>
              <a:tr h="548640">
                <a:tc>
                  <a:txBody>
                    <a:bodyPr wrap="square"/>
                    <a:lstStyle/>
                    <a:p>
                      <a:pPr algn="l"/>
                      <a:r>
                        <a:rPr sz="1150" b="1" i="0">
                          <a:solidFill>
                            <a:srgbClr val="222222"/>
                          </a:solidFill>
                          <a:latin typeface="Arial"/>
                        </a:rPr>
                        <a:t>Review search practice, by officer</a:t>
                      </a:r>
                    </a:p>
                  </a:txBody>
                  <a:tcPr marL="64008" marR="64008" marT="36576" marB="36576" anchor="ctr">
                    <a:lnL w="0">
                      <a:noFill/>
                    </a:lnL>
                    <a:lnR w="0">
                      <a:noFill/>
                    </a:lnR>
                    <a:lnT w="0">
                      <a:noFill/>
                    </a:lnT>
                    <a:lnB w="9525">
                      <a:solidFill>
                        <a:srgbClr val="D9DEE3"/>
                      </a:solidFill>
                    </a:lnB>
                    <a:solidFill>
                      <a:srgbClr val="EEF3F6"/>
                    </a:solidFill>
                  </a:tcPr>
                </a:tc>
                <a:tc>
                  <a:txBody>
                    <a:bodyPr wrap="square"/>
                    <a:lstStyle/>
                    <a:p>
                      <a:pPr algn="ctr"/>
                      <a:r>
                        <a:rPr sz="1400" b="1" i="0">
                          <a:solidFill>
                            <a:srgbClr val="1976D2"/>
                          </a:solidFill>
                          <a:latin typeface="Arial Unicode MS"/>
                        </a:rPr>
                        <a:t>✓</a:t>
                      </a:r>
                    </a:p>
                  </a:txBody>
                  <a:tcPr marL="64008" marR="64008" marT="36576" marB="36576" anchor="ctr">
                    <a:lnL w="0">
                      <a:noFill/>
                    </a:lnL>
                    <a:lnR w="0">
                      <a:noFill/>
                    </a:lnR>
                    <a:lnT w="0">
                      <a:noFill/>
                    </a:lnT>
                    <a:lnB w="9525">
                      <a:solidFill>
                        <a:srgbClr val="D9DEE3"/>
                      </a:solidFill>
                    </a:lnB>
                    <a:solidFill>
                      <a:srgbClr val="EEF3F6"/>
                    </a:solidFill>
                  </a:tcPr>
                </a:tc>
                <a:tc>
                  <a:txBody>
                    <a:bodyPr wrap="square"/>
                    <a:lstStyle/>
                    <a:p>
                      <a:pPr algn="l"/>
                      <a:r>
                        <a:rPr sz="1150" b="1" i="0">
                          <a:solidFill>
                            <a:srgbClr val="222222"/>
                          </a:solidFill>
                          <a:latin typeface="Arial"/>
                        </a:rPr>
                        <a:t>This is our recommendation</a:t>
                      </a:r>
                    </a:p>
                  </a:txBody>
                  <a:tcPr marL="64008" marR="64008" marT="36576" marB="36576" anchor="ctr">
                    <a:lnL w="0">
                      <a:noFill/>
                    </a:lnL>
                    <a:lnR w="0">
                      <a:noFill/>
                    </a:lnR>
                    <a:lnT w="0">
                      <a:noFill/>
                    </a:lnT>
                    <a:lnB w="9525">
                      <a:solidFill>
                        <a:srgbClr val="D9DEE3"/>
                      </a:solidFill>
                    </a:lnB>
                    <a:solidFill>
                      <a:srgbClr val="EEF3F6"/>
                    </a:solidFill>
                  </a:tcPr>
                </a:tc>
              </a:tr>
              <a:tr h="548640">
                <a:tc>
                  <a:txBody>
                    <a:bodyPr wrap="square"/>
                    <a:lstStyle/>
                    <a:p>
                      <a:pPr algn="l"/>
                      <a:r>
                        <a:rPr sz="1150" b="0" i="0">
                          <a:solidFill>
                            <a:srgbClr val="222222"/>
                          </a:solidFill>
                          <a:latin typeface="Arial"/>
                        </a:rPr>
                        <a:t>Train officers on real patterns</a:t>
                      </a:r>
                    </a:p>
                  </a:txBody>
                  <a:tcPr marL="64008" marR="64008" marT="36576" marB="36576" anchor="ctr">
                    <a:lnL w="0">
                      <a:noFill/>
                    </a:lnL>
                    <a:lnR w="0">
                      <a:noFill/>
                    </a:lnR>
                    <a:lnT w="0">
                      <a:noFill/>
                    </a:lnT>
                    <a:lnB w="9525">
                      <a:solidFill>
                        <a:srgbClr val="D9DEE3"/>
                      </a:solidFill>
                    </a:lnB>
                    <a:noFill/>
                  </a:tcPr>
                </a:tc>
                <a:tc>
                  <a:txBody>
                    <a:bodyPr wrap="square"/>
                    <a:lstStyle/>
                    <a:p>
                      <a:pPr algn="ctr"/>
                      <a:r>
                        <a:rPr sz="1400" b="1" i="0">
                          <a:solidFill>
                            <a:srgbClr val="1976D2"/>
                          </a:solidFill>
                          <a:latin typeface="Arial Unicode MS"/>
                        </a:rPr>
                        <a:t>✓</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Patterns are readable and repeat</a:t>
                      </a:r>
                    </a:p>
                  </a:txBody>
                  <a:tcPr marL="64008" marR="64008" marT="36576" marB="36576" anchor="ctr">
                    <a:lnL w="0">
                      <a:noFill/>
                    </a:lnL>
                    <a:lnR w="0">
                      <a:noFill/>
                    </a:lnR>
                    <a:lnT w="0">
                      <a:noFill/>
                    </a:lnT>
                    <a:lnB w="9525">
                      <a:solidFill>
                        <a:srgbClr val="D9DEE3"/>
                      </a:solidFill>
                    </a:lnB>
                    <a:noFill/>
                  </a:tcPr>
                </a:tc>
              </a:tr>
              <a:tr h="548640">
                <a:tc>
                  <a:txBody>
                    <a:bodyPr wrap="square"/>
                    <a:lstStyle/>
                    <a:p>
                      <a:pPr algn="l"/>
                      <a:r>
                        <a:rPr sz="1150" b="0" i="0">
                          <a:solidFill>
                            <a:srgbClr val="222222"/>
                          </a:solidFill>
                          <a:latin typeface="Arial"/>
                        </a:rPr>
                        <a:t>Report to oversight, year on year</a:t>
                      </a:r>
                    </a:p>
                  </a:txBody>
                  <a:tcPr marL="64008" marR="64008" marT="36576" marB="36576" anchor="ctr">
                    <a:lnL w="0">
                      <a:noFill/>
                    </a:lnL>
                    <a:lnR w="0">
                      <a:noFill/>
                    </a:lnR>
                    <a:lnT w="0">
                      <a:noFill/>
                    </a:lnT>
                    <a:lnB w="9525">
                      <a:solidFill>
                        <a:srgbClr val="D9DEE3"/>
                      </a:solidFill>
                    </a:lnB>
                    <a:noFill/>
                  </a:tcPr>
                </a:tc>
                <a:tc>
                  <a:txBody>
                    <a:bodyPr wrap="square"/>
                    <a:lstStyle/>
                    <a:p>
                      <a:pPr algn="ctr"/>
                      <a:r>
                        <a:rPr sz="1400" b="1" i="0">
                          <a:solidFill>
                            <a:srgbClr val="1976D2"/>
                          </a:solidFill>
                          <a:latin typeface="Arial Unicode MS"/>
                        </a:rPr>
                        <a:t>✓</a:t>
                      </a:r>
                    </a:p>
                  </a:txBody>
                  <a:tcPr marL="64008" marR="64008" marT="36576" marB="36576" anchor="ctr">
                    <a:lnL w="0">
                      <a:noFill/>
                    </a:lnL>
                    <a:lnR w="0">
                      <a:noFill/>
                    </a:lnR>
                    <a:lnT w="0">
                      <a:noFill/>
                    </a:lnT>
                    <a:lnB w="9525">
                      <a:solidFill>
                        <a:srgbClr val="D9DEE3"/>
                      </a:solidFill>
                    </a:lnB>
                    <a:noFill/>
                  </a:tcPr>
                </a:tc>
                <a:tc>
                  <a:txBody>
                    <a:bodyPr wrap="square"/>
                    <a:lstStyle/>
                    <a:p>
                      <a:pPr algn="l"/>
                      <a:r>
                        <a:rPr sz="1150" b="0" i="0">
                          <a:solidFill>
                            <a:srgbClr val="222222"/>
                          </a:solidFill>
                          <a:latin typeface="Arial"/>
                        </a:rPr>
                        <a:t>Tracks the disparity honestly</a:t>
                      </a:r>
                    </a:p>
                  </a:txBody>
                  <a:tcPr marL="64008" marR="64008" marT="36576" marB="36576" anchor="ctr">
                    <a:lnL w="0">
                      <a:noFill/>
                    </a:lnL>
                    <a:lnR w="0">
                      <a:noFill/>
                    </a:lnR>
                    <a:lnT w="0">
                      <a:noFill/>
                    </a:lnT>
                    <a:lnB w="9525">
                      <a:solidFill>
                        <a:srgbClr val="D9DEE3"/>
                      </a:solidFill>
                    </a:lnB>
                    <a:noFill/>
                  </a:tcPr>
                </a:tc>
              </a:tr>
            </a:tbl>
          </a:graphicData>
        </a:graphic>
      </p:graphicFrame>
      <p:sp>
        <p:nvSpPr>
          <p:cNvPr id="9" name="TextBox 8"/>
          <p:cNvSpPr txBox="1"/>
          <p:nvPr/>
        </p:nvSpPr>
        <p:spPr>
          <a:xfrm>
            <a:off x="6903720" y="1554480"/>
            <a:ext cx="4739335" cy="274320"/>
          </a:xfrm>
          <a:prstGeom prst="rect">
            <a:avLst/>
          </a:prstGeom>
          <a:noFill/>
        </p:spPr>
        <p:txBody>
          <a:bodyPr wrap="square" lIns="0" rIns="0" tIns="0" bIns="0" anchor="t">
            <a:spAutoFit/>
          </a:bodyPr>
          <a:lstStyle/>
          <a:p>
            <a:pPr algn="l"/>
            <a:r>
              <a:rPr sz="1200" b="1" i="0">
                <a:solidFill>
                  <a:srgbClr val="222222"/>
                </a:solidFill>
                <a:latin typeface="Arial"/>
              </a:rPr>
              <a:t>What the review looks like, per officer, each quarter</a:t>
            </a:r>
          </a:p>
        </p:txBody>
      </p:sp>
      <p:sp>
        <p:nvSpPr>
          <p:cNvPr id="10" name="TextBox 9"/>
          <p:cNvSpPr txBox="1"/>
          <p:nvPr/>
        </p:nvSpPr>
        <p:spPr>
          <a:xfrm>
            <a:off x="6903720" y="1874520"/>
            <a:ext cx="4739335" cy="1234440"/>
          </a:xfrm>
          <a:prstGeom prst="rect">
            <a:avLst/>
          </a:prstGeom>
          <a:noFill/>
        </p:spPr>
        <p:txBody>
          <a:bodyPr wrap="square" lIns="0" rIns="0" tIns="0" bIns="0" anchor="t">
            <a:spAutoFit/>
          </a:bodyPr>
          <a:lstStyle/>
          <a:p>
            <a:pPr algn="l">
              <a:spcAft>
                <a:spcPts val="400"/>
              </a:spcAft>
            </a:pPr>
            <a:r>
              <a:rPr sz="1200" b="1" i="0">
                <a:solidFill>
                  <a:srgbClr val="222222"/>
                </a:solidFill>
                <a:latin typeface="Arial"/>
              </a:rPr>
              <a:t>1  </a:t>
            </a:r>
            <a:r>
              <a:rPr sz="1200" b="0" i="0">
                <a:solidFill>
                  <a:srgbClr val="222222"/>
                </a:solidFill>
                <a:latin typeface="Arial"/>
              </a:rPr>
              <a:t>How often they ask for consent to search</a:t>
            </a:r>
          </a:p>
          <a:p>
            <a:pPr algn="l">
              <a:spcAft>
                <a:spcPts val="400"/>
              </a:spcAft>
            </a:pPr>
            <a:r>
              <a:rPr sz="1200" b="1" i="0">
                <a:solidFill>
                  <a:srgbClr val="222222"/>
                </a:solidFill>
                <a:latin typeface="Arial"/>
              </a:rPr>
              <a:t>2  </a:t>
            </a:r>
            <a:r>
              <a:rPr sz="1200" b="0" i="0">
                <a:solidFill>
                  <a:srgbClr val="222222"/>
                </a:solidFill>
                <a:latin typeface="Arial"/>
              </a:rPr>
              <a:t>How often that search finds anything</a:t>
            </a:r>
          </a:p>
          <a:p>
            <a:pPr algn="l">
              <a:spcAft>
                <a:spcPts val="400"/>
              </a:spcAft>
            </a:pPr>
            <a:r>
              <a:rPr sz="1200" b="1" i="0">
                <a:solidFill>
                  <a:srgbClr val="222222"/>
                </a:solidFill>
                <a:latin typeface="Arial"/>
              </a:rPr>
              <a:t>3  </a:t>
            </a:r>
            <a:r>
              <a:rPr sz="1200" b="0" i="0">
                <a:solidFill>
                  <a:srgbClr val="222222"/>
                </a:solidFill>
                <a:latin typeface="Arial"/>
              </a:rPr>
              <a:t>Whether that differs by the driver’s race</a:t>
            </a:r>
          </a:p>
          <a:p>
            <a:pPr algn="l"/>
            <a:r>
              <a:rPr sz="1200" b="1" i="0">
                <a:solidFill>
                  <a:srgbClr val="222222"/>
                </a:solidFill>
                <a:latin typeface="Arial"/>
              </a:rPr>
              <a:t>4  </a:t>
            </a:r>
            <a:r>
              <a:rPr sz="1200" b="0" i="0">
                <a:solidFill>
                  <a:srgbClr val="222222"/>
                </a:solidFill>
                <a:latin typeface="Arial"/>
              </a:rPr>
              <a:t>How they compare with similar officers</a:t>
            </a:r>
          </a:p>
        </p:txBody>
      </p:sp>
      <p:sp>
        <p:nvSpPr>
          <p:cNvPr id="11" name="Rectangle 10"/>
          <p:cNvSpPr/>
          <p:nvPr/>
        </p:nvSpPr>
        <p:spPr>
          <a:xfrm>
            <a:off x="6903720" y="3291840"/>
            <a:ext cx="4739335" cy="141732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68312" y="3364992"/>
            <a:ext cx="1554480" cy="777240"/>
          </a:xfrm>
          <a:prstGeom prst="rect">
            <a:avLst/>
          </a:prstGeom>
          <a:noFill/>
        </p:spPr>
        <p:txBody>
          <a:bodyPr wrap="square" lIns="0" rIns="0" tIns="0" bIns="0" anchor="t">
            <a:spAutoFit/>
          </a:bodyPr>
          <a:lstStyle/>
          <a:p>
            <a:pPr algn="l"/>
            <a:r>
              <a:rPr sz="4200" b="1" i="0">
                <a:solidFill>
                  <a:srgbClr val="D97706"/>
                </a:solidFill>
                <a:latin typeface="Arial"/>
              </a:rPr>
              <a:t>764</a:t>
            </a:r>
          </a:p>
        </p:txBody>
      </p:sp>
      <p:sp>
        <p:nvSpPr>
          <p:cNvPr id="13" name="TextBox 12"/>
          <p:cNvSpPr txBox="1"/>
          <p:nvPr/>
        </p:nvSpPr>
        <p:spPr>
          <a:xfrm>
            <a:off x="8503920" y="3456432"/>
            <a:ext cx="3001975" cy="731520"/>
          </a:xfrm>
          <a:prstGeom prst="rect">
            <a:avLst/>
          </a:prstGeom>
          <a:noFill/>
        </p:spPr>
        <p:txBody>
          <a:bodyPr wrap="square" lIns="0" rIns="0" tIns="0" bIns="0" anchor="t">
            <a:spAutoFit/>
          </a:bodyPr>
          <a:lstStyle/>
          <a:p>
            <a:pPr algn="l"/>
            <a:r>
              <a:rPr sz="1200" b="1" i="0">
                <a:solidFill>
                  <a:srgbClr val="222222"/>
                </a:solidFill>
                <a:latin typeface="Arial"/>
              </a:rPr>
              <a:t>fewer fruitless searches over 2016–2018, mostly of Black or Hispanic drivers, for the same number of finds</a:t>
            </a:r>
          </a:p>
        </p:txBody>
      </p:sp>
      <p:sp>
        <p:nvSpPr>
          <p:cNvPr id="14" name="TextBox 13"/>
          <p:cNvSpPr txBox="1"/>
          <p:nvPr/>
        </p:nvSpPr>
        <p:spPr>
          <a:xfrm>
            <a:off x="7068312" y="4160520"/>
            <a:ext cx="4410151" cy="457200"/>
          </a:xfrm>
          <a:prstGeom prst="rect">
            <a:avLst/>
          </a:prstGeom>
          <a:noFill/>
        </p:spPr>
        <p:txBody>
          <a:bodyPr wrap="square" lIns="0" rIns="0" tIns="0" bIns="0" anchor="t">
            <a:spAutoFit/>
          </a:bodyPr>
          <a:lstStyle/>
          <a:p>
            <a:pPr algn="l"/>
            <a:r>
              <a:rPr sz="1000" b="0" i="0">
                <a:solidFill>
                  <a:srgbClr val="6B7C85"/>
                </a:solidFill>
                <a:latin typeface="Arial"/>
              </a:rPr>
              <a:t>[380–1,206] — if the least successful fifth of officers matched the typical officer’s hit rate</a:t>
            </a:r>
          </a:p>
        </p:txBody>
      </p:sp>
      <p:sp>
        <p:nvSpPr>
          <p:cNvPr id="15" name="TextBox 14"/>
          <p:cNvSpPr txBox="1"/>
          <p:nvPr/>
        </p:nvSpPr>
        <p:spPr>
          <a:xfrm>
            <a:off x="6903720" y="4892040"/>
            <a:ext cx="4739335" cy="1005840"/>
          </a:xfrm>
          <a:prstGeom prst="rect">
            <a:avLst/>
          </a:prstGeom>
          <a:noFill/>
        </p:spPr>
        <p:txBody>
          <a:bodyPr wrap="square" lIns="0" rIns="0" tIns="0" bIns="0" anchor="t">
            <a:spAutoFit/>
          </a:bodyPr>
          <a:lstStyle/>
          <a:p>
            <a:pPr algn="l">
              <a:spcAft>
                <a:spcPts val="400"/>
              </a:spcAft>
            </a:pPr>
            <a:r>
              <a:rPr sz="1200" b="1" i="0">
                <a:solidFill>
                  <a:srgbClr val="1976D2"/>
                </a:solidFill>
                <a:latin typeface="Arial"/>
              </a:rPr>
              <a:t>Why the white box, not a black box</a:t>
            </a:r>
          </a:p>
          <a:p>
            <a:pPr algn="l" marL="155448" indent="-155448">
              <a:spcAft>
                <a:spcPts val="300"/>
              </a:spcAft>
              <a:buChar char="•"/>
            </a:pPr>
            <a:r>
              <a:rPr sz="1150" b="0" i="0">
                <a:solidFill>
                  <a:srgbClr val="222222"/>
                </a:solidFill>
                <a:latin typeface="Arial"/>
              </a:rPr>
              <a:t>Reviewing someone’s conduct has to be explainable and contestable</a:t>
            </a:r>
          </a:p>
          <a:p>
            <a:pPr algn="l" marL="155448" indent="-155448">
              <a:spcAft>
                <a:spcPts val="300"/>
              </a:spcAft>
              <a:buChar char="•"/>
            </a:pPr>
            <a:r>
              <a:rPr sz="1150" b="0" i="0">
                <a:solidFill>
                  <a:srgbClr val="222222"/>
                </a:solidFill>
                <a:latin typeface="Arial"/>
              </a:rPr>
              <a:t>The black boxes’ small accuracy edge buys nothing here</a:t>
            </a:r>
          </a:p>
          <a:p>
            <a:pPr algn="l" marL="155448" indent="-155448">
              <a:buChar char="•"/>
            </a:pPr>
            <a:r>
              <a:rPr sz="1150" b="0" i="0">
                <a:solidFill>
                  <a:srgbClr val="222222"/>
                </a:solidFill>
                <a:latin typeface="Arial"/>
              </a:rPr>
              <a:t>Runs anywhere; no data leaves MNPD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Decision</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We ask MNPD to approve a six-month pilot of the officer-level review</a:t>
            </a:r>
          </a:p>
        </p:txBody>
      </p:sp>
      <p:sp>
        <p:nvSpPr>
          <p:cNvPr id="4" name="TextBox 3"/>
          <p:cNvSpPr txBox="1"/>
          <p:nvPr/>
        </p:nvSpPr>
        <p:spPr>
          <a:xfrm>
            <a:off x="548640" y="6035040"/>
            <a:ext cx="11094415" cy="365760"/>
          </a:xfrm>
          <a:prstGeom prst="rect">
            <a:avLst/>
          </a:prstGeom>
          <a:noFill/>
        </p:spPr>
        <p:txBody>
          <a:bodyPr wrap="square" lIns="0" rIns="0" tIns="0" bIns="0" anchor="b">
            <a:spAutoFit/>
          </a:bodyPr>
          <a:lstStyle/>
          <a:p>
            <a:pPr algn="l"/>
            <a:r>
              <a:rPr sz="900" b="0" i="0">
                <a:solidFill>
                  <a:srgbClr val="6B7C85"/>
                </a:solidFill>
                <a:latin typeface="Arial"/>
              </a:rPr>
              <a:t>Limits: selective labels (only searches made are observed); the outcome test cannot prove intent (infra-marginality); blank contraband fields were recorded as "nothing found".</a:t>
            </a:r>
          </a:p>
        </p:txBody>
      </p:sp>
      <p:sp>
        <p:nvSpPr>
          <p:cNvPr id="5" name="TextBox 4"/>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MASTER §9.4, §10. Full trustworthy-AI checklist and pilot detail: backup.</a:t>
            </a:r>
          </a:p>
        </p:txBody>
      </p:sp>
      <p:sp>
        <p:nvSpPr>
          <p:cNvPr id="6" name="TextBox 5"/>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13</a:t>
            </a:r>
          </a:p>
        </p:txBody>
      </p:sp>
      <p:sp>
        <p:nvSpPr>
          <p:cNvPr id="7" name="TextBox 6"/>
          <p:cNvSpPr txBox="1"/>
          <p:nvPr/>
        </p:nvSpPr>
        <p:spPr>
          <a:xfrm>
            <a:off x="548640" y="1554480"/>
            <a:ext cx="6035040" cy="274320"/>
          </a:xfrm>
          <a:prstGeom prst="rect">
            <a:avLst/>
          </a:prstGeom>
          <a:noFill/>
        </p:spPr>
        <p:txBody>
          <a:bodyPr wrap="square" lIns="0" rIns="0" tIns="0" bIns="0" anchor="t">
            <a:spAutoFit/>
          </a:bodyPr>
          <a:lstStyle/>
          <a:p>
            <a:pPr algn="l"/>
            <a:r>
              <a:rPr sz="1200" b="1" i="0">
                <a:solidFill>
                  <a:srgbClr val="222222"/>
                </a:solidFill>
                <a:latin typeface="Arial"/>
              </a:rPr>
              <a:t>Our answers to the five questions</a:t>
            </a:r>
          </a:p>
        </p:txBody>
      </p:sp>
      <p:graphicFrame>
        <p:nvGraphicFramePr>
          <p:cNvPr id="8" name="Table 7"/>
          <p:cNvGraphicFramePr>
            <a:graphicFrameLocks noGrp="1"/>
          </p:cNvGraphicFramePr>
          <p:nvPr/>
        </p:nvGraphicFramePr>
        <p:xfrm>
          <a:off x="548640" y="1874520"/>
          <a:ext cx="6080760" cy="2743200"/>
        </p:xfrm>
        <a:graphic>
          <a:graphicData uri="http://schemas.openxmlformats.org/drawingml/2006/table">
            <a:tbl>
              <a:tblPr>
                <a:tableStyleId>{2D5ABB26-0587-4C30-8999-92F81FD0307C}</a:tableStyleId>
              </a:tblPr>
              <a:tblGrid>
                <a:gridCol w="365760"/>
                <a:gridCol w="2606040"/>
                <a:gridCol w="3108960"/>
              </a:tblGrid>
              <a:tr h="365760">
                <a:tc>
                  <a:txBody>
                    <a:bodyPr wrap="square"/>
                    <a:lstStyle/>
                    <a:p>
                      <a:pPr algn="ctr"/>
                      <a:r>
                        <a:rPr sz="1100" b="1" i="0">
                          <a:solidFill>
                            <a:srgbClr val="222222"/>
                          </a:solidFill>
                          <a:latin typeface="Arial"/>
                        </a:rPr>
                        <a:t>#</a:t>
                      </a:r>
                    </a:p>
                  </a:txBody>
                  <a:tcPr marL="64008" marR="64008" marT="36576" marB="36576" anchor="ctr">
                    <a:lnL w="0">
                      <a:noFill/>
                    </a:lnL>
                    <a:lnR w="0">
                      <a:noFill/>
                    </a:lnR>
                    <a:lnT w="0">
                      <a:noFill/>
                    </a:lnT>
                    <a:lnB w="12700">
                      <a:solidFill>
                        <a:srgbClr val="222222"/>
                      </a:solidFill>
                    </a:lnB>
                    <a:noFill/>
                  </a:tcPr>
                </a:tc>
                <a:tc>
                  <a:txBody>
                    <a:bodyPr wrap="square"/>
                    <a:lstStyle/>
                    <a:p>
                      <a:pPr algn="l"/>
                      <a:r>
                        <a:rPr sz="1100" b="1" i="0">
                          <a:solidFill>
                            <a:srgbClr val="222222"/>
                          </a:solidFill>
                          <a:latin typeface="Arial"/>
                        </a:rPr>
                        <a:t>Question</a:t>
                      </a:r>
                    </a:p>
                  </a:txBody>
                  <a:tcPr marL="64008" marR="64008" marT="36576" marB="36576" anchor="ctr">
                    <a:lnL w="0">
                      <a:noFill/>
                    </a:lnL>
                    <a:lnR w="0">
                      <a:noFill/>
                    </a:lnR>
                    <a:lnT w="0">
                      <a:noFill/>
                    </a:lnT>
                    <a:lnB w="12700">
                      <a:solidFill>
                        <a:srgbClr val="222222"/>
                      </a:solidFill>
                    </a:lnB>
                    <a:noFill/>
                  </a:tcPr>
                </a:tc>
                <a:tc>
                  <a:txBody>
                    <a:bodyPr wrap="square"/>
                    <a:lstStyle/>
                    <a:p>
                      <a:pPr algn="l"/>
                      <a:r>
                        <a:rPr sz="1100" b="1" i="0">
                          <a:solidFill>
                            <a:srgbClr val="222222"/>
                          </a:solidFill>
                          <a:latin typeface="Arial"/>
                        </a:rPr>
                        <a:t>Answer</a:t>
                      </a:r>
                    </a:p>
                  </a:txBody>
                  <a:tcPr marL="64008" marR="64008" marT="36576" marB="36576" anchor="ctr">
                    <a:lnL w="0">
                      <a:noFill/>
                    </a:lnL>
                    <a:lnR w="0">
                      <a:noFill/>
                    </a:lnR>
                    <a:lnT w="0">
                      <a:noFill/>
                    </a:lnT>
                    <a:lnB w="12700">
                      <a:solidFill>
                        <a:srgbClr val="222222"/>
                      </a:solidFill>
                    </a:lnB>
                    <a:noFill/>
                  </a:tcPr>
                </a:tc>
              </a:tr>
              <a:tr h="475488">
                <a:tc>
                  <a:txBody>
                    <a:bodyPr wrap="square"/>
                    <a:lstStyle/>
                    <a:p>
                      <a:pPr algn="ctr"/>
                      <a:r>
                        <a:rPr sz="1100" b="0" i="0">
                          <a:solidFill>
                            <a:srgbClr val="222222"/>
                          </a:solidFill>
                          <a:latin typeface="Arial"/>
                        </a:rPr>
                        <a:t>1</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Can a model predict a successful search?</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No: AUC 0.53–0.55, near random economically</a:t>
                      </a:r>
                    </a:p>
                  </a:txBody>
                  <a:tcPr marL="64008" marR="64008" marT="36576" marB="36576" anchor="ctr">
                    <a:lnL w="0">
                      <a:noFill/>
                    </a:lnL>
                    <a:lnR w="0">
                      <a:noFill/>
                    </a:lnR>
                    <a:lnT w="0">
                      <a:noFill/>
                    </a:lnT>
                    <a:lnB w="9525">
                      <a:solidFill>
                        <a:srgbClr val="D9DEE3"/>
                      </a:solidFill>
                    </a:lnB>
                    <a:noFill/>
                  </a:tcPr>
                </a:tc>
              </a:tr>
              <a:tr h="475488">
                <a:tc>
                  <a:txBody>
                    <a:bodyPr wrap="square"/>
                    <a:lstStyle/>
                    <a:p>
                      <a:pPr algn="ctr"/>
                      <a:r>
                        <a:rPr sz="1100" b="0" i="0">
                          <a:solidFill>
                            <a:srgbClr val="222222"/>
                          </a:solidFill>
                          <a:latin typeface="Arial"/>
                        </a:rPr>
                        <a:t>2</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What do the models learn?</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Mostly race; only the white box is exact</a:t>
                      </a:r>
                    </a:p>
                  </a:txBody>
                  <a:tcPr marL="64008" marR="64008" marT="36576" marB="36576" anchor="ctr">
                    <a:lnL w="0">
                      <a:noFill/>
                    </a:lnL>
                    <a:lnR w="0">
                      <a:noFill/>
                    </a:lnR>
                    <a:lnT w="0">
                      <a:noFill/>
                    </a:lnT>
                    <a:lnB w="9525">
                      <a:solidFill>
                        <a:srgbClr val="D9DEE3"/>
                      </a:solidFill>
                    </a:lnB>
                    <a:noFill/>
                  </a:tcPr>
                </a:tc>
              </a:tr>
              <a:tr h="475488">
                <a:tc>
                  <a:txBody>
                    <a:bodyPr wrap="square"/>
                    <a:lstStyle/>
                    <a:p>
                      <a:pPr algn="ctr"/>
                      <a:r>
                        <a:rPr sz="1100" b="0" i="0">
                          <a:solidFill>
                            <a:srgbClr val="222222"/>
                          </a:solidFill>
                          <a:latin typeface="Arial"/>
                        </a:rPr>
                        <a:t>3</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Are they stable and fair?</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No: unstable shortlists, no version is fair</a:t>
                      </a:r>
                    </a:p>
                  </a:txBody>
                  <a:tcPr marL="64008" marR="64008" marT="36576" marB="36576" anchor="ctr">
                    <a:lnL w="0">
                      <a:noFill/>
                    </a:lnL>
                    <a:lnR w="0">
                      <a:noFill/>
                    </a:lnR>
                    <a:lnT w="0">
                      <a:noFill/>
                    </a:lnT>
                    <a:lnB w="9525">
                      <a:solidFill>
                        <a:srgbClr val="D9DEE3"/>
                      </a:solidFill>
                    </a:lnB>
                    <a:noFill/>
                  </a:tcPr>
                </a:tc>
              </a:tr>
              <a:tr h="475488">
                <a:tc>
                  <a:txBody>
                    <a:bodyPr wrap="square"/>
                    <a:lstStyle/>
                    <a:p>
                      <a:pPr algn="ctr"/>
                      <a:r>
                        <a:rPr sz="1100" b="0" i="0">
                          <a:solidFill>
                            <a:srgbClr val="222222"/>
                          </a:solidFill>
                          <a:latin typeface="Arial"/>
                        </a:rPr>
                        <a:t>4</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Where do outcomes come from?</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The searching officer's practice</a:t>
                      </a:r>
                    </a:p>
                  </a:txBody>
                  <a:tcPr marL="64008" marR="64008" marT="36576" marB="36576" anchor="ctr">
                    <a:lnL w="0">
                      <a:noFill/>
                    </a:lnL>
                    <a:lnR w="0">
                      <a:noFill/>
                    </a:lnR>
                    <a:lnT w="0">
                      <a:noFill/>
                    </a:lnT>
                    <a:lnB w="9525">
                      <a:solidFill>
                        <a:srgbClr val="D9DEE3"/>
                      </a:solidFill>
                    </a:lnB>
                    <a:noFill/>
                  </a:tcPr>
                </a:tc>
              </a:tr>
              <a:tr h="475488">
                <a:tc>
                  <a:txBody>
                    <a:bodyPr wrap="square"/>
                    <a:lstStyle/>
                    <a:p>
                      <a:pPr algn="ctr"/>
                      <a:r>
                        <a:rPr sz="1100" b="0" i="0">
                          <a:solidFill>
                            <a:srgbClr val="222222"/>
                          </a:solidFill>
                          <a:latin typeface="Arial"/>
                        </a:rPr>
                        <a:t>5</a:t>
                      </a:r>
                    </a:p>
                  </a:txBody>
                  <a:tcPr marL="64008" marR="64008" marT="36576" marB="36576" anchor="ctr">
                    <a:lnL w="0">
                      <a:noFill/>
                    </a:lnL>
                    <a:lnR w="0">
                      <a:noFill/>
                    </a:lnR>
                    <a:lnT w="0">
                      <a:noFill/>
                    </a:lnT>
                    <a:lnB w="9525">
                      <a:solidFill>
                        <a:srgbClr val="D9DEE3"/>
                      </a:solidFill>
                    </a:lnB>
                    <a:solidFill>
                      <a:srgbClr val="EEF3F6"/>
                    </a:solidFill>
                  </a:tcPr>
                </a:tc>
                <a:tc>
                  <a:txBody>
                    <a:bodyPr wrap="square"/>
                    <a:lstStyle/>
                    <a:p>
                      <a:pPr algn="l"/>
                      <a:r>
                        <a:rPr sz="1100" b="0" i="0">
                          <a:solidFill>
                            <a:srgbClr val="222222"/>
                          </a:solidFill>
                          <a:latin typeface="Arial"/>
                        </a:rPr>
                        <a:t>Which model, for what?</a:t>
                      </a:r>
                    </a:p>
                  </a:txBody>
                  <a:tcPr marL="64008" marR="64008" marT="36576" marB="36576" anchor="ctr">
                    <a:lnL w="0">
                      <a:noFill/>
                    </a:lnL>
                    <a:lnR w="0">
                      <a:noFill/>
                    </a:lnR>
                    <a:lnT w="0">
                      <a:noFill/>
                    </a:lnT>
                    <a:lnB w="9525">
                      <a:solidFill>
                        <a:srgbClr val="D9DEE3"/>
                      </a:solidFill>
                    </a:lnB>
                    <a:solidFill>
                      <a:srgbClr val="EEF3F6"/>
                    </a:solidFill>
                  </a:tcPr>
                </a:tc>
                <a:tc>
                  <a:txBody>
                    <a:bodyPr wrap="square"/>
                    <a:lstStyle/>
                    <a:p>
                      <a:pPr algn="l"/>
                      <a:r>
                        <a:rPr sz="1100" b="1" i="0">
                          <a:solidFill>
                            <a:srgbClr val="222222"/>
                          </a:solidFill>
                          <a:latin typeface="Arial"/>
                        </a:rPr>
                        <a:t>The white box, for officer-level review; no roadside score</a:t>
                      </a:r>
                    </a:p>
                  </a:txBody>
                  <a:tcPr marL="64008" marR="64008" marT="36576" marB="36576" anchor="ctr">
                    <a:lnL w="0">
                      <a:noFill/>
                    </a:lnL>
                    <a:lnR w="0">
                      <a:noFill/>
                    </a:lnR>
                    <a:lnT w="0">
                      <a:noFill/>
                    </a:lnT>
                    <a:lnB w="9525">
                      <a:solidFill>
                        <a:srgbClr val="D9DEE3"/>
                      </a:solidFill>
                    </a:lnB>
                    <a:solidFill>
                      <a:srgbClr val="EEF3F6"/>
                    </a:solidFill>
                  </a:tcPr>
                </a:tc>
              </a:tr>
            </a:tbl>
          </a:graphicData>
        </a:graphic>
      </p:graphicFrame>
      <p:sp>
        <p:nvSpPr>
          <p:cNvPr id="9" name="TextBox 8"/>
          <p:cNvSpPr txBox="1"/>
          <p:nvPr/>
        </p:nvSpPr>
        <p:spPr>
          <a:xfrm>
            <a:off x="6949440" y="1554480"/>
            <a:ext cx="4693615" cy="274320"/>
          </a:xfrm>
          <a:prstGeom prst="rect">
            <a:avLst/>
          </a:prstGeom>
          <a:noFill/>
        </p:spPr>
        <p:txBody>
          <a:bodyPr wrap="square" lIns="0" rIns="0" tIns="0" bIns="0" anchor="t">
            <a:spAutoFit/>
          </a:bodyPr>
          <a:lstStyle/>
          <a:p>
            <a:pPr algn="l"/>
            <a:r>
              <a:rPr sz="1200" b="1" i="0">
                <a:solidFill>
                  <a:srgbClr val="222222"/>
                </a:solidFill>
                <a:latin typeface="Arial"/>
              </a:rPr>
              <a:t>What we’re asking MNPD to approve</a:t>
            </a:r>
          </a:p>
        </p:txBody>
      </p:sp>
      <p:sp>
        <p:nvSpPr>
          <p:cNvPr id="10" name="TextBox 9"/>
          <p:cNvSpPr txBox="1"/>
          <p:nvPr/>
        </p:nvSpPr>
        <p:spPr>
          <a:xfrm>
            <a:off x="6949440" y="1874520"/>
            <a:ext cx="4693615" cy="2011680"/>
          </a:xfrm>
          <a:prstGeom prst="rect">
            <a:avLst/>
          </a:prstGeom>
          <a:noFill/>
        </p:spPr>
        <p:txBody>
          <a:bodyPr wrap="square" lIns="0" rIns="0" tIns="0" bIns="0" anchor="t">
            <a:spAutoFit/>
          </a:bodyPr>
          <a:lstStyle/>
          <a:p>
            <a:pPr algn="l">
              <a:spcAft>
                <a:spcPts val="600"/>
              </a:spcAft>
            </a:pPr>
            <a:r>
              <a:rPr sz="1200" b="1" i="0">
                <a:solidFill>
                  <a:srgbClr val="1976D2"/>
                </a:solidFill>
                <a:latin typeface="Arial"/>
              </a:rPr>
              <a:t>A six-month pilot</a:t>
            </a:r>
          </a:p>
          <a:p>
            <a:pPr algn="l" marL="155448" indent="-155448">
              <a:spcAft>
                <a:spcPts val="600"/>
              </a:spcAft>
              <a:buChar char="•"/>
            </a:pPr>
            <a:r>
              <a:rPr sz="1200" b="0" i="0">
                <a:solidFill>
                  <a:srgbClr val="222222"/>
                </a:solidFill>
                <a:latin typeface="Arial"/>
              </a:rPr>
              <a:t>Human review only — no automatic sanctions, and officers can see and contest their report</a:t>
            </a:r>
          </a:p>
          <a:p>
            <a:pPr algn="l" marL="155448" indent="-155448">
              <a:spcAft>
                <a:spcPts val="600"/>
              </a:spcAft>
              <a:buChar char="•"/>
            </a:pPr>
            <a:r>
              <a:rPr sz="1200" b="0" i="0">
                <a:solidFill>
                  <a:srgbClr val="222222"/>
                </a:solidFill>
                <a:latin typeface="Arial"/>
              </a:rPr>
              <a:t>Retrained every year, and monitored for drift</a:t>
            </a:r>
          </a:p>
          <a:p>
            <a:pPr algn="l" marL="155448" indent="-155448">
              <a:buChar char="•"/>
            </a:pPr>
            <a:r>
              <a:rPr sz="1200" b="0" i="0">
                <a:solidFill>
                  <a:srgbClr val="222222"/>
                </a:solidFill>
                <a:latin typeface="Arial"/>
              </a:rPr>
              <a:t>Method published to the oversight board, plus the threshold test as the next check</a:t>
            </a:r>
          </a:p>
        </p:txBody>
      </p:sp>
      <p:sp>
        <p:nvSpPr>
          <p:cNvPr id="11" name="Rectangle 10"/>
          <p:cNvSpPr/>
          <p:nvPr/>
        </p:nvSpPr>
        <p:spPr>
          <a:xfrm>
            <a:off x="6949440" y="4114800"/>
            <a:ext cx="4693615" cy="68580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14032" y="4114800"/>
            <a:ext cx="4364431" cy="685800"/>
          </a:xfrm>
          <a:prstGeom prst="rect">
            <a:avLst/>
          </a:prstGeom>
          <a:noFill/>
        </p:spPr>
        <p:txBody>
          <a:bodyPr wrap="square" lIns="0" rIns="0" tIns="0" bIns="0" anchor="ctr">
            <a:spAutoFit/>
          </a:bodyPr>
          <a:lstStyle/>
          <a:p>
            <a:pPr algn="l"/>
            <a:r>
              <a:rPr sz="1100" b="0" i="0">
                <a:solidFill>
                  <a:srgbClr val="222222"/>
                </a:solidFill>
                <a:latin typeface="Arial"/>
              </a:rPr>
              <a:t>This also satisfies the trustworthy-AI requirements the course asks for (human oversight, transparency, fairness) that a roadside score fails — full checklist in backup.</a:t>
            </a:r>
          </a:p>
        </p:txBody>
      </p:sp>
      <p:sp>
        <p:nvSpPr>
          <p:cNvPr id="13" name="Rectangle 12"/>
          <p:cNvSpPr/>
          <p:nvPr/>
        </p:nvSpPr>
        <p:spPr>
          <a:xfrm>
            <a:off x="548640" y="5212080"/>
            <a:ext cx="11094415" cy="566928"/>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212080"/>
            <a:ext cx="10728655" cy="566928"/>
          </a:xfrm>
          <a:prstGeom prst="rect">
            <a:avLst/>
          </a:prstGeom>
          <a:noFill/>
        </p:spPr>
        <p:txBody>
          <a:bodyPr wrap="square" lIns="0" rIns="0" tIns="0" bIns="0" anchor="ctr">
            <a:spAutoFit/>
          </a:bodyPr>
          <a:lstStyle/>
          <a:p>
            <a:pPr algn="l"/>
            <a:r>
              <a:rPr sz="1250" b="1" i="0">
                <a:solidFill>
                  <a:srgbClr val="1976D2"/>
                </a:solidFill>
                <a:latin typeface="Arial"/>
              </a:rPr>
              <a:t>Issue    </a:t>
            </a:r>
            <a:r>
              <a:rPr sz="1250" b="0" i="0">
                <a:solidFill>
                  <a:srgbClr val="222222"/>
                </a:solidFill>
                <a:latin typeface="Arial"/>
              </a:rPr>
              <a:t>whether to launch the supervisor-review pilot and publish the method to the oversight board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Backup</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Only the officer record adds signal, and it uses strictly past events</a:t>
            </a:r>
          </a:p>
        </p:txBody>
      </p:sp>
      <p:sp>
        <p:nvSpPr>
          <p:cNvPr id="4" name="TextBox 3"/>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MASTER §3; scripts_claude/features_and_augmentation.md, build_officer_features.py.</a:t>
            </a:r>
          </a:p>
        </p:txBody>
      </p:sp>
      <p:sp>
        <p:nvSpPr>
          <p:cNvPr id="5" name="TextBox 4"/>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14</a:t>
            </a:r>
          </a:p>
        </p:txBody>
      </p:sp>
      <p:graphicFrame>
        <p:nvGraphicFramePr>
          <p:cNvPr id="6" name="Table 5"/>
          <p:cNvGraphicFramePr>
            <a:graphicFrameLocks noGrp="1"/>
          </p:cNvGraphicFramePr>
          <p:nvPr/>
        </p:nvGraphicFramePr>
        <p:xfrm>
          <a:off x="548640" y="1600200"/>
          <a:ext cx="11094415" cy="2880360"/>
        </p:xfrm>
        <a:graphic>
          <a:graphicData uri="http://schemas.openxmlformats.org/drawingml/2006/table">
            <a:tbl>
              <a:tblPr>
                <a:tableStyleId>{2D5ABB26-0587-4C30-8999-92F81FD0307C}</a:tableStyleId>
              </a:tblPr>
              <a:tblGrid>
                <a:gridCol w="1828800"/>
                <a:gridCol w="4206240"/>
                <a:gridCol w="1828800"/>
                <a:gridCol w="3230575"/>
              </a:tblGrid>
              <a:tr h="365760">
                <a:tc>
                  <a:txBody>
                    <a:bodyPr wrap="square"/>
                    <a:lstStyle/>
                    <a:p>
                      <a:pPr algn="l"/>
                      <a:r>
                        <a:rPr sz="1050" b="1" i="0">
                          <a:solidFill>
                            <a:srgbClr val="222222"/>
                          </a:solidFill>
                          <a:latin typeface="Arial"/>
                        </a:rPr>
                        <a:t>Block</a:t>
                      </a:r>
                    </a:p>
                  </a:txBody>
                  <a:tcPr marL="64008" marR="64008" marT="36576" marB="36576" anchor="ctr">
                    <a:lnL w="0">
                      <a:noFill/>
                    </a:lnL>
                    <a:lnR w="0">
                      <a:noFill/>
                    </a:lnR>
                    <a:lnT w="0">
                      <a:noFill/>
                    </a:lnT>
                    <a:lnB w="12700">
                      <a:solidFill>
                        <a:srgbClr val="222222"/>
                      </a:solidFill>
                    </a:lnB>
                    <a:noFill/>
                  </a:tcPr>
                </a:tc>
                <a:tc>
                  <a:txBody>
                    <a:bodyPr wrap="square"/>
                    <a:lstStyle/>
                    <a:p>
                      <a:pPr algn="l"/>
                      <a:r>
                        <a:rPr sz="1050" b="1" i="0">
                          <a:solidFill>
                            <a:srgbClr val="222222"/>
                          </a:solidFill>
                          <a:latin typeface="Arial"/>
                        </a:rPr>
                        <a:t>Content</a:t>
                      </a:r>
                    </a:p>
                  </a:txBody>
                  <a:tcPr marL="64008" marR="64008" marT="36576" marB="36576" anchor="ctr">
                    <a:lnL w="0">
                      <a:noFill/>
                    </a:lnL>
                    <a:lnR w="0">
                      <a:noFill/>
                    </a:lnR>
                    <a:lnT w="0">
                      <a:noFill/>
                    </a:lnT>
                    <a:lnB w="12700">
                      <a:solidFill>
                        <a:srgbClr val="222222"/>
                      </a:solidFill>
                    </a:lnB>
                    <a:noFill/>
                  </a:tcPr>
                </a:tc>
                <a:tc>
                  <a:txBody>
                    <a:bodyPr wrap="square"/>
                    <a:lstStyle/>
                    <a:p>
                      <a:pPr algn="l"/>
                      <a:r>
                        <a:rPr sz="1050" b="1" i="0">
                          <a:solidFill>
                            <a:srgbClr val="222222"/>
                          </a:solidFill>
                          <a:latin typeface="Arial"/>
                        </a:rPr>
                        <a:t>Predicts contraband?</a:t>
                      </a:r>
                    </a:p>
                  </a:txBody>
                  <a:tcPr marL="64008" marR="64008" marT="36576" marB="36576" anchor="ctr">
                    <a:lnL w="0">
                      <a:noFill/>
                    </a:lnL>
                    <a:lnR w="0">
                      <a:noFill/>
                    </a:lnR>
                    <a:lnT w="0">
                      <a:noFill/>
                    </a:lnT>
                    <a:lnB w="12700">
                      <a:solidFill>
                        <a:srgbClr val="222222"/>
                      </a:solidFill>
                    </a:lnB>
                    <a:noFill/>
                  </a:tcPr>
                </a:tc>
                <a:tc>
                  <a:txBody>
                    <a:bodyPr wrap="square"/>
                    <a:lstStyle/>
                    <a:p>
                      <a:pPr algn="l"/>
                      <a:r>
                        <a:rPr sz="1050" b="1" i="0">
                          <a:solidFill>
                            <a:srgbClr val="222222"/>
                          </a:solidFill>
                          <a:latin typeface="Arial"/>
                        </a:rPr>
                        <a:t>Note</a:t>
                      </a:r>
                    </a:p>
                  </a:txBody>
                  <a:tcPr marL="64008" marR="64008" marT="36576" marB="36576" anchor="ctr">
                    <a:lnL w="0">
                      <a:noFill/>
                    </a:lnL>
                    <a:lnR w="0">
                      <a:noFill/>
                    </a:lnR>
                    <a:lnT w="0">
                      <a:noFill/>
                    </a:lnT>
                    <a:lnB w="12700">
                      <a:solidFill>
                        <a:srgbClr val="222222"/>
                      </a:solidFill>
                    </a:lnB>
                    <a:noFill/>
                  </a:tcPr>
                </a:tc>
              </a:tr>
              <a:tr h="502920">
                <a:tc>
                  <a:txBody>
                    <a:bodyPr wrap="square"/>
                    <a:lstStyle/>
                    <a:p>
                      <a:pPr algn="l"/>
                      <a:r>
                        <a:rPr sz="1050" b="1" i="0">
                          <a:solidFill>
                            <a:srgbClr val="222222"/>
                          </a:solidFill>
                          <a:latin typeface="Arial"/>
                        </a:rPr>
                        <a:t>Stop and driver</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Age, sex, race, precinct, zone, reason for stop, plate state, hour, weekday, month</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AUC 0.55–0.57</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The task as posed (Act I)</a:t>
                      </a:r>
                    </a:p>
                  </a:txBody>
                  <a:tcPr marL="64008" marR="64008" marT="36576" marB="36576" anchor="ctr">
                    <a:lnL w="0">
                      <a:noFill/>
                    </a:lnL>
                    <a:lnR w="0">
                      <a:noFill/>
                    </a:lnR>
                    <a:lnT w="0">
                      <a:noFill/>
                    </a:lnT>
                    <a:lnB w="9525">
                      <a:solidFill>
                        <a:srgbClr val="D9DEE3"/>
                      </a:solidFill>
                    </a:lnB>
                    <a:noFill/>
                  </a:tcPr>
                </a:tc>
              </a:tr>
              <a:tr h="502920">
                <a:tc>
                  <a:txBody>
                    <a:bodyPr wrap="square"/>
                    <a:lstStyle/>
                    <a:p>
                      <a:pPr algn="l"/>
                      <a:r>
                        <a:rPr sz="1050" b="1" i="0">
                          <a:solidFill>
                            <a:srgbClr val="222222"/>
                          </a:solidFill>
                          <a:latin typeface="Arial"/>
                        </a:rPr>
                        <a:t>Time</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7 cyclical and calendar features</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+0.007</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The only block that helps in Act I</a:t>
                      </a:r>
                    </a:p>
                  </a:txBody>
                  <a:tcPr marL="64008" marR="64008" marT="36576" marB="36576" anchor="ctr">
                    <a:lnL w="0">
                      <a:noFill/>
                    </a:lnL>
                    <a:lnR w="0">
                      <a:noFill/>
                    </a:lnR>
                    <a:lnT w="0">
                      <a:noFill/>
                    </a:lnT>
                    <a:lnB w="9525">
                      <a:solidFill>
                        <a:srgbClr val="D9DEE3"/>
                      </a:solidFill>
                    </a:lnB>
                    <a:noFill/>
                  </a:tcPr>
                </a:tc>
              </a:tr>
              <a:tr h="502920">
                <a:tc>
                  <a:txBody>
                    <a:bodyPr wrap="square"/>
                    <a:lstStyle/>
                    <a:p>
                      <a:pPr algn="l"/>
                      <a:r>
                        <a:rPr sz="1050" b="1" i="0">
                          <a:solidFill>
                            <a:srgbClr val="222222"/>
                          </a:solidFill>
                          <a:latin typeface="Arial"/>
                        </a:rPr>
                        <a:t>Neighbourhood (ACS)</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800 m / 1,200 m population-weighted circles, release before the stop year</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Adds nothing once fixed</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As first shipped, a year fingerprint (AUC 0.998 for the 2016 split); predicts race at 0.69–0.73</a:t>
                      </a:r>
                    </a:p>
                  </a:txBody>
                  <a:tcPr marL="64008" marR="64008" marT="36576" marB="36576" anchor="ctr">
                    <a:lnL w="0">
                      <a:noFill/>
                    </a:lnL>
                    <a:lnR w="0">
                      <a:noFill/>
                    </a:lnR>
                    <a:lnT w="0">
                      <a:noFill/>
                    </a:lnT>
                    <a:lnB w="9525">
                      <a:solidFill>
                        <a:srgbClr val="D9DEE3"/>
                      </a:solidFill>
                    </a:lnB>
                    <a:noFill/>
                  </a:tcPr>
                </a:tc>
              </a:tr>
              <a:tr h="502920">
                <a:tc>
                  <a:txBody>
                    <a:bodyPr wrap="square"/>
                    <a:lstStyle/>
                    <a:p>
                      <a:pPr algn="l"/>
                      <a:r>
                        <a:rPr sz="1050" b="1" i="0">
                          <a:solidFill>
                            <a:srgbClr val="222222"/>
                          </a:solidFill>
                          <a:latin typeface="Arial"/>
                        </a:rPr>
                        <a:t>Plate</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State, region, distance</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No</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Re-encodes plate state; plate_missing is a 2017 recording change</a:t>
                      </a:r>
                    </a:p>
                  </a:txBody>
                  <a:tcPr marL="64008" marR="64008" marT="36576" marB="36576" anchor="ctr">
                    <a:lnL w="0">
                      <a:noFill/>
                    </a:lnL>
                    <a:lnR w="0">
                      <a:noFill/>
                    </a:lnR>
                    <a:lnT w="0">
                      <a:noFill/>
                    </a:lnT>
                    <a:lnB w="9525">
                      <a:solidFill>
                        <a:srgbClr val="D9DEE3"/>
                      </a:solidFill>
                    </a:lnB>
                    <a:noFill/>
                  </a:tcPr>
                </a:tc>
              </a:tr>
              <a:tr h="502920">
                <a:tc>
                  <a:txBody>
                    <a:bodyPr wrap="square"/>
                    <a:lstStyle/>
                    <a:p>
                      <a:pPr algn="l"/>
                      <a:r>
                        <a:rPr sz="1050" b="1" i="0">
                          <a:solidFill>
                            <a:srgbClr val="222222"/>
                          </a:solidFill>
                          <a:latin typeface="Arial"/>
                        </a:rPr>
                        <a:t>Officer record</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25 features from the searching officer's own earlier stops</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+0.07 pooled AUC</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A measuring instrument, not a deployable input</a:t>
                      </a:r>
                    </a:p>
                  </a:txBody>
                  <a:tcPr marL="64008" marR="64008" marT="36576" marB="36576" anchor="ctr">
                    <a:lnL w="0">
                      <a:noFill/>
                    </a:lnL>
                    <a:lnR w="0">
                      <a:noFill/>
                    </a:lnR>
                    <a:lnT w="0">
                      <a:noFill/>
                    </a:lnT>
                    <a:lnB w="9525">
                      <a:solidFill>
                        <a:srgbClr val="D9DEE3"/>
                      </a:solidFill>
                    </a:lnB>
                    <a:noFill/>
                  </a:tcPr>
                </a:tc>
              </a:tr>
            </a:tbl>
          </a:graphicData>
        </a:graphic>
      </p:graphicFrame>
      <p:sp>
        <p:nvSpPr>
          <p:cNvPr id="7" name="TextBox 6"/>
          <p:cNvSpPr txBox="1"/>
          <p:nvPr/>
        </p:nvSpPr>
        <p:spPr>
          <a:xfrm>
            <a:off x="548640" y="4892040"/>
            <a:ext cx="11094415" cy="1097280"/>
          </a:xfrm>
          <a:prstGeom prst="rect">
            <a:avLst/>
          </a:prstGeom>
          <a:noFill/>
        </p:spPr>
        <p:txBody>
          <a:bodyPr wrap="square" lIns="0" rIns="0" tIns="0" bIns="0" anchor="t">
            <a:spAutoFit/>
          </a:bodyPr>
          <a:lstStyle/>
          <a:p>
            <a:pPr algn="l">
              <a:spcAft>
                <a:spcPts val="300"/>
              </a:spcAft>
            </a:pPr>
            <a:r>
              <a:rPr sz="1200" b="1" i="0">
                <a:solidFill>
                  <a:srgbClr val="1976D2"/>
                </a:solidFill>
                <a:latin typeface="Arial"/>
              </a:rPr>
              <a:t>Leakage controls</a:t>
            </a:r>
          </a:p>
          <a:p>
            <a:pPr algn="l" marL="155448" indent="-155448">
              <a:spcAft>
                <a:spcPts val="200"/>
              </a:spcAft>
              <a:buChar char="•"/>
            </a:pPr>
            <a:r>
              <a:rPr sz="1050" b="0" i="0">
                <a:solidFill>
                  <a:srgbClr val="222222"/>
                </a:solidFill>
                <a:latin typeface="Arial"/>
              </a:rPr>
              <a:t>The 11 post-decision columns carry a post_ prefix and are blocked.</a:t>
            </a:r>
          </a:p>
          <a:p>
            <a:pPr algn="l" marL="155448" indent="-155448">
              <a:spcAft>
                <a:spcPts val="200"/>
              </a:spcAft>
              <a:buChar char="•"/>
            </a:pPr>
            <a:r>
              <a:rPr sz="1050" b="0" i="0">
                <a:solidFill>
                  <a:srgbClr val="222222"/>
                </a:solidFill>
                <a:latin typeface="Arial"/>
              </a:rPr>
              <a:t>Officer features use only events strictly before the stop: same-minute stops never see each other, the stop's own outcome is never counted; checked by brute force on 400 random stops.</a:t>
            </a:r>
          </a:p>
          <a:p>
            <a:pPr algn="l" marL="155448" indent="-155448">
              <a:buChar char="•"/>
            </a:pPr>
            <a:r>
              <a:rPr sz="1050" b="0" i="0">
                <a:solidFill>
                  <a:srgbClr val="222222"/>
                </a:solidFill>
                <a:latin typeface="Arial"/>
              </a:rPr>
              <a:t>PLTR re-learns its rules inside each cross-validation fold; on pure noise it gives CV AUC 0.505.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Backup</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The officer-record result holds across years, unseen officers and resamples</a:t>
            </a:r>
          </a:p>
        </p:txBody>
      </p:sp>
      <p:sp>
        <p:nvSpPr>
          <p:cNvPr id="4" name="TextBox 3"/>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data/officer_model_diagnostics.json §A, data/officer_holdout_stability.json, data/pltr_whitebox_report.json; XGBoost: reports/xgboost_officer (Julia). MASTER §6.1–6.2.</a:t>
            </a:r>
          </a:p>
        </p:txBody>
      </p:sp>
      <p:sp>
        <p:nvSpPr>
          <p:cNvPr id="5" name="TextBox 4"/>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15</a:t>
            </a:r>
          </a:p>
        </p:txBody>
      </p:sp>
      <p:graphicFrame>
        <p:nvGraphicFramePr>
          <p:cNvPr id="6" name="Table 5"/>
          <p:cNvGraphicFramePr>
            <a:graphicFrameLocks noGrp="1"/>
          </p:cNvGraphicFramePr>
          <p:nvPr/>
        </p:nvGraphicFramePr>
        <p:xfrm>
          <a:off x="548640" y="1600200"/>
          <a:ext cx="11094415" cy="3657600"/>
        </p:xfrm>
        <a:graphic>
          <a:graphicData uri="http://schemas.openxmlformats.org/drawingml/2006/table">
            <a:tbl>
              <a:tblPr>
                <a:tableStyleId>{2D5ABB26-0587-4C30-8999-92F81FD0307C}</a:tableStyleId>
              </a:tblPr>
              <a:tblGrid>
                <a:gridCol w="2743200"/>
                <a:gridCol w="4206240"/>
                <a:gridCol w="4144975"/>
              </a:tblGrid>
              <a:tr h="365760">
                <a:tc>
                  <a:txBody>
                    <a:bodyPr wrap="square"/>
                    <a:lstStyle/>
                    <a:p>
                      <a:pPr algn="l"/>
                      <a:r>
                        <a:rPr sz="1100" b="1" i="0">
                          <a:solidFill>
                            <a:srgbClr val="222222"/>
                          </a:solidFill>
                          <a:latin typeface="Arial"/>
                        </a:rPr>
                        <a:t>Check</a:t>
                      </a:r>
                    </a:p>
                  </a:txBody>
                  <a:tcPr marL="64008" marR="64008" marT="36576" marB="36576" anchor="ctr">
                    <a:lnL w="0">
                      <a:noFill/>
                    </a:lnL>
                    <a:lnR w="0">
                      <a:noFill/>
                    </a:lnR>
                    <a:lnT w="0">
                      <a:noFill/>
                    </a:lnT>
                    <a:lnB w="12700">
                      <a:solidFill>
                        <a:srgbClr val="222222"/>
                      </a:solidFill>
                    </a:lnB>
                    <a:noFill/>
                  </a:tcPr>
                </a:tc>
                <a:tc>
                  <a:txBody>
                    <a:bodyPr wrap="square"/>
                    <a:lstStyle/>
                    <a:p>
                      <a:pPr algn="l"/>
                      <a:r>
                        <a:rPr sz="1100" b="1" i="0">
                          <a:solidFill>
                            <a:srgbClr val="222222"/>
                          </a:solidFill>
                          <a:latin typeface="Arial"/>
                        </a:rPr>
                        <a:t>White box (PLTR, 19 rules)</a:t>
                      </a:r>
                    </a:p>
                  </a:txBody>
                  <a:tcPr marL="64008" marR="64008" marT="36576" marB="36576" anchor="ctr">
                    <a:lnL w="0">
                      <a:noFill/>
                    </a:lnL>
                    <a:lnR w="0">
                      <a:noFill/>
                    </a:lnR>
                    <a:lnT w="0">
                      <a:noFill/>
                    </a:lnT>
                    <a:lnB w="12700">
                      <a:solidFill>
                        <a:srgbClr val="222222"/>
                      </a:solidFill>
                    </a:lnB>
                    <a:noFill/>
                  </a:tcPr>
                </a:tc>
                <a:tc>
                  <a:txBody>
                    <a:bodyPr wrap="square"/>
                    <a:lstStyle/>
                    <a:p>
                      <a:pPr algn="l"/>
                      <a:r>
                        <a:rPr sz="1100" b="1" i="0">
                          <a:solidFill>
                            <a:srgbClr val="222222"/>
                          </a:solidFill>
                          <a:latin typeface="Arial"/>
                        </a:rPr>
                        <a:t>XGBoost + officer record</a:t>
                      </a:r>
                    </a:p>
                  </a:txBody>
                  <a:tcPr marL="64008" marR="64008" marT="36576" marB="36576" anchor="ctr">
                    <a:lnL w="0">
                      <a:noFill/>
                    </a:lnL>
                    <a:lnR w="0">
                      <a:noFill/>
                    </a:lnR>
                    <a:lnT w="0">
                      <a:noFill/>
                    </a:lnT>
                    <a:lnB w="12700">
                      <a:solidFill>
                        <a:srgbClr val="222222"/>
                      </a:solidFill>
                    </a:lnB>
                    <a:noFill/>
                  </a:tcPr>
                </a:tc>
              </a:tr>
              <a:tr h="548640">
                <a:tc>
                  <a:txBody>
                    <a:bodyPr wrap="square"/>
                    <a:lstStyle/>
                    <a:p>
                      <a:pPr algn="l"/>
                      <a:r>
                        <a:rPr sz="1100" b="1" i="0">
                          <a:solidFill>
                            <a:srgbClr val="222222"/>
                          </a:solidFill>
                          <a:latin typeface="Arial"/>
                        </a:rPr>
                        <a:t>Test AUC 2016 / 2017 / 2018</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0.625 / 0.651 / 0.605</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0.637 / 0.648 / 0.628</a:t>
                      </a:r>
                    </a:p>
                  </a:txBody>
                  <a:tcPr marL="64008" marR="64008" marT="36576" marB="36576" anchor="ctr">
                    <a:lnL w="0">
                      <a:noFill/>
                    </a:lnL>
                    <a:lnR w="0">
                      <a:noFill/>
                    </a:lnR>
                    <a:lnT w="0">
                      <a:noFill/>
                    </a:lnT>
                    <a:lnB w="9525">
                      <a:solidFill>
                        <a:srgbClr val="D9DEE3"/>
                      </a:solidFill>
                    </a:lnB>
                    <a:noFill/>
                  </a:tcPr>
                </a:tc>
              </a:tr>
              <a:tr h="548640">
                <a:tc>
                  <a:txBody>
                    <a:bodyPr wrap="square"/>
                    <a:lstStyle/>
                    <a:p>
                      <a:pPr algn="l"/>
                      <a:r>
                        <a:rPr sz="1100" b="1" i="0">
                          <a:solidFill>
                            <a:srgbClr val="222222"/>
                          </a:solidFill>
                          <a:latin typeface="Arial"/>
                        </a:rPr>
                        <a:t>Officers never seen in training</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0.629</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0.643</a:t>
                      </a:r>
                    </a:p>
                  </a:txBody>
                  <a:tcPr marL="64008" marR="64008" marT="36576" marB="36576" anchor="ctr">
                    <a:lnL w="0">
                      <a:noFill/>
                    </a:lnL>
                    <a:lnR w="0">
                      <a:noFill/>
                    </a:lnR>
                    <a:lnT w="0">
                      <a:noFill/>
                    </a:lnT>
                    <a:lnB w="9525">
                      <a:solidFill>
                        <a:srgbClr val="D9DEE3"/>
                      </a:solidFill>
                    </a:lnB>
                    <a:noFill/>
                  </a:tcPr>
                </a:tc>
              </a:tr>
              <a:tr h="548640">
                <a:tc>
                  <a:txBody>
                    <a:bodyPr wrap="square"/>
                    <a:lstStyle/>
                    <a:p>
                      <a:pPr algn="l"/>
                      <a:r>
                        <a:rPr sz="1100" b="1" i="0">
                          <a:solidFill>
                            <a:srgbClr val="222222"/>
                          </a:solidFill>
                          <a:latin typeface="Arial"/>
                        </a:rPr>
                        <a:t>5 other draws of held-out officers</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0.618 ± 0.026</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0.635 (0.595–0.695)</a:t>
                      </a:r>
                    </a:p>
                  </a:txBody>
                  <a:tcPr marL="64008" marR="64008" marT="36576" marB="36576" anchor="ctr">
                    <a:lnL w="0">
                      <a:noFill/>
                    </a:lnL>
                    <a:lnR w="0">
                      <a:noFill/>
                    </a:lnR>
                    <a:lnT w="0">
                      <a:noFill/>
                    </a:lnT>
                    <a:lnB w="9525">
                      <a:solidFill>
                        <a:srgbClr val="D9DEE3"/>
                      </a:solidFill>
                    </a:lnB>
                    <a:noFill/>
                  </a:tcPr>
                </a:tc>
              </a:tr>
              <a:tr h="548640">
                <a:tc>
                  <a:txBody>
                    <a:bodyPr wrap="square"/>
                    <a:lstStyle/>
                    <a:p>
                      <a:pPr algn="l"/>
                      <a:r>
                        <a:rPr sz="1100" b="1" i="0">
                          <a:solidFill>
                            <a:srgbClr val="222222"/>
                          </a:solidFill>
                          <a:latin typeface="Arial"/>
                        </a:rPr>
                        <a:t>Resampling</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50 bootstraps: AUC 0.630 ± 0.004; 0 sign changes among selected rules</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10 seeds 0.640 ± 0.002; 20 bootstraps 0.635 [0.628, 0.641]</a:t>
                      </a:r>
                    </a:p>
                  </a:txBody>
                  <a:tcPr marL="64008" marR="64008" marT="36576" marB="36576" anchor="ctr">
                    <a:lnL w="0">
                      <a:noFill/>
                    </a:lnL>
                    <a:lnR w="0">
                      <a:noFill/>
                    </a:lnR>
                    <a:lnT w="0">
                      <a:noFill/>
                    </a:lnT>
                    <a:lnB w="9525">
                      <a:solidFill>
                        <a:srgbClr val="D9DEE3"/>
                      </a:solidFill>
                    </a:lnB>
                    <a:noFill/>
                  </a:tcPr>
                </a:tc>
              </a:tr>
              <a:tr h="548640">
                <a:tc>
                  <a:txBody>
                    <a:bodyPr wrap="square"/>
                    <a:lstStyle/>
                    <a:p>
                      <a:pPr algn="l"/>
                      <a:r>
                        <a:rPr sz="1100" b="1" i="0">
                          <a:solidFill>
                            <a:srgbClr val="222222"/>
                          </a:solidFill>
                          <a:latin typeface="Arial"/>
                        </a:rPr>
                        <a:t>What stays</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Officer consent hit rate selected in every resample (OR 1.25–1.48); rules sharing variables carry 62% of importance</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Importance ranking correlates 0.94 across bootstraps, 0.85 across eras</a:t>
                      </a:r>
                    </a:p>
                  </a:txBody>
                  <a:tcPr marL="64008" marR="64008" marT="36576" marB="36576" anchor="ctr">
                    <a:lnL w="0">
                      <a:noFill/>
                    </a:lnL>
                    <a:lnR w="0">
                      <a:noFill/>
                    </a:lnR>
                    <a:lnT w="0">
                      <a:noFill/>
                    </a:lnT>
                    <a:lnB w="9525">
                      <a:solidFill>
                        <a:srgbClr val="D9DEE3"/>
                      </a:solidFill>
                    </a:lnB>
                    <a:noFill/>
                  </a:tcPr>
                </a:tc>
              </a:tr>
              <a:tr h="548640">
                <a:tc>
                  <a:txBody>
                    <a:bodyPr wrap="square"/>
                    <a:lstStyle/>
                    <a:p>
                      <a:pPr algn="l"/>
                      <a:r>
                        <a:rPr sz="1100" b="1" i="0">
                          <a:solidFill>
                            <a:srgbClr val="222222"/>
                          </a:solidFill>
                          <a:latin typeface="Arial"/>
                        </a:rPr>
                        <a:t>Drift</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AUC drops in 2018</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Top officer features drift strongly (PSI 0.75–0.95)</a:t>
                      </a:r>
                    </a:p>
                  </a:txBody>
                  <a:tcPr marL="64008" marR="64008" marT="36576" marB="36576" anchor="ctr">
                    <a:lnL w="0">
                      <a:noFill/>
                    </a:lnL>
                    <a:lnR w="0">
                      <a:noFill/>
                    </a:lnR>
                    <a:lnT w="0">
                      <a:noFill/>
                    </a:lnT>
                    <a:lnB w="9525">
                      <a:solidFill>
                        <a:srgbClr val="D9DEE3"/>
                      </a:solidFill>
                    </a:lnB>
                    <a:noFill/>
                  </a:tcPr>
                </a:tc>
              </a:tr>
            </a:tbl>
          </a:graphicData>
        </a:graphic>
      </p:graphicFrame>
      <p:sp>
        <p:nvSpPr>
          <p:cNvPr id="7" name="TextBox 6"/>
          <p:cNvSpPr txBox="1"/>
          <p:nvPr/>
        </p:nvSpPr>
        <p:spPr>
          <a:xfrm>
            <a:off x="548640" y="5577840"/>
            <a:ext cx="11094415" cy="365760"/>
          </a:xfrm>
          <a:prstGeom prst="rect">
            <a:avLst/>
          </a:prstGeom>
          <a:noFill/>
        </p:spPr>
        <p:txBody>
          <a:bodyPr wrap="square" lIns="0" rIns="0" tIns="0" bIns="0" anchor="t">
            <a:spAutoFit/>
          </a:bodyPr>
          <a:lstStyle/>
          <a:p>
            <a:pPr algn="l"/>
            <a:r>
              <a:rPr sz="1100" b="1" i="0">
                <a:solidFill>
                  <a:srgbClr val="222222"/>
                </a:solidFill>
                <a:latin typeface="Arial"/>
              </a:rPr>
              <a:t>Consequence for deployment: retrain yearly and monitor drift (slide 13).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Backup</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The white box in full: 19 rules, read as a sum of log-odds</a:t>
            </a:r>
          </a:p>
        </p:txBody>
      </p:sp>
      <p:sp>
        <p:nvSpPr>
          <p:cNvPr id="4" name="TextBox 3"/>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data/pltr_terms.json (temporal split, officer record, 1-SE rule then at most 30 terms).</a:t>
            </a:r>
          </a:p>
        </p:txBody>
      </p:sp>
      <p:sp>
        <p:nvSpPr>
          <p:cNvPr id="5" name="TextBox 4"/>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16</a:t>
            </a:r>
          </a:p>
        </p:txBody>
      </p:sp>
      <p:graphicFrame>
        <p:nvGraphicFramePr>
          <p:cNvPr id="6" name="Table 5"/>
          <p:cNvGraphicFramePr>
            <a:graphicFrameLocks noGrp="1"/>
          </p:cNvGraphicFramePr>
          <p:nvPr/>
        </p:nvGraphicFramePr>
        <p:xfrm>
          <a:off x="548640" y="1481328"/>
          <a:ext cx="11094415" cy="4622292"/>
        </p:xfrm>
        <a:graphic>
          <a:graphicData uri="http://schemas.openxmlformats.org/drawingml/2006/table">
            <a:tbl>
              <a:tblPr>
                <a:tableStyleId>{2D5ABB26-0587-4C30-8999-92F81FD0307C}</a:tableStyleId>
              </a:tblPr>
              <a:tblGrid>
                <a:gridCol w="6126480"/>
                <a:gridCol w="1554480"/>
                <a:gridCol w="1645920"/>
                <a:gridCol w="1767535"/>
              </a:tblGrid>
              <a:tr h="365760">
                <a:tc>
                  <a:txBody>
                    <a:bodyPr wrap="square"/>
                    <a:lstStyle/>
                    <a:p>
                      <a:pPr algn="l"/>
                      <a:r>
                        <a:rPr sz="950" b="1" i="0">
                          <a:solidFill>
                            <a:srgbClr val="222222"/>
                          </a:solidFill>
                          <a:latin typeface="Arial"/>
                        </a:rPr>
                        <a:t>Rule</a:t>
                      </a:r>
                    </a:p>
                  </a:txBody>
                  <a:tcPr marL="64008" marR="64008" marT="36576" marB="36576" anchor="ctr">
                    <a:lnL w="0">
                      <a:noFill/>
                    </a:lnL>
                    <a:lnR w="0">
                      <a:noFill/>
                    </a:lnR>
                    <a:lnT w="0">
                      <a:noFill/>
                    </a:lnT>
                    <a:lnB w="12700">
                      <a:solidFill>
                        <a:srgbClr val="222222"/>
                      </a:solidFill>
                    </a:lnB>
                    <a:noFill/>
                  </a:tcPr>
                </a:tc>
                <a:tc>
                  <a:txBody>
                    <a:bodyPr wrap="square"/>
                    <a:lstStyle/>
                    <a:p>
                      <a:pPr algn="r"/>
                      <a:r>
                        <a:rPr sz="950" b="1" i="0">
                          <a:solidFill>
                            <a:srgbClr val="222222"/>
                          </a:solidFill>
                          <a:latin typeface="Arial"/>
                        </a:rPr>
                        <a:t>Odds ratio</a:t>
                      </a:r>
                    </a:p>
                  </a:txBody>
                  <a:tcPr marL="64008" marR="64008" marT="36576" marB="36576" anchor="ctr">
                    <a:lnL w="0">
                      <a:noFill/>
                    </a:lnL>
                    <a:lnR w="0">
                      <a:noFill/>
                    </a:lnR>
                    <a:lnT w="0">
                      <a:noFill/>
                    </a:lnT>
                    <a:lnB w="12700">
                      <a:solidFill>
                        <a:srgbClr val="222222"/>
                      </a:solidFill>
                    </a:lnB>
                    <a:noFill/>
                  </a:tcPr>
                </a:tc>
                <a:tc>
                  <a:txBody>
                    <a:bodyPr wrap="square"/>
                    <a:lstStyle/>
                    <a:p>
                      <a:pPr algn="r"/>
                      <a:r>
                        <a:rPr sz="950" b="1" i="0">
                          <a:solidFill>
                            <a:srgbClr val="222222"/>
                          </a:solidFill>
                          <a:latin typeface="Arial"/>
                        </a:rPr>
                        <a:t>Share of searches</a:t>
                      </a:r>
                    </a:p>
                  </a:txBody>
                  <a:tcPr marL="64008" marR="64008" marT="36576" marB="36576" anchor="ctr">
                    <a:lnL w="0">
                      <a:noFill/>
                    </a:lnL>
                    <a:lnR w="0">
                      <a:noFill/>
                    </a:lnR>
                    <a:lnT w="0">
                      <a:noFill/>
                    </a:lnT>
                    <a:lnB w="12700">
                      <a:solidFill>
                        <a:srgbClr val="222222"/>
                      </a:solidFill>
                    </a:lnB>
                    <a:noFill/>
                  </a:tcPr>
                </a:tc>
                <a:tc>
                  <a:txBody>
                    <a:bodyPr wrap="square"/>
                    <a:lstStyle/>
                    <a:p>
                      <a:pPr algn="r"/>
                      <a:r>
                        <a:rPr sz="950" b="1" i="0">
                          <a:solidFill>
                            <a:srgbClr val="222222"/>
                          </a:solidFill>
                          <a:latin typeface="Arial"/>
                        </a:rPr>
                        <a:t>Share of importance</a:t>
                      </a:r>
                    </a:p>
                  </a:txBody>
                  <a:tcPr marL="64008" marR="64008" marT="36576" marB="36576" anchor="ctr">
                    <a:lnL w="0">
                      <a:noFill/>
                    </a:lnL>
                    <a:lnR w="0">
                      <a:noFill/>
                    </a:lnR>
                    <a:lnT w="0">
                      <a:noFill/>
                    </a:lnT>
                    <a:lnB w="12700">
                      <a:solidFill>
                        <a:srgbClr val="222222"/>
                      </a:solidFill>
                    </a:lnB>
                    <a:noFill/>
                  </a:tcPr>
                </a:tc>
              </a:tr>
              <a:tr h="224028">
                <a:tc>
                  <a:txBody>
                    <a:bodyPr wrap="square"/>
                    <a:lstStyle/>
                    <a:p>
                      <a:pPr algn="l"/>
                      <a:r>
                        <a:rPr sz="950" b="0" i="0">
                          <a:solidFill>
                            <a:srgbClr val="222222"/>
                          </a:solidFill>
                          <a:latin typeface="Arial"/>
                        </a:rPr>
                        <a:t>Officer's past-year consent hit rate (per SD)</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1.43</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100%</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32.0%</a:t>
                      </a:r>
                    </a:p>
                  </a:txBody>
                  <a:tcPr marL="64008" marR="64008" marT="36576" marB="36576" anchor="ctr">
                    <a:lnL w="0">
                      <a:noFill/>
                    </a:lnL>
                    <a:lnR w="0">
                      <a:noFill/>
                    </a:lnR>
                    <a:lnT w="0">
                      <a:noFill/>
                    </a:lnT>
                    <a:lnB w="9525">
                      <a:solidFill>
                        <a:srgbClr val="D9DEE3"/>
                      </a:solidFill>
                    </a:lnB>
                    <a:noFill/>
                  </a:tcPr>
                </a:tc>
              </a:tr>
              <a:tr h="224028">
                <a:tc>
                  <a:txBody>
                    <a:bodyPr wrap="square"/>
                    <a:lstStyle/>
                    <a:p>
                      <a:pPr algn="l"/>
                      <a:r>
                        <a:rPr sz="950" b="0" i="0">
                          <a:solidFill>
                            <a:srgbClr val="222222"/>
                          </a:solidFill>
                          <a:latin typeface="Arial"/>
                        </a:rPr>
                        <a:t>Officer's past hit rate low on this driver's race and overall</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0.64</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15%</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14.4%</a:t>
                      </a:r>
                    </a:p>
                  </a:txBody>
                  <a:tcPr marL="64008" marR="64008" marT="36576" marB="36576" anchor="ctr">
                    <a:lnL w="0">
                      <a:noFill/>
                    </a:lnL>
                    <a:lnR w="0">
                      <a:noFill/>
                    </a:lnR>
                    <a:lnT w="0">
                      <a:noFill/>
                    </a:lnT>
                    <a:lnB w="9525">
                      <a:solidFill>
                        <a:srgbClr val="D9DEE3"/>
                      </a:solidFill>
                    </a:lnB>
                    <a:noFill/>
                  </a:tcPr>
                </a:tc>
              </a:tr>
              <a:tr h="224028">
                <a:tc>
                  <a:txBody>
                    <a:bodyPr wrap="square"/>
                    <a:lstStyle/>
                    <a:p>
                      <a:pPr algn="l"/>
                      <a:r>
                        <a:rPr sz="950" b="0" i="0">
                          <a:solidFill>
                            <a:srgbClr val="222222"/>
                          </a:solidFill>
                          <a:latin typeface="Arial"/>
                        </a:rPr>
                        <a:t>Driver is Hispanic</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0.71</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8%</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8.3%</a:t>
                      </a:r>
                    </a:p>
                  </a:txBody>
                  <a:tcPr marL="64008" marR="64008" marT="36576" marB="36576" anchor="ctr">
                    <a:lnL w="0">
                      <a:noFill/>
                    </a:lnL>
                    <a:lnR w="0">
                      <a:noFill/>
                    </a:lnR>
                    <a:lnT w="0">
                      <a:noFill/>
                    </a:lnT>
                    <a:lnB w="9525">
                      <a:solidFill>
                        <a:srgbClr val="D9DEE3"/>
                      </a:solidFill>
                    </a:lnB>
                    <a:noFill/>
                  </a:tcPr>
                </a:tc>
              </a:tr>
              <a:tr h="224028">
                <a:tc>
                  <a:txBody>
                    <a:bodyPr wrap="square"/>
                    <a:lstStyle/>
                    <a:p>
                      <a:pPr algn="l"/>
                      <a:r>
                        <a:rPr sz="950" b="0" i="0">
                          <a:solidFill>
                            <a:srgbClr val="222222"/>
                          </a:solidFill>
                          <a:latin typeface="Arial"/>
                        </a:rPr>
                        <a:t>Driver is white</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1.21</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36%</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8.2%</a:t>
                      </a:r>
                    </a:p>
                  </a:txBody>
                  <a:tcPr marL="64008" marR="64008" marT="36576" marB="36576" anchor="ctr">
                    <a:lnL w="0">
                      <a:noFill/>
                    </a:lnL>
                    <a:lnR w="0">
                      <a:noFill/>
                    </a:lnR>
                    <a:lnT w="0">
                      <a:noFill/>
                    </a:lnT>
                    <a:lnB w="9525">
                      <a:solidFill>
                        <a:srgbClr val="D9DEE3"/>
                      </a:solidFill>
                    </a:lnB>
                    <a:noFill/>
                  </a:tcPr>
                </a:tc>
              </a:tr>
              <a:tr h="224028">
                <a:tc>
                  <a:txBody>
                    <a:bodyPr wrap="square"/>
                    <a:lstStyle/>
                    <a:p>
                      <a:pPr algn="l"/>
                      <a:r>
                        <a:rPr sz="950" b="0" i="0">
                          <a:solidFill>
                            <a:srgbClr val="222222"/>
                          </a:solidFill>
                          <a:latin typeface="Arial"/>
                        </a:rPr>
                        <a:t>Experienced officer, first stop of the calendar day</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1.24</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21%</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7.8%</a:t>
                      </a:r>
                    </a:p>
                  </a:txBody>
                  <a:tcPr marL="64008" marR="64008" marT="36576" marB="36576" anchor="ctr">
                    <a:lnL w="0">
                      <a:noFill/>
                    </a:lnL>
                    <a:lnR w="0">
                      <a:noFill/>
                    </a:lnR>
                    <a:lnT w="0">
                      <a:noFill/>
                    </a:lnT>
                    <a:lnB w="9525">
                      <a:solidFill>
                        <a:srgbClr val="D9DEE3"/>
                      </a:solidFill>
                    </a:lnB>
                    <a:noFill/>
                  </a:tcPr>
                </a:tc>
              </a:tr>
              <a:tr h="224028">
                <a:tc>
                  <a:txBody>
                    <a:bodyPr wrap="square"/>
                    <a:lstStyle/>
                    <a:p>
                      <a:pPr algn="l"/>
                      <a:r>
                        <a:rPr sz="950" b="0" i="0">
                          <a:solidFill>
                            <a:srgbClr val="222222"/>
                          </a:solidFill>
                          <a:latin typeface="Arial"/>
                        </a:rPr>
                        <a:t>Officer's previous search &lt; ~110 min ago</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0.79</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10%</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6.3%</a:t>
                      </a:r>
                    </a:p>
                  </a:txBody>
                  <a:tcPr marL="64008" marR="64008" marT="36576" marB="36576" anchor="ctr">
                    <a:lnL w="0">
                      <a:noFill/>
                    </a:lnL>
                    <a:lnR w="0">
                      <a:noFill/>
                    </a:lnR>
                    <a:lnT w="0">
                      <a:noFill/>
                    </a:lnT>
                    <a:lnB w="9525">
                      <a:solidFill>
                        <a:srgbClr val="D9DEE3"/>
                      </a:solidFill>
                    </a:lnB>
                    <a:noFill/>
                  </a:tcPr>
                </a:tc>
              </a:tr>
              <a:tr h="224028">
                <a:tc>
                  <a:txBody>
                    <a:bodyPr wrap="square"/>
                    <a:lstStyle/>
                    <a:p>
                      <a:pPr algn="l"/>
                      <a:r>
                        <a:rPr sz="950" b="0" i="0">
                          <a:solidFill>
                            <a:srgbClr val="222222"/>
                          </a:solidFill>
                          <a:latin typeface="Arial"/>
                        </a:rPr>
                        <a:t>Male driver, officer with ≤ 9 consent searches last year</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0.85</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19%</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5.5%</a:t>
                      </a:r>
                    </a:p>
                  </a:txBody>
                  <a:tcPr marL="64008" marR="64008" marT="36576" marB="36576" anchor="ctr">
                    <a:lnL w="0">
                      <a:noFill/>
                    </a:lnL>
                    <a:lnR w="0">
                      <a:noFill/>
                    </a:lnR>
                    <a:lnT w="0">
                      <a:noFill/>
                    </a:lnT>
                    <a:lnB w="9525">
                      <a:solidFill>
                        <a:srgbClr val="D9DEE3"/>
                      </a:solidFill>
                    </a:lnB>
                    <a:noFill/>
                  </a:tcPr>
                </a:tc>
              </a:tr>
              <a:tr h="224028">
                <a:tc>
                  <a:txBody>
                    <a:bodyPr wrap="square"/>
                    <a:lstStyle/>
                    <a:p>
                      <a:pPr algn="l"/>
                      <a:r>
                        <a:rPr sz="950" b="0" i="0">
                          <a:solidFill>
                            <a:srgbClr val="222222"/>
                          </a:solidFill>
                          <a:latin typeface="Arial"/>
                        </a:rPr>
                        <a:t>Lower-volume officer, stop at ~4:30–7:30</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1.46</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2%</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5.3%</a:t>
                      </a:r>
                    </a:p>
                  </a:txBody>
                  <a:tcPr marL="64008" marR="64008" marT="36576" marB="36576" anchor="ctr">
                    <a:lnL w="0">
                      <a:noFill/>
                    </a:lnL>
                    <a:lnR w="0">
                      <a:noFill/>
                    </a:lnR>
                    <a:lnT w="0">
                      <a:noFill/>
                    </a:lnT>
                    <a:lnB w="9525">
                      <a:solidFill>
                        <a:srgbClr val="D9DEE3"/>
                      </a:solidFill>
                    </a:lnB>
                    <a:noFill/>
                  </a:tcPr>
                </a:tc>
              </a:tr>
              <a:tr h="224028">
                <a:tc>
                  <a:txBody>
                    <a:bodyPr wrap="square"/>
                    <a:lstStyle/>
                    <a:p>
                      <a:pPr algn="l"/>
                      <a:r>
                        <a:rPr sz="950" b="0" i="0">
                          <a:solidFill>
                            <a:srgbClr val="222222"/>
                          </a:solidFill>
                          <a:latin typeface="Arial"/>
                        </a:rPr>
                        <a:t>Officer searches Hispanic drivers &gt; 1.6× as often as white</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0.93</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21%</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2.7%</a:t>
                      </a:r>
                    </a:p>
                  </a:txBody>
                  <a:tcPr marL="64008" marR="64008" marT="36576" marB="36576" anchor="ctr">
                    <a:lnL w="0">
                      <a:noFill/>
                    </a:lnL>
                    <a:lnR w="0">
                      <a:noFill/>
                    </a:lnR>
                    <a:lnT w="0">
                      <a:noFill/>
                    </a:lnT>
                    <a:lnB w="9525">
                      <a:solidFill>
                        <a:srgbClr val="D9DEE3"/>
                      </a:solidFill>
                    </a:lnB>
                    <a:noFill/>
                  </a:tcPr>
                </a:tc>
              </a:tr>
              <a:tr h="224028">
                <a:tc>
                  <a:txBody>
                    <a:bodyPr wrap="square"/>
                    <a:lstStyle/>
                    <a:p>
                      <a:pPr algn="l"/>
                      <a:r>
                        <a:rPr sz="950" b="0" i="0">
                          <a:solidFill>
                            <a:srgbClr val="222222"/>
                          </a:solidFill>
                          <a:latin typeface="Arial"/>
                        </a:rPr>
                        <a:t>Low search-rate officer, driver aged 19 or younger</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1.09</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9%</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2.3%</a:t>
                      </a:r>
                    </a:p>
                  </a:txBody>
                  <a:tcPr marL="64008" marR="64008" marT="36576" marB="36576" anchor="ctr">
                    <a:lnL w="0">
                      <a:noFill/>
                    </a:lnL>
                    <a:lnR w="0">
                      <a:noFill/>
                    </a:lnR>
                    <a:lnT w="0">
                      <a:noFill/>
                    </a:lnT>
                    <a:lnB w="9525">
                      <a:solidFill>
                        <a:srgbClr val="D9DEE3"/>
                      </a:solidFill>
                    </a:lnB>
                    <a:noFill/>
                  </a:tcPr>
                </a:tc>
              </a:tr>
              <a:tr h="224028">
                <a:tc>
                  <a:txBody>
                    <a:bodyPr wrap="square"/>
                    <a:lstStyle/>
                    <a:p>
                      <a:pPr algn="l"/>
                      <a:r>
                        <a:rPr sz="950" b="0" i="0">
                          <a:solidFill>
                            <a:srgbClr val="222222"/>
                          </a:solidFill>
                          <a:latin typeface="Arial"/>
                        </a:rPr>
                        <a:t>Lower-volume officer, stop after 21:30</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1.06</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14%</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1.9%</a:t>
                      </a:r>
                    </a:p>
                  </a:txBody>
                  <a:tcPr marL="64008" marR="64008" marT="36576" marB="36576" anchor="ctr">
                    <a:lnL w="0">
                      <a:noFill/>
                    </a:lnL>
                    <a:lnR w="0">
                      <a:noFill/>
                    </a:lnR>
                    <a:lnT w="0">
                      <a:noFill/>
                    </a:lnT>
                    <a:lnB w="9525">
                      <a:solidFill>
                        <a:srgbClr val="D9DEE3"/>
                      </a:solidFill>
                    </a:lnB>
                    <a:noFill/>
                  </a:tcPr>
                </a:tc>
              </a:tr>
              <a:tr h="224028">
                <a:tc>
                  <a:txBody>
                    <a:bodyPr wrap="square"/>
                    <a:lstStyle/>
                    <a:p>
                      <a:pPr algn="l"/>
                      <a:r>
                        <a:rPr sz="950" b="0" i="0">
                          <a:solidFill>
                            <a:srgbClr val="222222"/>
                          </a:solidFill>
                          <a:latin typeface="Arial"/>
                        </a:rPr>
                        <a:t>Lower-volume officer, September to December</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1.04</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29%</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1.5%</a:t>
                      </a:r>
                    </a:p>
                  </a:txBody>
                  <a:tcPr marL="64008" marR="64008" marT="36576" marB="36576" anchor="ctr">
                    <a:lnL w="0">
                      <a:noFill/>
                    </a:lnL>
                    <a:lnR w="0">
                      <a:noFill/>
                    </a:lnR>
                    <a:lnT w="0">
                      <a:noFill/>
                    </a:lnT>
                    <a:lnB w="9525">
                      <a:solidFill>
                        <a:srgbClr val="D9DEE3"/>
                      </a:solidFill>
                    </a:lnB>
                    <a:noFill/>
                  </a:tcPr>
                </a:tc>
              </a:tr>
              <a:tr h="224028">
                <a:tc>
                  <a:txBody>
                    <a:bodyPr wrap="square"/>
                    <a:lstStyle/>
                    <a:p>
                      <a:pPr algn="l"/>
                      <a:r>
                        <a:rPr sz="950" b="0" i="0">
                          <a:solidFill>
                            <a:srgbClr val="222222"/>
                          </a:solidFill>
                          <a:latin typeface="Arial"/>
                        </a:rPr>
                        <a:t>Zone 125</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1.12</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1.0%</a:t>
                      </a:r>
                    </a:p>
                  </a:txBody>
                  <a:tcPr marL="64008" marR="64008" marT="36576" marB="36576" anchor="ctr">
                    <a:lnL w="0">
                      <a:noFill/>
                    </a:lnL>
                    <a:lnR w="0">
                      <a:noFill/>
                    </a:lnR>
                    <a:lnT w="0">
                      <a:noFill/>
                    </a:lnT>
                    <a:lnB w="9525">
                      <a:solidFill>
                        <a:srgbClr val="D9DEE3"/>
                      </a:solidFill>
                    </a:lnB>
                    <a:noFill/>
                  </a:tcPr>
                </a:tc>
              </a:tr>
              <a:tr h="224028">
                <a:tc>
                  <a:txBody>
                    <a:bodyPr wrap="square"/>
                    <a:lstStyle/>
                    <a:p>
                      <a:pPr algn="l"/>
                      <a:r>
                        <a:rPr sz="950" b="0" i="0">
                          <a:solidFill>
                            <a:srgbClr val="222222"/>
                          </a:solidFill>
                          <a:latin typeface="Arial"/>
                        </a:rPr>
                        <a:t>Officer's past-year search rate (per SD)</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1.01</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100%</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0.8%</a:t>
                      </a:r>
                    </a:p>
                  </a:txBody>
                  <a:tcPr marL="64008" marR="64008" marT="36576" marB="36576" anchor="ctr">
                    <a:lnL w="0">
                      <a:noFill/>
                    </a:lnL>
                    <a:lnR w="0">
                      <a:noFill/>
                    </a:lnR>
                    <a:lnT w="0">
                      <a:noFill/>
                    </a:lnT>
                    <a:lnB w="9525">
                      <a:solidFill>
                        <a:srgbClr val="D9DEE3"/>
                      </a:solidFill>
                    </a:lnB>
                    <a:noFill/>
                  </a:tcPr>
                </a:tc>
              </a:tr>
              <a:tr h="224028">
                <a:tc>
                  <a:txBody>
                    <a:bodyPr wrap="square"/>
                    <a:lstStyle/>
                    <a:p>
                      <a:pPr algn="l"/>
                      <a:r>
                        <a:rPr sz="950" b="0" i="0">
                          <a:solidFill>
                            <a:srgbClr val="222222"/>
                          </a:solidFill>
                          <a:latin typeface="Arial"/>
                        </a:rPr>
                        <a:t>Seven precincts, stop at ~23:00–13:00</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0.98</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27%</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0.7%</a:t>
                      </a:r>
                    </a:p>
                  </a:txBody>
                  <a:tcPr marL="64008" marR="64008" marT="36576" marB="36576" anchor="ctr">
                    <a:lnL w="0">
                      <a:noFill/>
                    </a:lnL>
                    <a:lnR w="0">
                      <a:noFill/>
                    </a:lnR>
                    <a:lnT w="0">
                      <a:noFill/>
                    </a:lnT>
                    <a:lnB w="9525">
                      <a:solidFill>
                        <a:srgbClr val="D9DEE3"/>
                      </a:solidFill>
                    </a:lnB>
                    <a:noFill/>
                  </a:tcPr>
                </a:tc>
              </a:tr>
              <a:tr h="224028">
                <a:tc>
                  <a:txBody>
                    <a:bodyPr wrap="square"/>
                    <a:lstStyle/>
                    <a:p>
                      <a:pPr algn="l"/>
                      <a:r>
                        <a:rPr sz="950" b="0" i="0">
                          <a:solidFill>
                            <a:srgbClr val="222222"/>
                          </a:solidFill>
                          <a:latin typeface="Arial"/>
                        </a:rPr>
                        <a:t>Stopped for a moving traffic violation</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1.01</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39%</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0.6%</a:t>
                      </a:r>
                    </a:p>
                  </a:txBody>
                  <a:tcPr marL="64008" marR="64008" marT="36576" marB="36576" anchor="ctr">
                    <a:lnL w="0">
                      <a:noFill/>
                    </a:lnL>
                    <a:lnR w="0">
                      <a:noFill/>
                    </a:lnR>
                    <a:lnT w="0">
                      <a:noFill/>
                    </a:lnT>
                    <a:lnB w="9525">
                      <a:solidFill>
                        <a:srgbClr val="D9DEE3"/>
                      </a:solidFill>
                    </a:lnB>
                    <a:noFill/>
                  </a:tcPr>
                </a:tc>
              </a:tr>
              <a:tr h="224028">
                <a:tc>
                  <a:txBody>
                    <a:bodyPr wrap="square"/>
                    <a:lstStyle/>
                    <a:p>
                      <a:pPr algn="l"/>
                      <a:r>
                        <a:rPr sz="950" b="0" i="0">
                          <a:solidFill>
                            <a:srgbClr val="222222"/>
                          </a:solidFill>
                          <a:latin typeface="Arial"/>
                        </a:rPr>
                        <a:t>Lower-volume officer, late in the week</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0.99</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32%</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0.5%</a:t>
                      </a:r>
                    </a:p>
                  </a:txBody>
                  <a:tcPr marL="64008" marR="64008" marT="36576" marB="36576" anchor="ctr">
                    <a:lnL w="0">
                      <a:noFill/>
                    </a:lnL>
                    <a:lnR w="0">
                      <a:noFill/>
                    </a:lnR>
                    <a:lnT w="0">
                      <a:noFill/>
                    </a:lnT>
                    <a:lnB w="9525">
                      <a:solidFill>
                        <a:srgbClr val="D9DEE3"/>
                      </a:solidFill>
                    </a:lnB>
                    <a:noFill/>
                  </a:tcPr>
                </a:tc>
              </a:tr>
              <a:tr h="224028">
                <a:tc>
                  <a:txBody>
                    <a:bodyPr wrap="square"/>
                    <a:lstStyle/>
                    <a:p>
                      <a:pPr algn="l"/>
                      <a:r>
                        <a:rPr sz="950" b="0" i="0">
                          <a:solidFill>
                            <a:srgbClr val="222222"/>
                          </a:solidFill>
                          <a:latin typeface="Arial"/>
                        </a:rPr>
                        <a:t>Routine violation, stop outside ~10:00–14:00</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1.00</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42%</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0.1%</a:t>
                      </a:r>
                    </a:p>
                  </a:txBody>
                  <a:tcPr marL="64008" marR="64008" marT="36576" marB="36576" anchor="ctr">
                    <a:lnL w="0">
                      <a:noFill/>
                    </a:lnL>
                    <a:lnR w="0">
                      <a:noFill/>
                    </a:lnR>
                    <a:lnT w="0">
                      <a:noFill/>
                    </a:lnT>
                    <a:lnB w="9525">
                      <a:solidFill>
                        <a:srgbClr val="D9DEE3"/>
                      </a:solidFill>
                    </a:lnB>
                    <a:noFill/>
                  </a:tcPr>
                </a:tc>
              </a:tr>
              <a:tr h="224028">
                <a:tc>
                  <a:txBody>
                    <a:bodyPr wrap="square"/>
                    <a:lstStyle/>
                    <a:p>
                      <a:pPr algn="l"/>
                      <a:r>
                        <a:rPr sz="950" b="0" i="0">
                          <a:solidFill>
                            <a:srgbClr val="222222"/>
                          </a:solidFill>
                          <a:latin typeface="Arial"/>
                        </a:rPr>
                        <a:t>Zone 113</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1.01</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1%</a:t>
                      </a:r>
                    </a:p>
                  </a:txBody>
                  <a:tcPr marL="64008" marR="64008" marT="36576" marB="36576" anchor="ctr">
                    <a:lnL w="0">
                      <a:noFill/>
                    </a:lnL>
                    <a:lnR w="0">
                      <a:noFill/>
                    </a:lnR>
                    <a:lnT w="0">
                      <a:noFill/>
                    </a:lnT>
                    <a:lnB w="9525">
                      <a:solidFill>
                        <a:srgbClr val="D9DEE3"/>
                      </a:solidFill>
                    </a:lnB>
                    <a:noFill/>
                  </a:tcPr>
                </a:tc>
                <a:tc>
                  <a:txBody>
                    <a:bodyPr wrap="square"/>
                    <a:lstStyle/>
                    <a:p>
                      <a:pPr algn="r"/>
                      <a:r>
                        <a:rPr sz="950" b="0" i="0">
                          <a:solidFill>
                            <a:srgbClr val="222222"/>
                          </a:solidFill>
                          <a:latin typeface="Arial"/>
                        </a:rPr>
                        <a:t>0.1%</a:t>
                      </a:r>
                    </a:p>
                  </a:txBody>
                  <a:tcPr marL="64008" marR="64008" marT="36576" marB="36576" anchor="ctr">
                    <a:lnL w="0">
                      <a:noFill/>
                    </a:lnL>
                    <a:lnR w="0">
                      <a:noFill/>
                    </a:lnR>
                    <a:lnT w="0">
                      <a:noFill/>
                    </a:lnT>
                    <a:lnB w="9525">
                      <a:solidFill>
                        <a:srgbClr val="D9DEE3"/>
                      </a:solidFill>
                    </a:lnB>
                    <a:no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Backup</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Searches at the officer's first stop of the calendar day hit more often, in every time band</a:t>
            </a:r>
          </a:p>
        </p:txBody>
      </p:sp>
      <p:sp>
        <p:nvSpPr>
          <p:cNvPr id="4" name="TextBox 3"/>
          <p:cNvSpPr txBox="1"/>
          <p:nvPr/>
        </p:nvSpPr>
        <p:spPr>
          <a:xfrm>
            <a:off x="548640" y="6035040"/>
            <a:ext cx="11094415" cy="365760"/>
          </a:xfrm>
          <a:prstGeom prst="rect">
            <a:avLst/>
          </a:prstGeom>
          <a:noFill/>
        </p:spPr>
        <p:txBody>
          <a:bodyPr wrap="square" lIns="0" rIns="0" tIns="0" bIns="0" anchor="b">
            <a:spAutoFit/>
          </a:bodyPr>
          <a:lstStyle/>
          <a:p>
            <a:pPr algn="l"/>
            <a:r>
              <a:rPr sz="900" b="0" i="0">
                <a:solidFill>
                  <a:srgbClr val="6B7C85"/>
                </a:solidFill>
                <a:latin typeface="Arial"/>
              </a:rPr>
              <a:t>First = no earlier stop by this officer on the same calendar day. Reading: later, repeated searches look more speculative; a hypothesis for training, not a causal claim.</a:t>
            </a:r>
          </a:p>
        </p:txBody>
      </p:sp>
      <p:sp>
        <p:nvSpPr>
          <p:cNvPr id="5" name="TextBox 4"/>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data/officer_model_diagnostics.json §G (consent searches 2011–2018; 2010 is the warm-up year).</a:t>
            </a:r>
          </a:p>
        </p:txBody>
      </p:sp>
      <p:sp>
        <p:nvSpPr>
          <p:cNvPr id="6" name="TextBox 5"/>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17</a:t>
            </a:r>
          </a:p>
        </p:txBody>
      </p:sp>
      <p:sp>
        <p:nvSpPr>
          <p:cNvPr id="7" name="TextBox 6"/>
          <p:cNvSpPr txBox="1"/>
          <p:nvPr/>
        </p:nvSpPr>
        <p:spPr>
          <a:xfrm>
            <a:off x="548640" y="1554480"/>
            <a:ext cx="6858000" cy="274320"/>
          </a:xfrm>
          <a:prstGeom prst="rect">
            <a:avLst/>
          </a:prstGeom>
          <a:noFill/>
        </p:spPr>
        <p:txBody>
          <a:bodyPr wrap="square" lIns="0" rIns="0" tIns="0" bIns="0" anchor="t">
            <a:spAutoFit/>
          </a:bodyPr>
          <a:lstStyle/>
          <a:p>
            <a:pPr algn="l"/>
            <a:r>
              <a:rPr sz="1200" b="1" i="0">
                <a:solidFill>
                  <a:srgbClr val="222222"/>
                </a:solidFill>
                <a:latin typeface="Arial"/>
              </a:rPr>
              <a:t>Hit rate of consent searches, first stop of the day vs later stops, by hour band</a:t>
            </a:r>
          </a:p>
        </p:txBody>
      </p:sp>
      <p:graphicFrame>
        <p:nvGraphicFramePr>
          <p:cNvPr id="8" name="Chart 7"/>
          <p:cNvGraphicFramePr>
            <a:graphicFrameLocks noGrp="1"/>
          </p:cNvGraphicFramePr>
          <p:nvPr/>
        </p:nvGraphicFramePr>
        <p:xfrm>
          <a:off x="548640" y="1874520"/>
          <a:ext cx="6949440" cy="3931920"/>
        </p:xfrm>
        <a:graphic>
          <a:graphicData uri="http://schemas.openxmlformats.org/drawingml/2006/chart">
            <c:chart xmlns:c="http://schemas.openxmlformats.org/drawingml/2006/chart" r:id="rId2"/>
          </a:graphicData>
        </a:graphic>
      </p:graphicFrame>
      <p:sp>
        <p:nvSpPr>
          <p:cNvPr id="9" name="Rectangle 8"/>
          <p:cNvSpPr/>
          <p:nvPr/>
        </p:nvSpPr>
        <p:spPr>
          <a:xfrm>
            <a:off x="7863840" y="1554480"/>
            <a:ext cx="3779215" cy="438912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65008" y="1691640"/>
            <a:ext cx="3383280" cy="4206240"/>
          </a:xfrm>
          <a:prstGeom prst="rect">
            <a:avLst/>
          </a:prstGeom>
          <a:noFill/>
        </p:spPr>
        <p:txBody>
          <a:bodyPr wrap="square" lIns="0" rIns="0" tIns="0" bIns="0" anchor="t">
            <a:spAutoFit/>
          </a:bodyPr>
          <a:lstStyle/>
          <a:p>
            <a:pPr algn="l"/>
            <a:r>
              <a:rPr sz="3000" b="1" i="0">
                <a:solidFill>
                  <a:srgbClr val="1976D2"/>
                </a:solidFill>
                <a:latin typeface="Arial"/>
              </a:rPr>
              <a:t>33%</a:t>
            </a:r>
          </a:p>
          <a:p>
            <a:pPr algn="l">
              <a:spcAft>
                <a:spcPts val="1000"/>
              </a:spcAft>
            </a:pPr>
            <a:r>
              <a:rPr sz="1100" b="1" i="0">
                <a:solidFill>
                  <a:srgbClr val="222222"/>
                </a:solidFill>
                <a:latin typeface="Arial"/>
              </a:rPr>
              <a:t>of consent searches happen at the officer's first stop of the calendar day</a:t>
            </a:r>
          </a:p>
          <a:p>
            <a:pPr algn="l" marL="155448" indent="-155448">
              <a:spcAft>
                <a:spcPts val="400"/>
              </a:spcAft>
              <a:buChar char="•"/>
            </a:pPr>
            <a:r>
              <a:rPr sz="1100" b="0" i="0">
                <a:solidFill>
                  <a:srgbClr val="222222"/>
                </a:solidFill>
                <a:latin typeface="Arial"/>
              </a:rPr>
              <a:t>Hit rate 20.9% at the first stop vs 15.8% later</a:t>
            </a:r>
          </a:p>
          <a:p>
            <a:pPr algn="l" marL="155448" indent="-155448">
              <a:spcAft>
                <a:spcPts val="400"/>
              </a:spcAft>
              <a:buChar char="•"/>
            </a:pPr>
            <a:r>
              <a:rPr sz="1100" b="0" i="0">
                <a:solidFill>
                  <a:srgbClr val="222222"/>
                </a:solidFill>
                <a:latin typeface="Arial"/>
              </a:rPr>
              <a:t>34% of first-stop searches fall between 00:00 and 03:59: this is not "start of shift"</a:t>
            </a:r>
          </a:p>
          <a:p>
            <a:pPr algn="l" marL="155448" indent="-155448">
              <a:buChar char="•"/>
            </a:pPr>
            <a:r>
              <a:rPr sz="1100" b="0" i="0">
                <a:solidFill>
                  <a:srgbClr val="222222"/>
                </a:solidFill>
                <a:latin typeface="Arial"/>
              </a:rPr>
              <a:t>Holds for low-, mid- and high-volume officers: 21% vs 16%, 22% vs 16%, 19% vs 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Backup</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Act I in detail: every model flags mostly white drivers, and TabPFN is the most skewed</a:t>
            </a:r>
          </a:p>
        </p:txBody>
      </p:sp>
      <p:sp>
        <p:nvSpPr>
          <p:cNvPr id="4" name="TextBox 3"/>
          <p:cNvSpPr txBox="1"/>
          <p:nvPr/>
        </p:nvSpPr>
        <p:spPr>
          <a:xfrm>
            <a:off x="548640" y="6035040"/>
            <a:ext cx="11094415" cy="365760"/>
          </a:xfrm>
          <a:prstGeom prst="rect">
            <a:avLst/>
          </a:prstGeom>
          <a:noFill/>
        </p:spPr>
        <p:txBody>
          <a:bodyPr wrap="square" lIns="0" rIns="0" tIns="0" bIns="0" anchor="b">
            <a:spAutoFit/>
          </a:bodyPr>
          <a:lstStyle/>
          <a:p>
            <a:pPr algn="l"/>
            <a:r>
              <a:rPr sz="900" b="0" i="0">
                <a:solidFill>
                  <a:srgbClr val="6B7C85"/>
                </a:solidFill>
                <a:latin typeface="Arial"/>
              </a:rPr>
              <a:t>Predicted − observed is negative everywhere: models trained on 2010–2015 (16.1% hit) under-predict 2016–2018 (21.4%); compare groups, not levels.</a:t>
            </a:r>
          </a:p>
        </p:txBody>
      </p:sp>
      <p:sp>
        <p:nvSpPr>
          <p:cNvPr id="5" name="TextBox 4"/>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data/matched_arms_diagnostics.json (matched run, K = 2,000 of 9,113; CIs: 500 bootstraps).</a:t>
            </a:r>
          </a:p>
        </p:txBody>
      </p:sp>
      <p:sp>
        <p:nvSpPr>
          <p:cNvPr id="6" name="TextBox 5"/>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18</a:t>
            </a:r>
          </a:p>
        </p:txBody>
      </p:sp>
      <p:graphicFrame>
        <p:nvGraphicFramePr>
          <p:cNvPr id="7" name="Table 6"/>
          <p:cNvGraphicFramePr>
            <a:graphicFrameLocks noGrp="1"/>
          </p:cNvGraphicFramePr>
          <p:nvPr/>
        </p:nvGraphicFramePr>
        <p:xfrm>
          <a:off x="548640" y="1600200"/>
          <a:ext cx="11094415" cy="3328416"/>
        </p:xfrm>
        <a:graphic>
          <a:graphicData uri="http://schemas.openxmlformats.org/drawingml/2006/table">
            <a:tbl>
              <a:tblPr>
                <a:tableStyleId>{2D5ABB26-0587-4C30-8999-92F81FD0307C}</a:tableStyleId>
              </a:tblPr>
              <a:tblGrid>
                <a:gridCol w="1371600"/>
                <a:gridCol w="1097280"/>
                <a:gridCol w="2057400"/>
                <a:gridCol w="2194560"/>
                <a:gridCol w="2194560"/>
                <a:gridCol w="2179015"/>
              </a:tblGrid>
              <a:tr h="365760">
                <a:tc>
                  <a:txBody>
                    <a:bodyPr wrap="square"/>
                    <a:lstStyle/>
                    <a:p>
                      <a:pPr algn="l"/>
                      <a:r>
                        <a:rPr sz="1050" b="1" i="0">
                          <a:solidFill>
                            <a:srgbClr val="222222"/>
                          </a:solidFill>
                          <a:latin typeface="Arial"/>
                        </a:rPr>
                        <a:t>Model</a:t>
                      </a:r>
                    </a:p>
                  </a:txBody>
                  <a:tcPr marL="64008" marR="64008" marT="36576" marB="36576" anchor="ctr">
                    <a:lnL w="0">
                      <a:noFill/>
                    </a:lnL>
                    <a:lnR w="0">
                      <a:noFill/>
                    </a:lnR>
                    <a:lnT w="0">
                      <a:noFill/>
                    </a:lnT>
                    <a:lnB w="12700">
                      <a:solidFill>
                        <a:srgbClr val="222222"/>
                      </a:solidFill>
                    </a:lnB>
                    <a:noFill/>
                  </a:tcPr>
                </a:tc>
                <a:tc>
                  <a:txBody>
                    <a:bodyPr wrap="square"/>
                    <a:lstStyle/>
                    <a:p>
                      <a:pPr algn="l"/>
                      <a:r>
                        <a:rPr sz="1050" b="1" i="0">
                          <a:solidFill>
                            <a:srgbClr val="222222"/>
                          </a:solidFill>
                          <a:latin typeface="Arial"/>
                        </a:rPr>
                        <a:t>Drivers</a:t>
                      </a:r>
                    </a:p>
                  </a:txBody>
                  <a:tcPr marL="64008" marR="64008" marT="36576" marB="36576" anchor="ctr">
                    <a:lnL w="0">
                      <a:noFill/>
                    </a:lnL>
                    <a:lnR w="0">
                      <a:noFill/>
                    </a:lnR>
                    <a:lnT w="0">
                      <a:noFill/>
                    </a:lnT>
                    <a:lnB w="12700">
                      <a:solidFill>
                        <a:srgbClr val="222222"/>
                      </a:solidFill>
                    </a:lnB>
                    <a:noFill/>
                  </a:tcPr>
                </a:tc>
                <a:tc>
                  <a:txBody>
                    <a:bodyPr wrap="square"/>
                    <a:lstStyle/>
                    <a:p>
                      <a:pPr algn="r"/>
                      <a:r>
                        <a:rPr sz="1050" b="1" i="0">
                          <a:solidFill>
                            <a:srgbClr val="222222"/>
                          </a:solidFill>
                          <a:latin typeface="Arial"/>
                        </a:rPr>
                        <a:t>Flagged %</a:t>
                      </a:r>
                    </a:p>
                  </a:txBody>
                  <a:tcPr marL="64008" marR="64008" marT="36576" marB="36576" anchor="ctr">
                    <a:lnL w="0">
                      <a:noFill/>
                    </a:lnL>
                    <a:lnR w="0">
                      <a:noFill/>
                    </a:lnR>
                    <a:lnT w="0">
                      <a:noFill/>
                    </a:lnT>
                    <a:lnB w="12700">
                      <a:solidFill>
                        <a:srgbClr val="222222"/>
                      </a:solidFill>
                    </a:lnB>
                    <a:noFill/>
                  </a:tcPr>
                </a:tc>
                <a:tc>
                  <a:txBody>
                    <a:bodyPr wrap="square"/>
                    <a:lstStyle/>
                    <a:p>
                      <a:pPr algn="r"/>
                      <a:r>
                        <a:rPr sz="1050" b="1" i="0">
                          <a:solidFill>
                            <a:srgbClr val="222222"/>
                          </a:solidFill>
                          <a:latin typeface="Arial"/>
                        </a:rPr>
                        <a:t>False-positive rate %</a:t>
                      </a:r>
                    </a:p>
                  </a:txBody>
                  <a:tcPr marL="64008" marR="64008" marT="36576" marB="36576" anchor="ctr">
                    <a:lnL w="0">
                      <a:noFill/>
                    </a:lnL>
                    <a:lnR w="0">
                      <a:noFill/>
                    </a:lnR>
                    <a:lnT w="0">
                      <a:noFill/>
                    </a:lnT>
                    <a:lnB w="12700">
                      <a:solidFill>
                        <a:srgbClr val="222222"/>
                      </a:solidFill>
                    </a:lnB>
                    <a:noFill/>
                  </a:tcPr>
                </a:tc>
                <a:tc>
                  <a:txBody>
                    <a:bodyPr wrap="square"/>
                    <a:lstStyle/>
                    <a:p>
                      <a:pPr algn="r"/>
                      <a:r>
                        <a:rPr sz="1050" b="1" i="0">
                          <a:solidFill>
                            <a:srgbClr val="222222"/>
                          </a:solidFill>
                          <a:latin typeface="Arial"/>
                        </a:rPr>
                        <a:t>Hit rate of flagged %</a:t>
                      </a:r>
                    </a:p>
                  </a:txBody>
                  <a:tcPr marL="64008" marR="64008" marT="36576" marB="36576" anchor="ctr">
                    <a:lnL w="0">
                      <a:noFill/>
                    </a:lnL>
                    <a:lnR w="0">
                      <a:noFill/>
                    </a:lnR>
                    <a:lnT w="0">
                      <a:noFill/>
                    </a:lnT>
                    <a:lnB w="12700">
                      <a:solidFill>
                        <a:srgbClr val="222222"/>
                      </a:solidFill>
                    </a:lnB>
                    <a:noFill/>
                  </a:tcPr>
                </a:tc>
                <a:tc>
                  <a:txBody>
                    <a:bodyPr wrap="square"/>
                    <a:lstStyle/>
                    <a:p>
                      <a:pPr algn="r"/>
                      <a:r>
                        <a:rPr sz="1050" b="1" i="0">
                          <a:solidFill>
                            <a:srgbClr val="222222"/>
                          </a:solidFill>
                          <a:latin typeface="Arial"/>
                        </a:rPr>
                        <a:t>Predicted − observed pp</a:t>
                      </a:r>
                    </a:p>
                  </a:txBody>
                  <a:tcPr marL="64008" marR="64008" marT="36576" marB="36576" anchor="ctr">
                    <a:lnL w="0">
                      <a:noFill/>
                    </a:lnL>
                    <a:lnR w="0">
                      <a:noFill/>
                    </a:lnR>
                    <a:lnT w="0">
                      <a:noFill/>
                    </a:lnT>
                    <a:lnB w="12700">
                      <a:solidFill>
                        <a:srgbClr val="222222"/>
                      </a:solidFill>
                    </a:lnB>
                    <a:noFill/>
                  </a:tcPr>
                </a:tc>
              </a:tr>
              <a:tr h="329184">
                <a:tc>
                  <a:txBody>
                    <a:bodyPr wrap="square"/>
                    <a:lstStyle/>
                    <a:p>
                      <a:pPr algn="l"/>
                      <a:r>
                        <a:rPr sz="1050" b="1" i="0">
                          <a:solidFill>
                            <a:srgbClr val="222222"/>
                          </a:solidFill>
                          <a:latin typeface="Arial"/>
                        </a:rPr>
                        <a:t>White box</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White</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42.0 [40.4, 43.8]</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42.6 [40.9, 44.5]</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24.4 [22.2, 26.6]</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−4.1 [−5.6, −2.7]</a:t>
                      </a:r>
                    </a:p>
                  </a:txBody>
                  <a:tcPr marL="64008" marR="64008" marT="36576" marB="36576" anchor="ctr">
                    <a:lnL w="0">
                      <a:noFill/>
                    </a:lnL>
                    <a:lnR w="0">
                      <a:noFill/>
                    </a:lnR>
                    <a:lnT w="0">
                      <a:noFill/>
                    </a:lnT>
                    <a:lnB w="9525">
                      <a:solidFill>
                        <a:srgbClr val="D9DEE3"/>
                      </a:solidFill>
                    </a:lnB>
                    <a:noFill/>
                  </a:tcPr>
                </a:tc>
              </a:tr>
              <a:tr h="329184">
                <a:tc>
                  <a:txBody>
                    <a:bodyPr wrap="square"/>
                    <a:lstStyle/>
                    <a:p>
                      <a:pPr algn="l"/>
                      <a:r>
                        <a:rPr sz="1050" b="0" i="0">
                          <a:solidFill>
                            <a:srgbClr val="222222"/>
                          </a:solidFill>
                          <a:latin typeface="Arial"/>
                        </a:rPr>
                        <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Black</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10.9 [10.0, 11.7]</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10.9 [10.0, 12.0]</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19.0 [15.7, 22.2]</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−3.3 [−4.4, −2.1]</a:t>
                      </a:r>
                    </a:p>
                  </a:txBody>
                  <a:tcPr marL="64008" marR="64008" marT="36576" marB="36576" anchor="ctr">
                    <a:lnL w="0">
                      <a:noFill/>
                    </a:lnL>
                    <a:lnR w="0">
                      <a:noFill/>
                    </a:lnR>
                    <a:lnT w="0">
                      <a:noFill/>
                    </a:lnT>
                    <a:lnB w="9525">
                      <a:solidFill>
                        <a:srgbClr val="D9DEE3"/>
                      </a:solidFill>
                    </a:lnB>
                    <a:noFill/>
                  </a:tcPr>
                </a:tc>
              </a:tr>
              <a:tr h="329184">
                <a:tc>
                  <a:txBody>
                    <a:bodyPr wrap="square"/>
                    <a:lstStyle/>
                    <a:p>
                      <a:pPr algn="l"/>
                      <a:r>
                        <a:rPr sz="1050" b="0" i="0">
                          <a:solidFill>
                            <a:srgbClr val="222222"/>
                          </a:solidFill>
                          <a:latin typeface="Arial"/>
                        </a:rPr>
                        <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Hispanic</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0.0 [0.0, 0.0]</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0.0 [0.0, 0.0]</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n/a</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−10.7 [−13.4, −8.2]</a:t>
                      </a:r>
                    </a:p>
                  </a:txBody>
                  <a:tcPr marL="64008" marR="64008" marT="36576" marB="36576" anchor="ctr">
                    <a:lnL w="0">
                      <a:noFill/>
                    </a:lnL>
                    <a:lnR w="0">
                      <a:noFill/>
                    </a:lnR>
                    <a:lnT w="0">
                      <a:noFill/>
                    </a:lnT>
                    <a:lnB w="9525">
                      <a:solidFill>
                        <a:srgbClr val="D9DEE3"/>
                      </a:solidFill>
                    </a:lnB>
                    <a:noFill/>
                  </a:tcPr>
                </a:tc>
              </a:tr>
              <a:tr h="329184">
                <a:tc>
                  <a:txBody>
                    <a:bodyPr wrap="square"/>
                    <a:lstStyle/>
                    <a:p>
                      <a:pPr algn="l"/>
                      <a:r>
                        <a:rPr sz="1050" b="1" i="0">
                          <a:solidFill>
                            <a:srgbClr val="222222"/>
                          </a:solidFill>
                          <a:latin typeface="Arial"/>
                        </a:rPr>
                        <a:t>XGBoost</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White</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33.4 [31.9, 35.0]</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32.2 [30.3, 34.1]</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28.3 [25.9, 31.0]</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−3.9 [−5.5, −2.3]</a:t>
                      </a:r>
                    </a:p>
                  </a:txBody>
                  <a:tcPr marL="64008" marR="64008" marT="36576" marB="36576" anchor="ctr">
                    <a:lnL w="0">
                      <a:noFill/>
                    </a:lnL>
                    <a:lnR w="0">
                      <a:noFill/>
                    </a:lnR>
                    <a:lnT w="0">
                      <a:noFill/>
                    </a:lnT>
                    <a:lnB w="9525">
                      <a:solidFill>
                        <a:srgbClr val="D9DEE3"/>
                      </a:solidFill>
                    </a:lnB>
                    <a:noFill/>
                  </a:tcPr>
                </a:tc>
              </a:tr>
              <a:tr h="329184">
                <a:tc>
                  <a:txBody>
                    <a:bodyPr wrap="square"/>
                    <a:lstStyle/>
                    <a:p>
                      <a:pPr algn="l"/>
                      <a:r>
                        <a:rPr sz="1050" b="0" i="0">
                          <a:solidFill>
                            <a:srgbClr val="222222"/>
                          </a:solidFill>
                          <a:latin typeface="Arial"/>
                        </a:rPr>
                        <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Black</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16.5 [15.5, 17.5]</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16.3 [15.3, 17.4]</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20.2 [17.6, 22.9]</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−4.7 [−5.7, −3.5]</a:t>
                      </a:r>
                    </a:p>
                  </a:txBody>
                  <a:tcPr marL="64008" marR="64008" marT="36576" marB="36576" anchor="ctr">
                    <a:lnL w="0">
                      <a:noFill/>
                    </a:lnL>
                    <a:lnR w="0">
                      <a:noFill/>
                    </a:lnR>
                    <a:lnT w="0">
                      <a:noFill/>
                    </a:lnT>
                    <a:lnB w="9525">
                      <a:solidFill>
                        <a:srgbClr val="D9DEE3"/>
                      </a:solidFill>
                    </a:lnB>
                    <a:noFill/>
                  </a:tcPr>
                </a:tc>
              </a:tr>
              <a:tr h="329184">
                <a:tc>
                  <a:txBody>
                    <a:bodyPr wrap="square"/>
                    <a:lstStyle/>
                    <a:p>
                      <a:pPr algn="l"/>
                      <a:r>
                        <a:rPr sz="1050" b="0" i="0">
                          <a:solidFill>
                            <a:srgbClr val="222222"/>
                          </a:solidFill>
                          <a:latin typeface="Arial"/>
                        </a:rPr>
                        <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Hispanic</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1.3 [0.6, 2.2]</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1.0 [0.3, 1.9]</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33.3 [0.0, 71.4]</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−11.3 [−14.2, −8.7]</a:t>
                      </a:r>
                    </a:p>
                  </a:txBody>
                  <a:tcPr marL="64008" marR="64008" marT="36576" marB="36576" anchor="ctr">
                    <a:lnL w="0">
                      <a:noFill/>
                    </a:lnL>
                    <a:lnR w="0">
                      <a:noFill/>
                    </a:lnR>
                    <a:lnT w="0">
                      <a:noFill/>
                    </a:lnT>
                    <a:lnB w="9525">
                      <a:solidFill>
                        <a:srgbClr val="D9DEE3"/>
                      </a:solidFill>
                    </a:lnB>
                    <a:noFill/>
                  </a:tcPr>
                </a:tc>
              </a:tr>
              <a:tr h="329184">
                <a:tc>
                  <a:txBody>
                    <a:bodyPr wrap="square"/>
                    <a:lstStyle/>
                    <a:p>
                      <a:pPr algn="l"/>
                      <a:r>
                        <a:rPr sz="1050" b="1" i="0">
                          <a:solidFill>
                            <a:srgbClr val="222222"/>
                          </a:solidFill>
                          <a:latin typeface="Arial"/>
                        </a:rPr>
                        <a:t>TabPFN</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White</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56.5 [54.9, 58.1]</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56.4 [54.4, 58.2]</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25.7 [23.8, 27.8]</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−4.9 [−6.4, −3.6]</a:t>
                      </a:r>
                    </a:p>
                  </a:txBody>
                  <a:tcPr marL="64008" marR="64008" marT="36576" marB="36576" anchor="ctr">
                    <a:lnL w="0">
                      <a:noFill/>
                    </a:lnL>
                    <a:lnR w="0">
                      <a:noFill/>
                    </a:lnR>
                    <a:lnT w="0">
                      <a:noFill/>
                    </a:lnT>
                    <a:lnB w="9525">
                      <a:solidFill>
                        <a:srgbClr val="D9DEE3"/>
                      </a:solidFill>
                    </a:lnB>
                    <a:noFill/>
                  </a:tcPr>
                </a:tc>
              </a:tr>
              <a:tr h="329184">
                <a:tc>
                  <a:txBody>
                    <a:bodyPr wrap="square"/>
                    <a:lstStyle/>
                    <a:p>
                      <a:pPr algn="l"/>
                      <a:r>
                        <a:rPr sz="1050" b="0" i="0">
                          <a:solidFill>
                            <a:srgbClr val="222222"/>
                          </a:solidFill>
                          <a:latin typeface="Arial"/>
                        </a:rPr>
                        <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Black</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1.7 [1.3, 2.0]</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1.7 [1.3, 2.1]</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18.3 [9.8, 27.5]</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−2.6 [−3.6, −1.6]</a:t>
                      </a:r>
                    </a:p>
                  </a:txBody>
                  <a:tcPr marL="64008" marR="64008" marT="36576" marB="36576" anchor="ctr">
                    <a:lnL w="0">
                      <a:noFill/>
                    </a:lnL>
                    <a:lnR w="0">
                      <a:noFill/>
                    </a:lnR>
                    <a:lnT w="0">
                      <a:noFill/>
                    </a:lnT>
                    <a:lnB w="9525">
                      <a:solidFill>
                        <a:srgbClr val="D9DEE3"/>
                      </a:solidFill>
                    </a:lnB>
                    <a:noFill/>
                  </a:tcPr>
                </a:tc>
              </a:tr>
              <a:tr h="329184">
                <a:tc>
                  <a:txBody>
                    <a:bodyPr wrap="square"/>
                    <a:lstStyle/>
                    <a:p>
                      <a:pPr algn="l"/>
                      <a:r>
                        <a:rPr sz="1050" b="0" i="0">
                          <a:solidFill>
                            <a:srgbClr val="222222"/>
                          </a:solidFill>
                          <a:latin typeface="Arial"/>
                        </a:rPr>
                        <a:t/>
                      </a:r>
                    </a:p>
                  </a:txBody>
                  <a:tcPr marL="64008" marR="64008" marT="36576" marB="36576" anchor="ctr">
                    <a:lnL w="0">
                      <a:noFill/>
                    </a:lnL>
                    <a:lnR w="0">
                      <a:noFill/>
                    </a:lnR>
                    <a:lnT w="0">
                      <a:noFill/>
                    </a:lnT>
                    <a:lnB w="9525">
                      <a:solidFill>
                        <a:srgbClr val="D9DEE3"/>
                      </a:solidFill>
                    </a:lnB>
                    <a:noFill/>
                  </a:tcPr>
                </a:tc>
                <a:tc>
                  <a:txBody>
                    <a:bodyPr wrap="square"/>
                    <a:lstStyle/>
                    <a:p>
                      <a:pPr algn="l"/>
                      <a:r>
                        <a:rPr sz="1050" b="0" i="0">
                          <a:solidFill>
                            <a:srgbClr val="222222"/>
                          </a:solidFill>
                          <a:latin typeface="Arial"/>
                        </a:rPr>
                        <a:t>Hispanic</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0.0 [0.0, 0.0]</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0.0 [0.0, 0.0]</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n/a</a:t>
                      </a:r>
                    </a:p>
                  </a:txBody>
                  <a:tcPr marL="64008" marR="64008" marT="36576" marB="36576" anchor="ctr">
                    <a:lnL w="0">
                      <a:noFill/>
                    </a:lnL>
                    <a:lnR w="0">
                      <a:noFill/>
                    </a:lnR>
                    <a:lnT w="0">
                      <a:noFill/>
                    </a:lnT>
                    <a:lnB w="9525">
                      <a:solidFill>
                        <a:srgbClr val="D9DEE3"/>
                      </a:solidFill>
                    </a:lnB>
                    <a:noFill/>
                  </a:tcPr>
                </a:tc>
                <a:tc>
                  <a:txBody>
                    <a:bodyPr wrap="square"/>
                    <a:lstStyle/>
                    <a:p>
                      <a:pPr algn="r"/>
                      <a:r>
                        <a:rPr sz="1050" b="0" i="0">
                          <a:solidFill>
                            <a:srgbClr val="222222"/>
                          </a:solidFill>
                          <a:latin typeface="Arial"/>
                        </a:rPr>
                        <a:t>−10.0 [−12.5, −7.6]</a:t>
                      </a:r>
                    </a:p>
                  </a:txBody>
                  <a:tcPr marL="64008" marR="64008" marT="36576" marB="36576" anchor="ctr">
                    <a:lnL w="0">
                      <a:noFill/>
                    </a:lnL>
                    <a:lnR w="0">
                      <a:noFill/>
                    </a:lnR>
                    <a:lnT w="0">
                      <a:noFill/>
                    </a:lnT>
                    <a:lnB w="9525">
                      <a:solidFill>
                        <a:srgbClr val="D9DEE3"/>
                      </a:solidFill>
                    </a:lnB>
                    <a:noFill/>
                  </a:tcPr>
                </a:tc>
              </a:tr>
            </a:tbl>
          </a:graphicData>
        </a:graphic>
      </p:graphicFrame>
      <p:sp>
        <p:nvSpPr>
          <p:cNvPr id="8" name="TextBox 7"/>
          <p:cNvSpPr txBox="1"/>
          <p:nvPr/>
        </p:nvSpPr>
        <p:spPr>
          <a:xfrm>
            <a:off x="548640" y="5074920"/>
            <a:ext cx="11094415" cy="822960"/>
          </a:xfrm>
          <a:prstGeom prst="rect">
            <a:avLst/>
          </a:prstGeom>
          <a:noFill/>
        </p:spPr>
        <p:txBody>
          <a:bodyPr wrap="square" lIns="0" rIns="0" tIns="0" bIns="0" anchor="t">
            <a:spAutoFit/>
          </a:bodyPr>
          <a:lstStyle/>
          <a:p>
            <a:pPr algn="l"/>
            <a:r>
              <a:rPr sz="1100" b="1" i="0">
                <a:solidFill>
                  <a:srgbClr val="222222"/>
                </a:solidFill>
                <a:latin typeface="Arial"/>
              </a:rPr>
              <a:t>χ² (selection, Black vs white): </a:t>
            </a:r>
            <a:r>
              <a:rPr sz="1100" b="0" i="0">
                <a:solidFill>
                  <a:srgbClr val="222222"/>
                </a:solidFill>
                <a:latin typeface="Arial"/>
              </a:rPr>
              <a:t>white box 1,081 · XGBoost 322 · TabPFN 3,314</a:t>
            </a:r>
          </a:p>
          <a:p>
            <a:pPr algn="l"/>
            <a:r>
              <a:rPr sz="1100" b="1" i="0">
                <a:solidFill>
                  <a:srgbClr val="222222"/>
                </a:solidFill>
                <a:latin typeface="Arial"/>
              </a:rPr>
              <a:t>Hit-rate gap at equal score, Black − white (pp): </a:t>
            </a:r>
            <a:r>
              <a:rPr sz="1100" b="0" i="0">
                <a:solidFill>
                  <a:srgbClr val="222222"/>
                </a:solidFill>
                <a:latin typeface="Arial"/>
              </a:rPr>
              <a:t>white box −6.0 · XGBoost −4.6 · TabPFN −5.9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Backup</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Removing race: selection evens out, but the model becomes wrong about minority drivers</a:t>
            </a:r>
          </a:p>
        </p:txBody>
      </p:sp>
      <p:sp>
        <p:nvSpPr>
          <p:cNvPr id="4" name="TextBox 3"/>
          <p:cNvSpPr txBox="1"/>
          <p:nvPr/>
        </p:nvSpPr>
        <p:spPr>
          <a:xfrm>
            <a:off x="548640" y="6035040"/>
            <a:ext cx="11094415" cy="365760"/>
          </a:xfrm>
          <a:prstGeom prst="rect">
            <a:avLst/>
          </a:prstGeom>
          <a:noFill/>
        </p:spPr>
        <p:txBody>
          <a:bodyPr wrap="square" lIns="0" rIns="0" tIns="0" bIns="0" anchor="b">
            <a:spAutoFit/>
          </a:bodyPr>
          <a:lstStyle/>
          <a:p>
            <a:pPr algn="l"/>
            <a:r>
              <a:rPr sz="900" b="0" i="0">
                <a:solidFill>
                  <a:srgbClr val="6B7C85"/>
                </a:solidFill>
                <a:latin typeface="Arial"/>
              </a:rPr>
              <a:t>White box = PLTR, 19 rules, with the officer record; top 22% ≈ 2,005 of 9,113. Race-blind = no driver race, sex or same-race feature; the officer's past search-skew features remain (a fully blind rerun is pending). No single feature restores parity (fairness partial dependence: 0 of 32).</a:t>
            </a:r>
          </a:p>
        </p:txBody>
      </p:sp>
      <p:sp>
        <p:nvSpPr>
          <p:cNvPr id="5" name="TextBox 4"/>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data/pltr_whitebox_report.json, data/officer_model_diagnostics.json §E; fairness partial dependence: FINDINGS.md; MASTER §7.</a:t>
            </a:r>
          </a:p>
        </p:txBody>
      </p:sp>
      <p:sp>
        <p:nvSpPr>
          <p:cNvPr id="6" name="TextBox 5"/>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19</a:t>
            </a:r>
          </a:p>
        </p:txBody>
      </p:sp>
      <p:sp>
        <p:nvSpPr>
          <p:cNvPr id="7" name="TextBox 6"/>
          <p:cNvSpPr txBox="1"/>
          <p:nvPr/>
        </p:nvSpPr>
        <p:spPr>
          <a:xfrm>
            <a:off x="548640" y="1554480"/>
            <a:ext cx="5303520" cy="411480"/>
          </a:xfrm>
          <a:prstGeom prst="rect">
            <a:avLst/>
          </a:prstGeom>
          <a:noFill/>
        </p:spPr>
        <p:txBody>
          <a:bodyPr wrap="square" lIns="0" rIns="0" tIns="0" bIns="0" anchor="t">
            <a:spAutoFit/>
          </a:bodyPr>
          <a:lstStyle/>
          <a:p>
            <a:pPr algn="l"/>
            <a:r>
              <a:rPr sz="1200" b="1" i="0">
                <a:solidFill>
                  <a:srgbClr val="222222"/>
                </a:solidFill>
                <a:latin typeface="Arial"/>
              </a:rPr>
              <a:t>Share of each group flagged at the top 22%, white box with officer record</a:t>
            </a:r>
          </a:p>
        </p:txBody>
      </p:sp>
      <p:sp>
        <p:nvSpPr>
          <p:cNvPr id="8" name="Rectangle 7"/>
          <p:cNvSpPr/>
          <p:nvPr/>
        </p:nvSpPr>
        <p:spPr>
          <a:xfrm>
            <a:off x="548640" y="2093976"/>
            <a:ext cx="128016" cy="128016"/>
          </a:xfrm>
          <a:prstGeom prst="rect">
            <a:avLst/>
          </a:prstGeom>
          <a:solidFill>
            <a:srgbClr val="4C6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57400"/>
            <a:ext cx="434340" cy="201168"/>
          </a:xfrm>
          <a:prstGeom prst="rect">
            <a:avLst/>
          </a:prstGeom>
          <a:noFill/>
        </p:spPr>
        <p:txBody>
          <a:bodyPr wrap="square" lIns="0" rIns="0" tIns="0" bIns="0" anchor="t">
            <a:spAutoFit/>
          </a:bodyPr>
          <a:lstStyle/>
          <a:p>
            <a:pPr algn="l"/>
            <a:r>
              <a:rPr sz="1000" b="0" i="0">
                <a:solidFill>
                  <a:srgbClr val="222222"/>
                </a:solidFill>
                <a:latin typeface="Arial"/>
              </a:rPr>
              <a:t>White</a:t>
            </a:r>
          </a:p>
        </p:txBody>
      </p:sp>
      <p:sp>
        <p:nvSpPr>
          <p:cNvPr id="10" name="Rectangle 9"/>
          <p:cNvSpPr/>
          <p:nvPr/>
        </p:nvSpPr>
        <p:spPr>
          <a:xfrm>
            <a:off x="1394460" y="2093976"/>
            <a:ext cx="128016" cy="128016"/>
          </a:xfrm>
          <a:prstGeom prst="rect">
            <a:avLst/>
          </a:prstGeom>
          <a:solidFill>
            <a:srgbClr val="8C6B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77340" y="2057400"/>
            <a:ext cx="434340" cy="201168"/>
          </a:xfrm>
          <a:prstGeom prst="rect">
            <a:avLst/>
          </a:prstGeom>
          <a:noFill/>
        </p:spPr>
        <p:txBody>
          <a:bodyPr wrap="square" lIns="0" rIns="0" tIns="0" bIns="0" anchor="t">
            <a:spAutoFit/>
          </a:bodyPr>
          <a:lstStyle/>
          <a:p>
            <a:pPr algn="l"/>
            <a:r>
              <a:rPr sz="1000" b="0" i="0">
                <a:solidFill>
                  <a:srgbClr val="222222"/>
                </a:solidFill>
                <a:latin typeface="Arial"/>
              </a:rPr>
              <a:t>Black</a:t>
            </a:r>
          </a:p>
        </p:txBody>
      </p:sp>
      <p:sp>
        <p:nvSpPr>
          <p:cNvPr id="12" name="Rectangle 11"/>
          <p:cNvSpPr/>
          <p:nvPr/>
        </p:nvSpPr>
        <p:spPr>
          <a:xfrm>
            <a:off x="2240280" y="2093976"/>
            <a:ext cx="128016" cy="128016"/>
          </a:xfrm>
          <a:prstGeom prst="rect">
            <a:avLst/>
          </a:prstGeom>
          <a:solidFill>
            <a:srgbClr val="3A9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23160" y="2057400"/>
            <a:ext cx="640080" cy="201168"/>
          </a:xfrm>
          <a:prstGeom prst="rect">
            <a:avLst/>
          </a:prstGeom>
          <a:noFill/>
        </p:spPr>
        <p:txBody>
          <a:bodyPr wrap="square" lIns="0" rIns="0" tIns="0" bIns="0" anchor="t">
            <a:spAutoFit/>
          </a:bodyPr>
          <a:lstStyle/>
          <a:p>
            <a:pPr algn="l"/>
            <a:r>
              <a:rPr sz="1000" b="0" i="0">
                <a:solidFill>
                  <a:srgbClr val="222222"/>
                </a:solidFill>
                <a:latin typeface="Arial"/>
              </a:rPr>
              <a:t>Hispanic</a:t>
            </a:r>
          </a:p>
        </p:txBody>
      </p:sp>
      <p:cxnSp>
        <p:nvCxnSpPr>
          <p:cNvPr id="14" name="Connector 13"/>
          <p:cNvCxnSpPr/>
          <p:nvPr/>
        </p:nvCxnSpPr>
        <p:spPr>
          <a:xfrm>
            <a:off x="548640" y="4572000"/>
            <a:ext cx="5303520" cy="0"/>
          </a:xfrm>
          <a:prstGeom prst="line">
            <a:avLst/>
          </a:prstGeom>
          <a:ln w="9525">
            <a:solidFill>
              <a:srgbClr val="D9DEE3"/>
            </a:solidFill>
          </a:ln>
        </p:spPr>
      </p:cxnSp>
      <p:sp>
        <p:nvSpPr>
          <p:cNvPr id="15" name="Rectangle 14"/>
          <p:cNvSpPr/>
          <p:nvPr/>
        </p:nvSpPr>
        <p:spPr>
          <a:xfrm>
            <a:off x="969264" y="2742880"/>
            <a:ext cx="548640" cy="1829120"/>
          </a:xfrm>
          <a:prstGeom prst="rect">
            <a:avLst/>
          </a:prstGeom>
          <a:solidFill>
            <a:srgbClr val="4C6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2486848"/>
            <a:ext cx="914400" cy="228600"/>
          </a:xfrm>
          <a:prstGeom prst="rect">
            <a:avLst/>
          </a:prstGeom>
          <a:noFill/>
        </p:spPr>
        <p:txBody>
          <a:bodyPr wrap="square" lIns="0" rIns="0" tIns="0" bIns="0" anchor="t">
            <a:spAutoFit/>
          </a:bodyPr>
          <a:lstStyle/>
          <a:p>
            <a:pPr algn="ctr"/>
            <a:r>
              <a:rPr sz="1050" b="1" i="0">
                <a:solidFill>
                  <a:srgbClr val="222222"/>
                </a:solidFill>
                <a:latin typeface="Arial"/>
              </a:rPr>
              <a:t>36.4%</a:t>
            </a:r>
          </a:p>
        </p:txBody>
      </p:sp>
      <p:sp>
        <p:nvSpPr>
          <p:cNvPr id="17" name="Rectangle 16"/>
          <p:cNvSpPr/>
          <p:nvPr/>
        </p:nvSpPr>
        <p:spPr>
          <a:xfrm>
            <a:off x="1581912" y="3823655"/>
            <a:ext cx="548640" cy="748345"/>
          </a:xfrm>
          <a:prstGeom prst="rect">
            <a:avLst/>
          </a:prstGeom>
          <a:solidFill>
            <a:srgbClr val="8C6B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99032" y="3567623"/>
            <a:ext cx="914400" cy="228600"/>
          </a:xfrm>
          <a:prstGeom prst="rect">
            <a:avLst/>
          </a:prstGeom>
          <a:noFill/>
        </p:spPr>
        <p:txBody>
          <a:bodyPr wrap="square" lIns="0" rIns="0" tIns="0" bIns="0" anchor="t">
            <a:spAutoFit/>
          </a:bodyPr>
          <a:lstStyle/>
          <a:p>
            <a:pPr algn="ctr"/>
            <a:r>
              <a:rPr sz="1050" b="1" i="0">
                <a:solidFill>
                  <a:srgbClr val="222222"/>
                </a:solidFill>
                <a:latin typeface="Arial"/>
              </a:rPr>
              <a:t>14.9%</a:t>
            </a:r>
          </a:p>
        </p:txBody>
      </p:sp>
      <p:sp>
        <p:nvSpPr>
          <p:cNvPr id="19" name="Rectangle 18"/>
          <p:cNvSpPr/>
          <p:nvPr/>
        </p:nvSpPr>
        <p:spPr>
          <a:xfrm>
            <a:off x="2194560" y="4367814"/>
            <a:ext cx="548640" cy="204186"/>
          </a:xfrm>
          <a:prstGeom prst="rect">
            <a:avLst/>
          </a:prstGeom>
          <a:solidFill>
            <a:srgbClr val="3A9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11680" y="4111782"/>
            <a:ext cx="914400" cy="228600"/>
          </a:xfrm>
          <a:prstGeom prst="rect">
            <a:avLst/>
          </a:prstGeom>
          <a:noFill/>
        </p:spPr>
        <p:txBody>
          <a:bodyPr wrap="square" lIns="0" rIns="0" tIns="0" bIns="0" anchor="t">
            <a:spAutoFit/>
          </a:bodyPr>
          <a:lstStyle/>
          <a:p>
            <a:pPr algn="ctr"/>
            <a:r>
              <a:rPr sz="1050" b="1" i="0">
                <a:solidFill>
                  <a:srgbClr val="222222"/>
                </a:solidFill>
                <a:latin typeface="Arial"/>
              </a:rPr>
              <a:t>4.1%</a:t>
            </a:r>
          </a:p>
        </p:txBody>
      </p:sp>
      <p:sp>
        <p:nvSpPr>
          <p:cNvPr id="21" name="TextBox 20"/>
          <p:cNvSpPr txBox="1"/>
          <p:nvPr/>
        </p:nvSpPr>
        <p:spPr>
          <a:xfrm>
            <a:off x="868680" y="4645152"/>
            <a:ext cx="2011680" cy="256032"/>
          </a:xfrm>
          <a:prstGeom prst="rect">
            <a:avLst/>
          </a:prstGeom>
          <a:noFill/>
        </p:spPr>
        <p:txBody>
          <a:bodyPr wrap="square" lIns="0" rIns="0" tIns="0" bIns="0" anchor="t">
            <a:spAutoFit/>
          </a:bodyPr>
          <a:lstStyle/>
          <a:p>
            <a:pPr algn="ctr"/>
            <a:r>
              <a:rPr sz="1200" b="1" i="0">
                <a:solidFill>
                  <a:srgbClr val="222222"/>
                </a:solidFill>
                <a:latin typeface="Arial"/>
              </a:rPr>
              <a:t>Race-aware</a:t>
            </a:r>
          </a:p>
        </p:txBody>
      </p:sp>
      <p:sp>
        <p:nvSpPr>
          <p:cNvPr id="22" name="TextBox 21"/>
          <p:cNvSpPr txBox="1"/>
          <p:nvPr/>
        </p:nvSpPr>
        <p:spPr>
          <a:xfrm>
            <a:off x="868680" y="4919472"/>
            <a:ext cx="2011680" cy="228600"/>
          </a:xfrm>
          <a:prstGeom prst="rect">
            <a:avLst/>
          </a:prstGeom>
          <a:noFill/>
        </p:spPr>
        <p:txBody>
          <a:bodyPr wrap="square" lIns="0" rIns="0" tIns="0" bIns="0" anchor="t">
            <a:spAutoFit/>
          </a:bodyPr>
          <a:lstStyle/>
          <a:p>
            <a:pPr algn="ctr"/>
            <a:r>
              <a:rPr sz="1000" b="0" i="0">
                <a:solidFill>
                  <a:srgbClr val="6B7C85"/>
                </a:solidFill>
                <a:latin typeface="Arial"/>
              </a:rPr>
              <a:t>AUC 0.630</a:t>
            </a:r>
          </a:p>
        </p:txBody>
      </p:sp>
      <p:sp>
        <p:nvSpPr>
          <p:cNvPr id="23" name="Rectangle 22"/>
          <p:cNvSpPr/>
          <p:nvPr/>
        </p:nvSpPr>
        <p:spPr>
          <a:xfrm>
            <a:off x="3438144" y="3220654"/>
            <a:ext cx="548640" cy="1351346"/>
          </a:xfrm>
          <a:prstGeom prst="rect">
            <a:avLst/>
          </a:prstGeom>
          <a:solidFill>
            <a:srgbClr val="4C6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55264" y="2964622"/>
            <a:ext cx="914400" cy="228600"/>
          </a:xfrm>
          <a:prstGeom prst="rect">
            <a:avLst/>
          </a:prstGeom>
          <a:noFill/>
        </p:spPr>
        <p:txBody>
          <a:bodyPr wrap="square" lIns="0" rIns="0" tIns="0" bIns="0" anchor="t">
            <a:spAutoFit/>
          </a:bodyPr>
          <a:lstStyle/>
          <a:p>
            <a:pPr algn="ctr"/>
            <a:r>
              <a:rPr sz="1050" b="1" i="0">
                <a:solidFill>
                  <a:srgbClr val="222222"/>
                </a:solidFill>
                <a:latin typeface="Arial"/>
              </a:rPr>
              <a:t>26.9%</a:t>
            </a:r>
          </a:p>
        </p:txBody>
      </p:sp>
      <p:sp>
        <p:nvSpPr>
          <p:cNvPr id="25" name="Rectangle 24"/>
          <p:cNvSpPr/>
          <p:nvPr/>
        </p:nvSpPr>
        <p:spPr>
          <a:xfrm>
            <a:off x="4050792" y="3604382"/>
            <a:ext cx="548640" cy="967618"/>
          </a:xfrm>
          <a:prstGeom prst="rect">
            <a:avLst/>
          </a:prstGeom>
          <a:solidFill>
            <a:srgbClr val="8C6B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67912" y="3348350"/>
            <a:ext cx="914400" cy="228600"/>
          </a:xfrm>
          <a:prstGeom prst="rect">
            <a:avLst/>
          </a:prstGeom>
          <a:noFill/>
        </p:spPr>
        <p:txBody>
          <a:bodyPr wrap="square" lIns="0" rIns="0" tIns="0" bIns="0" anchor="t">
            <a:spAutoFit/>
          </a:bodyPr>
          <a:lstStyle/>
          <a:p>
            <a:pPr algn="ctr"/>
            <a:r>
              <a:rPr sz="1050" b="1" i="0">
                <a:solidFill>
                  <a:srgbClr val="222222"/>
                </a:solidFill>
                <a:latin typeface="Arial"/>
              </a:rPr>
              <a:t>19.2%</a:t>
            </a:r>
          </a:p>
        </p:txBody>
      </p:sp>
      <p:sp>
        <p:nvSpPr>
          <p:cNvPr id="27" name="Rectangle 26"/>
          <p:cNvSpPr/>
          <p:nvPr/>
        </p:nvSpPr>
        <p:spPr>
          <a:xfrm>
            <a:off x="4663440" y="3615949"/>
            <a:ext cx="548640" cy="956051"/>
          </a:xfrm>
          <a:prstGeom prst="rect">
            <a:avLst/>
          </a:prstGeom>
          <a:solidFill>
            <a:srgbClr val="3A9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60" y="3359917"/>
            <a:ext cx="914400" cy="228600"/>
          </a:xfrm>
          <a:prstGeom prst="rect">
            <a:avLst/>
          </a:prstGeom>
          <a:noFill/>
        </p:spPr>
        <p:txBody>
          <a:bodyPr wrap="square" lIns="0" rIns="0" tIns="0" bIns="0" anchor="t">
            <a:spAutoFit/>
          </a:bodyPr>
          <a:lstStyle/>
          <a:p>
            <a:pPr algn="ctr"/>
            <a:r>
              <a:rPr sz="1050" b="1" i="0">
                <a:solidFill>
                  <a:srgbClr val="222222"/>
                </a:solidFill>
                <a:latin typeface="Arial"/>
              </a:rPr>
              <a:t>19.0%</a:t>
            </a:r>
          </a:p>
        </p:txBody>
      </p:sp>
      <p:sp>
        <p:nvSpPr>
          <p:cNvPr id="29" name="TextBox 28"/>
          <p:cNvSpPr txBox="1"/>
          <p:nvPr/>
        </p:nvSpPr>
        <p:spPr>
          <a:xfrm>
            <a:off x="3337560" y="4645152"/>
            <a:ext cx="2011680" cy="256032"/>
          </a:xfrm>
          <a:prstGeom prst="rect">
            <a:avLst/>
          </a:prstGeom>
          <a:noFill/>
        </p:spPr>
        <p:txBody>
          <a:bodyPr wrap="square" lIns="0" rIns="0" tIns="0" bIns="0" anchor="t">
            <a:spAutoFit/>
          </a:bodyPr>
          <a:lstStyle/>
          <a:p>
            <a:pPr algn="ctr"/>
            <a:r>
              <a:rPr sz="1200" b="1" i="0">
                <a:solidFill>
                  <a:srgbClr val="222222"/>
                </a:solidFill>
                <a:latin typeface="Arial"/>
              </a:rPr>
              <a:t>Race-blind</a:t>
            </a:r>
          </a:p>
        </p:txBody>
      </p:sp>
      <p:sp>
        <p:nvSpPr>
          <p:cNvPr id="30" name="TextBox 29"/>
          <p:cNvSpPr txBox="1"/>
          <p:nvPr/>
        </p:nvSpPr>
        <p:spPr>
          <a:xfrm>
            <a:off x="3337560" y="4919472"/>
            <a:ext cx="2011680" cy="228600"/>
          </a:xfrm>
          <a:prstGeom prst="rect">
            <a:avLst/>
          </a:prstGeom>
          <a:noFill/>
        </p:spPr>
        <p:txBody>
          <a:bodyPr wrap="square" lIns="0" rIns="0" tIns="0" bIns="0" anchor="t">
            <a:spAutoFit/>
          </a:bodyPr>
          <a:lstStyle/>
          <a:p>
            <a:pPr algn="ctr"/>
            <a:r>
              <a:rPr sz="1000" b="0" i="0">
                <a:solidFill>
                  <a:srgbClr val="6B7C85"/>
                </a:solidFill>
                <a:latin typeface="Arial"/>
              </a:rPr>
              <a:t>AUC 0.628</a:t>
            </a:r>
          </a:p>
        </p:txBody>
      </p:sp>
      <p:sp>
        <p:nvSpPr>
          <p:cNvPr id="31" name="TextBox 30"/>
          <p:cNvSpPr txBox="1"/>
          <p:nvPr/>
        </p:nvSpPr>
        <p:spPr>
          <a:xfrm>
            <a:off x="6309360" y="1554480"/>
            <a:ext cx="5303520" cy="411480"/>
          </a:xfrm>
          <a:prstGeom prst="rect">
            <a:avLst/>
          </a:prstGeom>
          <a:noFill/>
        </p:spPr>
        <p:txBody>
          <a:bodyPr wrap="square" lIns="0" rIns="0" tIns="0" bIns="0" anchor="t">
            <a:spAutoFit/>
          </a:bodyPr>
          <a:lstStyle/>
          <a:p>
            <a:pPr algn="l"/>
            <a:r>
              <a:rPr sz="1200" b="1" i="0">
                <a:solidFill>
                  <a:srgbClr val="222222"/>
                </a:solidFill>
                <a:latin typeface="Arial"/>
              </a:rPr>
              <a:t>Hit-rate gap vs white drivers at equal score (pp, 95% CI)</a:t>
            </a:r>
          </a:p>
        </p:txBody>
      </p:sp>
      <p:sp>
        <p:nvSpPr>
          <p:cNvPr id="32" name="TextBox 31"/>
          <p:cNvSpPr txBox="1"/>
          <p:nvPr/>
        </p:nvSpPr>
        <p:spPr>
          <a:xfrm>
            <a:off x="6309360" y="2148840"/>
            <a:ext cx="2011680" cy="274320"/>
          </a:xfrm>
          <a:prstGeom prst="rect">
            <a:avLst/>
          </a:prstGeom>
          <a:noFill/>
        </p:spPr>
        <p:txBody>
          <a:bodyPr wrap="square" lIns="0" rIns="0" tIns="0" bIns="0" anchor="ctr">
            <a:spAutoFit/>
          </a:bodyPr>
          <a:lstStyle/>
          <a:p>
            <a:pPr algn="l"/>
            <a:r>
              <a:rPr sz="1100" b="1" i="0">
                <a:solidFill>
                  <a:srgbClr val="222222"/>
                </a:solidFill>
                <a:latin typeface="Arial"/>
              </a:rPr>
              <a:t>Race-aware · Black</a:t>
            </a:r>
          </a:p>
        </p:txBody>
      </p:sp>
      <p:cxnSp>
        <p:nvCxnSpPr>
          <p:cNvPr id="33" name="Connector 32"/>
          <p:cNvCxnSpPr/>
          <p:nvPr/>
        </p:nvCxnSpPr>
        <p:spPr>
          <a:xfrm>
            <a:off x="9800539" y="2286000"/>
            <a:ext cx="580873" cy="0"/>
          </a:xfrm>
          <a:prstGeom prst="line">
            <a:avLst/>
          </a:prstGeom>
          <a:ln w="28575">
            <a:solidFill>
              <a:srgbClr val="8C6BB1"/>
            </a:solidFill>
          </a:ln>
        </p:spPr>
      </p:cxnSp>
      <p:sp>
        <p:nvSpPr>
          <p:cNvPr id="34" name="Oval 33"/>
          <p:cNvSpPr/>
          <p:nvPr/>
        </p:nvSpPr>
        <p:spPr>
          <a:xfrm>
            <a:off x="10012451" y="2203704"/>
            <a:ext cx="164592" cy="164592"/>
          </a:xfrm>
          <a:prstGeom prst="ellipse">
            <a:avLst/>
          </a:prstGeom>
          <a:solidFill>
            <a:srgbClr val="8C6BB1"/>
          </a:solidFill>
          <a:ln w="22225">
            <a:solidFill>
              <a:srgbClr val="8C6B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54564" y="2157984"/>
            <a:ext cx="640080" cy="256032"/>
          </a:xfrm>
          <a:prstGeom prst="rect">
            <a:avLst/>
          </a:prstGeom>
          <a:noFill/>
        </p:spPr>
        <p:txBody>
          <a:bodyPr wrap="square" lIns="0" rIns="0" tIns="0" bIns="0" anchor="ctr">
            <a:spAutoFit/>
          </a:bodyPr>
          <a:lstStyle/>
          <a:p>
            <a:pPr algn="l"/>
            <a:r>
              <a:rPr sz="1100" b="1" i="0">
                <a:solidFill>
                  <a:srgbClr val="222222"/>
                </a:solidFill>
                <a:latin typeface="Arial"/>
              </a:rPr>
              <a:t>−0.9</a:t>
            </a:r>
          </a:p>
        </p:txBody>
      </p:sp>
      <p:sp>
        <p:nvSpPr>
          <p:cNvPr id="36" name="TextBox 35"/>
          <p:cNvSpPr txBox="1"/>
          <p:nvPr/>
        </p:nvSpPr>
        <p:spPr>
          <a:xfrm>
            <a:off x="6309360" y="2624328"/>
            <a:ext cx="2011680" cy="274320"/>
          </a:xfrm>
          <a:prstGeom prst="rect">
            <a:avLst/>
          </a:prstGeom>
          <a:noFill/>
        </p:spPr>
        <p:txBody>
          <a:bodyPr wrap="square" lIns="0" rIns="0" tIns="0" bIns="0" anchor="ctr">
            <a:spAutoFit/>
          </a:bodyPr>
          <a:lstStyle/>
          <a:p>
            <a:pPr algn="l"/>
            <a:r>
              <a:rPr sz="1100" b="1" i="0">
                <a:solidFill>
                  <a:srgbClr val="222222"/>
                </a:solidFill>
                <a:latin typeface="Arial"/>
              </a:rPr>
              <a:t>Race-aware · Hispanic</a:t>
            </a:r>
          </a:p>
        </p:txBody>
      </p:sp>
      <p:cxnSp>
        <p:nvCxnSpPr>
          <p:cNvPr id="37" name="Connector 36"/>
          <p:cNvCxnSpPr/>
          <p:nvPr/>
        </p:nvCxnSpPr>
        <p:spPr>
          <a:xfrm>
            <a:off x="10043450" y="2761488"/>
            <a:ext cx="944483" cy="0"/>
          </a:xfrm>
          <a:prstGeom prst="line">
            <a:avLst/>
          </a:prstGeom>
          <a:ln w="28575">
            <a:solidFill>
              <a:srgbClr val="3A9A8A"/>
            </a:solidFill>
          </a:ln>
        </p:spPr>
      </p:cxnSp>
      <p:sp>
        <p:nvSpPr>
          <p:cNvPr id="38" name="Oval 37"/>
          <p:cNvSpPr/>
          <p:nvPr/>
        </p:nvSpPr>
        <p:spPr>
          <a:xfrm>
            <a:off x="10439430" y="2679192"/>
            <a:ext cx="164592" cy="164592"/>
          </a:xfrm>
          <a:prstGeom prst="ellipse">
            <a:avLst/>
          </a:prstGeom>
          <a:solidFill>
            <a:srgbClr val="3A9A8A"/>
          </a:solidFill>
          <a:ln w="22225">
            <a:solidFill>
              <a:srgbClr val="3A9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061085" y="2633472"/>
            <a:ext cx="640080" cy="256032"/>
          </a:xfrm>
          <a:prstGeom prst="rect">
            <a:avLst/>
          </a:prstGeom>
          <a:noFill/>
        </p:spPr>
        <p:txBody>
          <a:bodyPr wrap="square" lIns="0" rIns="0" tIns="0" bIns="0" anchor="ctr">
            <a:spAutoFit/>
          </a:bodyPr>
          <a:lstStyle/>
          <a:p>
            <a:pPr algn="l"/>
            <a:r>
              <a:rPr sz="1100" b="1" i="0">
                <a:solidFill>
                  <a:srgbClr val="222222"/>
                </a:solidFill>
                <a:latin typeface="Arial"/>
              </a:rPr>
              <a:t>+2.0</a:t>
            </a:r>
          </a:p>
        </p:txBody>
      </p:sp>
      <p:sp>
        <p:nvSpPr>
          <p:cNvPr id="40" name="TextBox 39"/>
          <p:cNvSpPr txBox="1"/>
          <p:nvPr/>
        </p:nvSpPr>
        <p:spPr>
          <a:xfrm>
            <a:off x="6309360" y="3328416"/>
            <a:ext cx="2011680" cy="274320"/>
          </a:xfrm>
          <a:prstGeom prst="rect">
            <a:avLst/>
          </a:prstGeom>
          <a:noFill/>
        </p:spPr>
        <p:txBody>
          <a:bodyPr wrap="square" lIns="0" rIns="0" tIns="0" bIns="0" anchor="ctr">
            <a:spAutoFit/>
          </a:bodyPr>
          <a:lstStyle/>
          <a:p>
            <a:pPr algn="l"/>
            <a:r>
              <a:rPr sz="1100" b="1" i="0">
                <a:solidFill>
                  <a:srgbClr val="222222"/>
                </a:solidFill>
                <a:latin typeface="Arial"/>
              </a:rPr>
              <a:t>Race-blind · Black</a:t>
            </a:r>
          </a:p>
        </p:txBody>
      </p:sp>
      <p:cxnSp>
        <p:nvCxnSpPr>
          <p:cNvPr id="41" name="Connector 40"/>
          <p:cNvCxnSpPr/>
          <p:nvPr/>
        </p:nvCxnSpPr>
        <p:spPr>
          <a:xfrm>
            <a:off x="9296613" y="3465576"/>
            <a:ext cx="522031" cy="0"/>
          </a:xfrm>
          <a:prstGeom prst="line">
            <a:avLst/>
          </a:prstGeom>
          <a:ln w="28575">
            <a:solidFill>
              <a:srgbClr val="8C6BB1"/>
            </a:solidFill>
          </a:ln>
        </p:spPr>
      </p:cxnSp>
      <p:sp>
        <p:nvSpPr>
          <p:cNvPr id="42" name="Oval 41"/>
          <p:cNvSpPr/>
          <p:nvPr/>
        </p:nvSpPr>
        <p:spPr>
          <a:xfrm>
            <a:off x="9452701" y="3383280"/>
            <a:ext cx="164592" cy="164592"/>
          </a:xfrm>
          <a:prstGeom prst="ellipse">
            <a:avLst/>
          </a:prstGeom>
          <a:solidFill>
            <a:srgbClr val="8C6BB1"/>
          </a:solidFill>
          <a:ln w="22225">
            <a:solidFill>
              <a:srgbClr val="8C6B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91796" y="3337560"/>
            <a:ext cx="640080" cy="256032"/>
          </a:xfrm>
          <a:prstGeom prst="rect">
            <a:avLst/>
          </a:prstGeom>
          <a:noFill/>
        </p:spPr>
        <p:txBody>
          <a:bodyPr wrap="square" lIns="0" rIns="0" tIns="0" bIns="0" anchor="ctr">
            <a:spAutoFit/>
          </a:bodyPr>
          <a:lstStyle/>
          <a:p>
            <a:pPr algn="l"/>
            <a:r>
              <a:rPr sz="1100" b="1" i="0">
                <a:solidFill>
                  <a:srgbClr val="222222"/>
                </a:solidFill>
                <a:latin typeface="Arial"/>
              </a:rPr>
              <a:t>−4.6</a:t>
            </a:r>
          </a:p>
        </p:txBody>
      </p:sp>
      <p:sp>
        <p:nvSpPr>
          <p:cNvPr id="44" name="TextBox 43"/>
          <p:cNvSpPr txBox="1"/>
          <p:nvPr/>
        </p:nvSpPr>
        <p:spPr>
          <a:xfrm>
            <a:off x="6309360" y="3803904"/>
            <a:ext cx="2011680" cy="274320"/>
          </a:xfrm>
          <a:prstGeom prst="rect">
            <a:avLst/>
          </a:prstGeom>
          <a:noFill/>
        </p:spPr>
        <p:txBody>
          <a:bodyPr wrap="square" lIns="0" rIns="0" tIns="0" bIns="0" anchor="ctr">
            <a:spAutoFit/>
          </a:bodyPr>
          <a:lstStyle/>
          <a:p>
            <a:pPr algn="l"/>
            <a:r>
              <a:rPr sz="1100" b="1" i="0">
                <a:solidFill>
                  <a:srgbClr val="222222"/>
                </a:solidFill>
                <a:latin typeface="Arial"/>
              </a:rPr>
              <a:t>Race-blind · Hispanic</a:t>
            </a:r>
          </a:p>
        </p:txBody>
      </p:sp>
      <p:cxnSp>
        <p:nvCxnSpPr>
          <p:cNvPr id="45" name="Connector 44"/>
          <p:cNvCxnSpPr/>
          <p:nvPr/>
        </p:nvCxnSpPr>
        <p:spPr>
          <a:xfrm>
            <a:off x="8727811" y="3941064"/>
            <a:ext cx="841888" cy="0"/>
          </a:xfrm>
          <a:prstGeom prst="line">
            <a:avLst/>
          </a:prstGeom>
          <a:ln w="28575">
            <a:solidFill>
              <a:srgbClr val="3A9A8A"/>
            </a:solidFill>
          </a:ln>
        </p:spPr>
      </p:cxnSp>
      <p:sp>
        <p:nvSpPr>
          <p:cNvPr id="46" name="Oval 45"/>
          <p:cNvSpPr/>
          <p:nvPr/>
        </p:nvSpPr>
        <p:spPr>
          <a:xfrm>
            <a:off x="9060424" y="3858768"/>
            <a:ext cx="164592" cy="164592"/>
          </a:xfrm>
          <a:prstGeom prst="ellipse">
            <a:avLst/>
          </a:prstGeom>
          <a:solidFill>
            <a:srgbClr val="3A9A8A"/>
          </a:solidFill>
          <a:ln w="22225">
            <a:solidFill>
              <a:srgbClr val="3A9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2851" y="3813048"/>
            <a:ext cx="640080" cy="256032"/>
          </a:xfrm>
          <a:prstGeom prst="rect">
            <a:avLst/>
          </a:prstGeom>
          <a:noFill/>
        </p:spPr>
        <p:txBody>
          <a:bodyPr wrap="square" lIns="0" rIns="0" tIns="0" bIns="0" anchor="ctr">
            <a:spAutoFit/>
          </a:bodyPr>
          <a:lstStyle/>
          <a:p>
            <a:pPr algn="l"/>
            <a:r>
              <a:rPr sz="1100" b="1" i="0">
                <a:solidFill>
                  <a:srgbClr val="222222"/>
                </a:solidFill>
                <a:latin typeface="Arial"/>
              </a:rPr>
              <a:t>−7.2</a:t>
            </a:r>
          </a:p>
        </p:txBody>
      </p:sp>
      <p:cxnSp>
        <p:nvCxnSpPr>
          <p:cNvPr id="48" name="Connector 47"/>
          <p:cNvCxnSpPr/>
          <p:nvPr/>
        </p:nvCxnSpPr>
        <p:spPr>
          <a:xfrm>
            <a:off x="10222992" y="2103120"/>
            <a:ext cx="0" cy="2057400"/>
          </a:xfrm>
          <a:prstGeom prst="line">
            <a:avLst/>
          </a:prstGeom>
          <a:ln w="12700">
            <a:solidFill>
              <a:srgbClr val="222222"/>
            </a:solidFill>
          </a:ln>
        </p:spPr>
      </p:cxnSp>
      <p:sp>
        <p:nvSpPr>
          <p:cNvPr id="49" name="TextBox 48"/>
          <p:cNvSpPr txBox="1"/>
          <p:nvPr/>
        </p:nvSpPr>
        <p:spPr>
          <a:xfrm>
            <a:off x="8348472" y="4251960"/>
            <a:ext cx="731520" cy="201168"/>
          </a:xfrm>
          <a:prstGeom prst="rect">
            <a:avLst/>
          </a:prstGeom>
          <a:noFill/>
        </p:spPr>
        <p:txBody>
          <a:bodyPr wrap="square" lIns="0" rIns="0" tIns="0" bIns="0" anchor="t">
            <a:spAutoFit/>
          </a:bodyPr>
          <a:lstStyle/>
          <a:p>
            <a:pPr algn="ctr"/>
            <a:r>
              <a:rPr sz="1000" b="0" i="0">
                <a:solidFill>
                  <a:srgbClr val="6B7C85"/>
                </a:solidFill>
                <a:latin typeface="Arial"/>
              </a:rPr>
              <a:t>−10</a:t>
            </a:r>
          </a:p>
        </p:txBody>
      </p:sp>
      <p:sp>
        <p:nvSpPr>
          <p:cNvPr id="50" name="TextBox 49"/>
          <p:cNvSpPr txBox="1"/>
          <p:nvPr/>
        </p:nvSpPr>
        <p:spPr>
          <a:xfrm>
            <a:off x="9102852" y="4251960"/>
            <a:ext cx="731520" cy="201168"/>
          </a:xfrm>
          <a:prstGeom prst="rect">
            <a:avLst/>
          </a:prstGeom>
          <a:noFill/>
        </p:spPr>
        <p:txBody>
          <a:bodyPr wrap="square" lIns="0" rIns="0" tIns="0" bIns="0" anchor="t">
            <a:spAutoFit/>
          </a:bodyPr>
          <a:lstStyle/>
          <a:p>
            <a:pPr algn="ctr"/>
            <a:r>
              <a:rPr sz="1000" b="0" i="0">
                <a:solidFill>
                  <a:srgbClr val="6B7C85"/>
                </a:solidFill>
                <a:latin typeface="Arial"/>
              </a:rPr>
              <a:t>−5</a:t>
            </a:r>
          </a:p>
        </p:txBody>
      </p:sp>
      <p:sp>
        <p:nvSpPr>
          <p:cNvPr id="51" name="TextBox 50"/>
          <p:cNvSpPr txBox="1"/>
          <p:nvPr/>
        </p:nvSpPr>
        <p:spPr>
          <a:xfrm>
            <a:off x="9857232" y="4251960"/>
            <a:ext cx="731520" cy="201168"/>
          </a:xfrm>
          <a:prstGeom prst="rect">
            <a:avLst/>
          </a:prstGeom>
          <a:noFill/>
        </p:spPr>
        <p:txBody>
          <a:bodyPr wrap="square" lIns="0" rIns="0" tIns="0" bIns="0" anchor="t">
            <a:spAutoFit/>
          </a:bodyPr>
          <a:lstStyle/>
          <a:p>
            <a:pPr algn="ctr"/>
            <a:r>
              <a:rPr sz="1000" b="0" i="0">
                <a:solidFill>
                  <a:srgbClr val="6B7C85"/>
                </a:solidFill>
                <a:latin typeface="Arial"/>
              </a:rPr>
              <a:t>0</a:t>
            </a:r>
          </a:p>
        </p:txBody>
      </p:sp>
      <p:sp>
        <p:nvSpPr>
          <p:cNvPr id="52" name="TextBox 51"/>
          <p:cNvSpPr txBox="1"/>
          <p:nvPr/>
        </p:nvSpPr>
        <p:spPr>
          <a:xfrm>
            <a:off x="10611612" y="4251960"/>
            <a:ext cx="731520" cy="201168"/>
          </a:xfrm>
          <a:prstGeom prst="rect">
            <a:avLst/>
          </a:prstGeom>
          <a:noFill/>
        </p:spPr>
        <p:txBody>
          <a:bodyPr wrap="square" lIns="0" rIns="0" tIns="0" bIns="0" anchor="t">
            <a:spAutoFit/>
          </a:bodyPr>
          <a:lstStyle/>
          <a:p>
            <a:pPr algn="ctr"/>
            <a:r>
              <a:rPr sz="1000" b="0" i="0">
                <a:solidFill>
                  <a:srgbClr val="6B7C85"/>
                </a:solidFill>
                <a:latin typeface="Arial"/>
              </a:rPr>
              <a:t>+5</a:t>
            </a:r>
          </a:p>
        </p:txBody>
      </p:sp>
      <p:cxnSp>
        <p:nvCxnSpPr>
          <p:cNvPr id="53" name="Connector 52"/>
          <p:cNvCxnSpPr/>
          <p:nvPr/>
        </p:nvCxnSpPr>
        <p:spPr>
          <a:xfrm>
            <a:off x="8412480" y="4206240"/>
            <a:ext cx="3017520" cy="0"/>
          </a:xfrm>
          <a:prstGeom prst="line">
            <a:avLst/>
          </a:prstGeom>
          <a:ln w="9525">
            <a:solidFill>
              <a:srgbClr val="D9DEE3"/>
            </a:solidFill>
          </a:ln>
        </p:spPr>
      </p:cxnSp>
      <p:sp>
        <p:nvSpPr>
          <p:cNvPr id="54" name="TextBox 53"/>
          <p:cNvSpPr txBox="1"/>
          <p:nvPr/>
        </p:nvSpPr>
        <p:spPr>
          <a:xfrm>
            <a:off x="6309360" y="4526280"/>
            <a:ext cx="5303520" cy="457200"/>
          </a:xfrm>
          <a:prstGeom prst="rect">
            <a:avLst/>
          </a:prstGeom>
          <a:noFill/>
        </p:spPr>
        <p:txBody>
          <a:bodyPr wrap="square" lIns="0" rIns="0" tIns="0" bIns="0" anchor="t">
            <a:spAutoFit/>
          </a:bodyPr>
          <a:lstStyle/>
          <a:p>
            <a:pPr algn="l"/>
            <a:r>
              <a:rPr sz="1050" b="1" i="0">
                <a:solidFill>
                  <a:srgbClr val="222222"/>
                </a:solidFill>
                <a:latin typeface="Arial"/>
              </a:rPr>
              <a:t>≈ 0: calibrated. </a:t>
            </a:r>
            <a:r>
              <a:rPr sz="1050" b="0" i="0">
                <a:solidFill>
                  <a:srgbClr val="222222"/>
                </a:solidFill>
                <a:latin typeface="Arial"/>
              </a:rPr>
              <a:t>Below 0: at the same score, minority drivers carry contraband less often, so they are over-scored.</a:t>
            </a:r>
          </a:p>
        </p:txBody>
      </p:sp>
      <p:sp>
        <p:nvSpPr>
          <p:cNvPr id="55" name="Rectangle 54"/>
          <p:cNvSpPr/>
          <p:nvPr/>
        </p:nvSpPr>
        <p:spPr>
          <a:xfrm>
            <a:off x="548640" y="5212080"/>
            <a:ext cx="11094415" cy="749808"/>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230368"/>
            <a:ext cx="10728655" cy="713232"/>
          </a:xfrm>
          <a:prstGeom prst="rect">
            <a:avLst/>
          </a:prstGeom>
          <a:noFill/>
        </p:spPr>
        <p:txBody>
          <a:bodyPr wrap="square" lIns="0" rIns="0" tIns="0" bIns="0" anchor="ctr">
            <a:spAutoFit/>
          </a:bodyPr>
          <a:lstStyle/>
          <a:p>
            <a:pPr algn="l"/>
            <a:r>
              <a:rPr sz="1100" b="1" i="0">
                <a:solidFill>
                  <a:srgbClr val="222222"/>
                </a:solidFill>
                <a:latin typeface="Arial"/>
              </a:rPr>
              <a:t>Test hit rates differ: </a:t>
            </a:r>
            <a:r>
              <a:rPr sz="1100" b="0" i="0">
                <a:solidFill>
                  <a:srgbClr val="222222"/>
                </a:solidFill>
                <a:latin typeface="Arial"/>
              </a:rPr>
              <a:t>white 25.5%, Black 19.5%, Hispanic 15.1%. No single feature restores parity (fairness partial dependence: 0 of 32). </a:t>
            </a:r>
          </a:p>
          <a:p>
            <a:pPr algn="l"/>
            <a:r>
              <a:rPr sz="1100" b="1" i="0">
                <a:solidFill>
                  <a:srgbClr val="222222"/>
                </a:solidFill>
                <a:latin typeface="Arial"/>
              </a:rPr>
              <a:t>The disparity is in the labels, </a:t>
            </a:r>
            <a:r>
              <a:rPr sz="1100" b="0" i="0">
                <a:solidFill>
                  <a:srgbClr val="222222"/>
                </a:solidFill>
                <a:latin typeface="Arial"/>
              </a:rPr>
              <a:t>produced by search decisions, so the fix is upstream, in search practice.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Backup</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The trustworthy-AI checklist, in full (EU High-Level Expert Group, 2019)</a:t>
            </a:r>
          </a:p>
        </p:txBody>
      </p:sp>
      <p:sp>
        <p:nvSpPr>
          <p:cNvPr id="4" name="TextBox 3"/>
          <p:cNvSpPr txBox="1"/>
          <p:nvPr/>
        </p:nvSpPr>
        <p:spPr>
          <a:xfrm>
            <a:off x="548640" y="6035040"/>
            <a:ext cx="11094415" cy="365760"/>
          </a:xfrm>
          <a:prstGeom prst="rect">
            <a:avLst/>
          </a:prstGeom>
          <a:noFill/>
        </p:spPr>
        <p:txBody>
          <a:bodyPr wrap="square" lIns="0" rIns="0" tIns="0" bIns="0" anchor="b">
            <a:spAutoFit/>
          </a:bodyPr>
          <a:lstStyle/>
          <a:p>
            <a:pPr algn="l"/>
            <a:r>
              <a:rPr sz="900" b="0" i="0">
                <a:solidFill>
                  <a:srgbClr val="6B7C85"/>
                </a:solidFill>
                <a:latin typeface="Arial"/>
              </a:rPr>
              <a:t>Officers are subjects too: intervals and shrinkage on every rate, false-discovery control across ~1,500 officers, human review only, the right to see and contest one's report, no automatic sanctions.</a:t>
            </a:r>
          </a:p>
        </p:txBody>
      </p:sp>
      <p:sp>
        <p:nvSpPr>
          <p:cNvPr id="5" name="TextBox 4"/>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EU High-Level Expert Group on AI, Ethics Guidelines for Trustworthy AI (2019); MASTER §9.3.</a:t>
            </a:r>
          </a:p>
        </p:txBody>
      </p:sp>
      <p:sp>
        <p:nvSpPr>
          <p:cNvPr id="6" name="TextBox 5"/>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20</a:t>
            </a:r>
          </a:p>
        </p:txBody>
      </p:sp>
      <p:graphicFrame>
        <p:nvGraphicFramePr>
          <p:cNvPr id="7" name="Table 6"/>
          <p:cNvGraphicFramePr>
            <a:graphicFrameLocks noGrp="1"/>
          </p:cNvGraphicFramePr>
          <p:nvPr/>
        </p:nvGraphicFramePr>
        <p:xfrm>
          <a:off x="548640" y="1600200"/>
          <a:ext cx="11094415" cy="3694176"/>
        </p:xfrm>
        <a:graphic>
          <a:graphicData uri="http://schemas.openxmlformats.org/drawingml/2006/table">
            <a:tbl>
              <a:tblPr>
                <a:tableStyleId>{2D5ABB26-0587-4C30-8999-92F81FD0307C}</a:tableStyleId>
              </a:tblPr>
              <a:tblGrid>
                <a:gridCol w="2743200"/>
                <a:gridCol w="3931920"/>
                <a:gridCol w="4419295"/>
              </a:tblGrid>
              <a:tr h="365760">
                <a:tc>
                  <a:txBody>
                    <a:bodyPr wrap="square"/>
                    <a:lstStyle/>
                    <a:p>
                      <a:pPr algn="l"/>
                      <a:r>
                        <a:rPr sz="1100" b="1" i="0">
                          <a:solidFill>
                            <a:srgbClr val="222222"/>
                          </a:solidFill>
                          <a:latin typeface="Arial"/>
                        </a:rPr>
                        <a:t>Requirement (EU HLEG 2019)</a:t>
                      </a:r>
                    </a:p>
                  </a:txBody>
                  <a:tcPr marL="64008" marR="64008" marT="36576" marB="36576" anchor="ctr">
                    <a:lnL w="0">
                      <a:noFill/>
                    </a:lnL>
                    <a:lnR w="0">
                      <a:noFill/>
                    </a:lnR>
                    <a:lnT w="0">
                      <a:noFill/>
                    </a:lnT>
                    <a:lnB w="12700">
                      <a:solidFill>
                        <a:srgbClr val="222222"/>
                      </a:solidFill>
                    </a:lnB>
                    <a:noFill/>
                  </a:tcPr>
                </a:tc>
                <a:tc>
                  <a:txBody>
                    <a:bodyPr wrap="square"/>
                    <a:lstStyle/>
                    <a:p>
                      <a:pPr algn="l"/>
                      <a:r>
                        <a:rPr sz="1100" b="1" i="0">
                          <a:solidFill>
                            <a:srgbClr val="222222"/>
                          </a:solidFill>
                          <a:latin typeface="Arial"/>
                        </a:rPr>
                        <a:t>Roadside search score</a:t>
                      </a:r>
                    </a:p>
                  </a:txBody>
                  <a:tcPr marL="64008" marR="64008" marT="36576" marB="36576" anchor="ctr">
                    <a:lnL w="0">
                      <a:noFill/>
                    </a:lnL>
                    <a:lnR w="0">
                      <a:noFill/>
                    </a:lnR>
                    <a:lnT w="0">
                      <a:noFill/>
                    </a:lnT>
                    <a:lnB w="12700">
                      <a:solidFill>
                        <a:srgbClr val="222222"/>
                      </a:solidFill>
                    </a:lnB>
                    <a:noFill/>
                  </a:tcPr>
                </a:tc>
                <a:tc>
                  <a:txBody>
                    <a:bodyPr wrap="square"/>
                    <a:lstStyle/>
                    <a:p>
                      <a:pPr algn="l"/>
                      <a:r>
                        <a:rPr sz="1100" b="1" i="0">
                          <a:solidFill>
                            <a:srgbClr val="FFFFFF"/>
                          </a:solidFill>
                          <a:latin typeface="Arial"/>
                        </a:rPr>
                        <a:t>Officer-level review (white box)</a:t>
                      </a:r>
                    </a:p>
                  </a:txBody>
                  <a:tcPr marL="64008" marR="64008" marT="36576" marB="36576" anchor="ctr">
                    <a:lnL w="0">
                      <a:noFill/>
                    </a:lnL>
                    <a:lnR w="0">
                      <a:noFill/>
                    </a:lnR>
                    <a:lnT w="0">
                      <a:noFill/>
                    </a:lnT>
                    <a:lnB w="12700">
                      <a:solidFill>
                        <a:srgbClr val="222222"/>
                      </a:solidFill>
                    </a:lnB>
                    <a:solidFill>
                      <a:srgbClr val="1976D2"/>
                    </a:solidFill>
                  </a:tcPr>
                </a:tc>
              </a:tr>
              <a:tr h="475488">
                <a:tc>
                  <a:txBody>
                    <a:bodyPr wrap="square"/>
                    <a:lstStyle/>
                    <a:p>
                      <a:pPr algn="l"/>
                      <a:r>
                        <a:rPr sz="1100" b="1" i="0">
                          <a:solidFill>
                            <a:srgbClr val="222222"/>
                          </a:solidFill>
                          <a:latin typeface="Arial"/>
                        </a:rPr>
                        <a:t>Human agency and oversight</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1" i="0">
                          <a:solidFill>
                            <a:srgbClr val="6B7C85"/>
                          </a:solidFill>
                          <a:latin typeface="Arial Unicode MS"/>
                        </a:rPr>
                        <a:t>✗  </a:t>
                      </a:r>
                      <a:r>
                        <a:rPr sz="1100" b="0" i="0">
                          <a:solidFill>
                            <a:srgbClr val="222222"/>
                          </a:solidFill>
                          <a:latin typeface="Arial"/>
                        </a:rPr>
                        <a:t>Pre-empts a discretionary legal decision</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1" i="0">
                          <a:solidFill>
                            <a:srgbClr val="1976D2"/>
                          </a:solidFill>
                          <a:latin typeface="Arial Unicode MS"/>
                        </a:rPr>
                        <a:t>✓  </a:t>
                      </a:r>
                      <a:r>
                        <a:rPr sz="1100" b="0" i="0">
                          <a:solidFill>
                            <a:srgbClr val="222222"/>
                          </a:solidFill>
                          <a:latin typeface="Arial"/>
                        </a:rPr>
                        <a:t>A supervisor decides; the model only flags</a:t>
                      </a:r>
                    </a:p>
                  </a:txBody>
                  <a:tcPr marL="64008" marR="64008" marT="36576" marB="36576" anchor="ctr">
                    <a:lnL w="0">
                      <a:noFill/>
                    </a:lnL>
                    <a:lnR w="0">
                      <a:noFill/>
                    </a:lnR>
                    <a:lnT w="0">
                      <a:noFill/>
                    </a:lnT>
                    <a:lnB w="9525">
                      <a:solidFill>
                        <a:srgbClr val="D9DEE3"/>
                      </a:solidFill>
                    </a:lnB>
                    <a:solidFill>
                      <a:srgbClr val="EEF3F6"/>
                    </a:solidFill>
                  </a:tcPr>
                </a:tc>
              </a:tr>
              <a:tr h="475488">
                <a:tc>
                  <a:txBody>
                    <a:bodyPr wrap="square"/>
                    <a:lstStyle/>
                    <a:p>
                      <a:pPr algn="l"/>
                      <a:r>
                        <a:rPr sz="1100" b="1" i="0">
                          <a:solidFill>
                            <a:srgbClr val="222222"/>
                          </a:solidFill>
                          <a:latin typeface="Arial"/>
                        </a:rPr>
                        <a:t>Technical robustness</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1" i="0">
                          <a:solidFill>
                            <a:srgbClr val="6B7C85"/>
                          </a:solidFill>
                          <a:latin typeface="Arial Unicode MS"/>
                        </a:rPr>
                        <a:t>✗  </a:t>
                      </a:r>
                      <a:r>
                        <a:rPr sz="1100" b="0" i="0">
                          <a:solidFill>
                            <a:srgbClr val="222222"/>
                          </a:solidFill>
                          <a:latin typeface="Arial"/>
                        </a:rPr>
                        <a:t>Near-chance, unstable shortlist</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1" i="0">
                          <a:solidFill>
                            <a:srgbClr val="1976D2"/>
                          </a:solidFill>
                          <a:latin typeface="Arial Unicode MS"/>
                        </a:rPr>
                        <a:t>✓  </a:t>
                      </a:r>
                      <a:r>
                        <a:rPr sz="1100" b="0" i="0">
                          <a:solidFill>
                            <a:srgbClr val="222222"/>
                          </a:solidFill>
                          <a:latin typeface="Arial"/>
                        </a:rPr>
                        <a:t>Officer records persist, transfer and hold every year; retrained yearly for drift</a:t>
                      </a:r>
                    </a:p>
                  </a:txBody>
                  <a:tcPr marL="64008" marR="64008" marT="36576" marB="36576" anchor="ctr">
                    <a:lnL w="0">
                      <a:noFill/>
                    </a:lnL>
                    <a:lnR w="0">
                      <a:noFill/>
                    </a:lnR>
                    <a:lnT w="0">
                      <a:noFill/>
                    </a:lnT>
                    <a:lnB w="9525">
                      <a:solidFill>
                        <a:srgbClr val="D9DEE3"/>
                      </a:solidFill>
                    </a:lnB>
                    <a:solidFill>
                      <a:srgbClr val="EEF3F6"/>
                    </a:solidFill>
                  </a:tcPr>
                </a:tc>
              </a:tr>
              <a:tr h="475488">
                <a:tc>
                  <a:txBody>
                    <a:bodyPr wrap="square"/>
                    <a:lstStyle/>
                    <a:p>
                      <a:pPr algn="l"/>
                      <a:r>
                        <a:rPr sz="1100" b="1" i="0">
                          <a:solidFill>
                            <a:srgbClr val="222222"/>
                          </a:solidFill>
                          <a:latin typeface="Arial"/>
                        </a:rPr>
                        <a:t>Privacy and data governance</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1" i="0">
                          <a:solidFill>
                            <a:srgbClr val="6B7C85"/>
                          </a:solidFill>
                          <a:latin typeface="Arial Unicode MS"/>
                        </a:rPr>
                        <a:t>✗  </a:t>
                      </a:r>
                      <a:r>
                        <a:rPr sz="1100" b="0" i="0">
                          <a:solidFill>
                            <a:srgbClr val="222222"/>
                          </a:solidFill>
                          <a:latin typeface="Arial"/>
                        </a:rPr>
                        <a:t>Scores every driver</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1" i="0">
                          <a:solidFill>
                            <a:srgbClr val="1976D2"/>
                          </a:solidFill>
                          <a:latin typeface="Arial Unicode MS"/>
                        </a:rPr>
                        <a:t>✓  </a:t>
                      </a:r>
                      <a:r>
                        <a:rPr sz="1100" b="0" i="0">
                          <a:solidFill>
                            <a:srgbClr val="222222"/>
                          </a:solidFill>
                          <a:latin typeface="Arial"/>
                        </a:rPr>
                        <a:t>Aggregates per officer; hashed IDs in the analysis; no third-party API</a:t>
                      </a:r>
                    </a:p>
                  </a:txBody>
                  <a:tcPr marL="64008" marR="64008" marT="36576" marB="36576" anchor="ctr">
                    <a:lnL w="0">
                      <a:noFill/>
                    </a:lnL>
                    <a:lnR w="0">
                      <a:noFill/>
                    </a:lnR>
                    <a:lnT w="0">
                      <a:noFill/>
                    </a:lnT>
                    <a:lnB w="9525">
                      <a:solidFill>
                        <a:srgbClr val="D9DEE3"/>
                      </a:solidFill>
                    </a:lnB>
                    <a:solidFill>
                      <a:srgbClr val="EEF3F6"/>
                    </a:solidFill>
                  </a:tcPr>
                </a:tc>
              </a:tr>
              <a:tr h="475488">
                <a:tc>
                  <a:txBody>
                    <a:bodyPr wrap="square"/>
                    <a:lstStyle/>
                    <a:p>
                      <a:pPr algn="l"/>
                      <a:r>
                        <a:rPr sz="1100" b="1" i="0">
                          <a:solidFill>
                            <a:srgbClr val="222222"/>
                          </a:solidFill>
                          <a:latin typeface="Arial"/>
                        </a:rPr>
                        <a:t>Transparency</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1" i="0">
                          <a:solidFill>
                            <a:srgbClr val="6B7C85"/>
                          </a:solidFill>
                          <a:latin typeface="Arial Unicode MS"/>
                        </a:rPr>
                        <a:t>✗  </a:t>
                      </a:r>
                      <a:r>
                        <a:rPr sz="1100" b="0" i="0">
                          <a:solidFill>
                            <a:srgbClr val="222222"/>
                          </a:solidFill>
                          <a:latin typeface="Arial"/>
                        </a:rPr>
                        <a:t>Race drives the signal; TabPFN cannot be explained</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1" i="0">
                          <a:solidFill>
                            <a:srgbClr val="1976D2"/>
                          </a:solidFill>
                          <a:latin typeface="Arial Unicode MS"/>
                        </a:rPr>
                        <a:t>✓  </a:t>
                      </a:r>
                      <a:r>
                        <a:rPr sz="1100" b="0" i="0">
                          <a:solidFill>
                            <a:srgbClr val="222222"/>
                          </a:solidFill>
                          <a:latin typeface="Arial"/>
                        </a:rPr>
                        <a:t>19 readable rules; published method</a:t>
                      </a:r>
                    </a:p>
                  </a:txBody>
                  <a:tcPr marL="64008" marR="64008" marT="36576" marB="36576" anchor="ctr">
                    <a:lnL w="0">
                      <a:noFill/>
                    </a:lnL>
                    <a:lnR w="0">
                      <a:noFill/>
                    </a:lnR>
                    <a:lnT w="0">
                      <a:noFill/>
                    </a:lnT>
                    <a:lnB w="9525">
                      <a:solidFill>
                        <a:srgbClr val="D9DEE3"/>
                      </a:solidFill>
                    </a:lnB>
                    <a:solidFill>
                      <a:srgbClr val="EEF3F6"/>
                    </a:solidFill>
                  </a:tcPr>
                </a:tc>
              </a:tr>
              <a:tr h="475488">
                <a:tc>
                  <a:txBody>
                    <a:bodyPr wrap="square"/>
                    <a:lstStyle/>
                    <a:p>
                      <a:pPr algn="l"/>
                      <a:r>
                        <a:rPr sz="1100" b="1" i="0">
                          <a:solidFill>
                            <a:srgbClr val="222222"/>
                          </a:solidFill>
                          <a:latin typeface="Arial"/>
                        </a:rPr>
                        <a:t>Non-discrimination and fairness</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1" i="0">
                          <a:solidFill>
                            <a:srgbClr val="6B7C85"/>
                          </a:solidFill>
                          <a:latin typeface="Arial Unicode MS"/>
                        </a:rPr>
                        <a:t>✗  </a:t>
                      </a:r>
                      <a:r>
                        <a:rPr sz="1100" b="0" i="0">
                          <a:solidFill>
                            <a:srgbClr val="222222"/>
                          </a:solidFill>
                          <a:latin typeface="Arial"/>
                        </a:rPr>
                        <a:t>Reproduces or inverts the disparity</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1" i="0">
                          <a:solidFill>
                            <a:srgbClr val="1976D2"/>
                          </a:solidFill>
                          <a:latin typeface="Arial Unicode MS"/>
                        </a:rPr>
                        <a:t>✓  </a:t>
                      </a:r>
                      <a:r>
                        <a:rPr sz="1100" b="0" i="0">
                          <a:solidFill>
                            <a:srgbClr val="222222"/>
                          </a:solidFill>
                          <a:latin typeface="Arial"/>
                        </a:rPr>
                        <a:t>Targets the practice that produces it</a:t>
                      </a:r>
                    </a:p>
                  </a:txBody>
                  <a:tcPr marL="64008" marR="64008" marT="36576" marB="36576" anchor="ctr">
                    <a:lnL w="0">
                      <a:noFill/>
                    </a:lnL>
                    <a:lnR w="0">
                      <a:noFill/>
                    </a:lnR>
                    <a:lnT w="0">
                      <a:noFill/>
                    </a:lnT>
                    <a:lnB w="9525">
                      <a:solidFill>
                        <a:srgbClr val="D9DEE3"/>
                      </a:solidFill>
                    </a:lnB>
                    <a:solidFill>
                      <a:srgbClr val="EEF3F6"/>
                    </a:solidFill>
                  </a:tcPr>
                </a:tc>
              </a:tr>
              <a:tr h="475488">
                <a:tc>
                  <a:txBody>
                    <a:bodyPr wrap="square"/>
                    <a:lstStyle/>
                    <a:p>
                      <a:pPr algn="l"/>
                      <a:r>
                        <a:rPr sz="1100" b="1" i="0">
                          <a:solidFill>
                            <a:srgbClr val="222222"/>
                          </a:solidFill>
                          <a:latin typeface="Arial"/>
                        </a:rPr>
                        <a:t>Societal well-being</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1" i="0">
                          <a:solidFill>
                            <a:srgbClr val="6B7C85"/>
                          </a:solidFill>
                          <a:latin typeface="Arial Unicode MS"/>
                        </a:rPr>
                        <a:t>✗  </a:t>
                      </a:r>
                      <a:r>
                        <a:rPr sz="1100" b="0" i="0">
                          <a:solidFill>
                            <a:srgbClr val="222222"/>
                          </a:solidFill>
                          <a:latin typeface="Arial"/>
                        </a:rPr>
                        <a:t>More searches of the wrong people</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1" i="0">
                          <a:solidFill>
                            <a:srgbClr val="1976D2"/>
                          </a:solidFill>
                          <a:latin typeface="Arial Unicode MS"/>
                        </a:rPr>
                        <a:t>✓  </a:t>
                      </a:r>
                      <a:r>
                        <a:rPr sz="1100" b="0" i="0">
                          <a:solidFill>
                            <a:srgbClr val="222222"/>
                          </a:solidFill>
                          <a:latin typeface="Arial"/>
                        </a:rPr>
                        <a:t>Fewer fruitless searches, most of them of minority drivers</a:t>
                      </a:r>
                    </a:p>
                  </a:txBody>
                  <a:tcPr marL="64008" marR="64008" marT="36576" marB="36576" anchor="ctr">
                    <a:lnL w="0">
                      <a:noFill/>
                    </a:lnL>
                    <a:lnR w="0">
                      <a:noFill/>
                    </a:lnR>
                    <a:lnT w="0">
                      <a:noFill/>
                    </a:lnT>
                    <a:lnB w="9525">
                      <a:solidFill>
                        <a:srgbClr val="D9DEE3"/>
                      </a:solidFill>
                    </a:lnB>
                    <a:solidFill>
                      <a:srgbClr val="EEF3F6"/>
                    </a:solidFill>
                  </a:tcPr>
                </a:tc>
              </a:tr>
              <a:tr h="475488">
                <a:tc>
                  <a:txBody>
                    <a:bodyPr wrap="square"/>
                    <a:lstStyle/>
                    <a:p>
                      <a:pPr algn="l"/>
                      <a:r>
                        <a:rPr sz="1100" b="1" i="0">
                          <a:solidFill>
                            <a:srgbClr val="222222"/>
                          </a:solidFill>
                          <a:latin typeface="Arial"/>
                        </a:rPr>
                        <a:t>Accountability</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1" i="0">
                          <a:solidFill>
                            <a:srgbClr val="6B7C85"/>
                          </a:solidFill>
                          <a:latin typeface="Arial Unicode MS"/>
                        </a:rPr>
                        <a:t>✗  </a:t>
                      </a:r>
                      <a:r>
                        <a:rPr sz="1100" b="0" i="0">
                          <a:solidFill>
                            <a:srgbClr val="222222"/>
                          </a:solidFill>
                          <a:latin typeface="Arial"/>
                        </a:rPr>
                        <a:t>Who answers for a score?</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1" i="0">
                          <a:solidFill>
                            <a:srgbClr val="1976D2"/>
                          </a:solidFill>
                          <a:latin typeface="Arial Unicode MS"/>
                        </a:rPr>
                        <a:t>✓  </a:t>
                      </a:r>
                      <a:r>
                        <a:rPr sz="1100" b="0" i="0">
                          <a:solidFill>
                            <a:srgbClr val="222222"/>
                          </a:solidFill>
                          <a:latin typeface="Arial"/>
                        </a:rPr>
                        <a:t>Review protocol, appeal for officers, oversight reporting</a:t>
                      </a:r>
                    </a:p>
                  </a:txBody>
                  <a:tcPr marL="64008" marR="64008" marT="36576" marB="36576" anchor="ctr">
                    <a:lnL w="0">
                      <a:noFill/>
                    </a:lnL>
                    <a:lnR w="0">
                      <a:noFill/>
                    </a:lnR>
                    <a:lnT w="0">
                      <a:noFill/>
                    </a:lnT>
                    <a:lnB w="9525">
                      <a:solidFill>
                        <a:srgbClr val="D9DEE3"/>
                      </a:solidFill>
                    </a:lnB>
                    <a:solidFill>
                      <a:srgbClr val="EEF3F6"/>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Backup</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TabPFN: what we can claim, and what we cannot</a:t>
            </a:r>
          </a:p>
        </p:txBody>
      </p:sp>
      <p:sp>
        <p:nvSpPr>
          <p:cNvPr id="4" name="TextBox 3"/>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MASTER §6.3 and register #4; FINDINGS.md §10, §17–19 and limitation 7; data/matched_arms_diagnostics.json.</a:t>
            </a:r>
          </a:p>
        </p:txBody>
      </p:sp>
      <p:sp>
        <p:nvSpPr>
          <p:cNvPr id="5" name="TextBox 4"/>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21</a:t>
            </a:r>
          </a:p>
        </p:txBody>
      </p:sp>
      <p:sp>
        <p:nvSpPr>
          <p:cNvPr id="6" name="Rectangle 5"/>
          <p:cNvSpPr/>
          <p:nvPr/>
        </p:nvSpPr>
        <p:spPr>
          <a:xfrm>
            <a:off x="548640" y="1600200"/>
            <a:ext cx="3593592" cy="301752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737360"/>
            <a:ext cx="3291840" cy="4114800"/>
          </a:xfrm>
          <a:prstGeom prst="rect">
            <a:avLst/>
          </a:prstGeom>
          <a:noFill/>
        </p:spPr>
        <p:txBody>
          <a:bodyPr wrap="square" lIns="0" rIns="0" tIns="0" bIns="0" anchor="t">
            <a:spAutoFit/>
          </a:bodyPr>
          <a:lstStyle/>
          <a:p>
            <a:pPr algn="l">
              <a:spcAft>
                <a:spcPts val="600"/>
              </a:spcAft>
            </a:pPr>
            <a:r>
              <a:rPr sz="1200" b="1" i="0">
                <a:solidFill>
                  <a:srgbClr val="1976D2"/>
                </a:solidFill>
                <a:latin typeface="Arial"/>
              </a:rPr>
              <a:t>Reproducible from src (Act I)</a:t>
            </a:r>
          </a:p>
          <a:p>
            <a:pPr algn="l" marL="155448" indent="-155448">
              <a:spcAft>
                <a:spcPts val="500"/>
              </a:spcAft>
              <a:buChar char="•"/>
            </a:pPr>
            <a:r>
              <a:rPr sz="1100" b="0" i="0">
                <a:solidFill>
                  <a:srgbClr val="222222"/>
                </a:solidFill>
                <a:latin typeface="Arial"/>
              </a:rPr>
              <a:t>AUC 0.553 matched, 0.573–0.580 with all training rows</a:t>
            </a:r>
          </a:p>
          <a:p>
            <a:pPr algn="l" marL="155448" indent="-155448">
              <a:spcAft>
                <a:spcPts val="500"/>
              </a:spcAft>
              <a:buChar char="•"/>
            </a:pPr>
            <a:r>
              <a:rPr sz="1100" b="0" i="0">
                <a:solidFill>
                  <a:srgbClr val="222222"/>
                </a:solidFill>
                <a:latin typeface="Arial"/>
              </a:rPr>
              <a:t>Brier 0.169, still worse than a constant (0.168)</a:t>
            </a:r>
          </a:p>
          <a:p>
            <a:pPr algn="l" marL="155448" indent="-155448">
              <a:spcAft>
                <a:spcPts val="500"/>
              </a:spcAft>
              <a:buChar char="•"/>
            </a:pPr>
            <a:r>
              <a:rPr sz="1100" b="0" i="0">
                <a:solidFill>
                  <a:srgbClr val="222222"/>
                </a:solidFill>
                <a:latin typeface="Arial"/>
              </a:rPr>
              <a:t>Within officer 0.533 [0.512, 0.553]</a:t>
            </a:r>
          </a:p>
          <a:p>
            <a:pPr algn="l" marL="155448" indent="-155448">
              <a:spcAft>
                <a:spcPts val="500"/>
              </a:spcAft>
              <a:buChar char="•"/>
            </a:pPr>
            <a:r>
              <a:rPr sz="1100" b="0" i="0">
                <a:solidFill>
                  <a:srgbClr val="222222"/>
                </a:solidFill>
                <a:latin typeface="Arial"/>
              </a:rPr>
              <a:t>Permutation importance: race first (0.038)</a:t>
            </a:r>
          </a:p>
          <a:p>
            <a:pPr algn="l" marL="155448" indent="-155448">
              <a:spcAft>
                <a:spcPts val="500"/>
              </a:spcAft>
              <a:buChar char="•"/>
            </a:pPr>
            <a:r>
              <a:rPr sz="1100" b="0" i="0">
                <a:solidFill>
                  <a:srgbClr val="222222"/>
                </a:solidFill>
                <a:latin typeface="Arial"/>
              </a:rPr>
              <a:t>Flags 56.5% / 1.7% / 0% of white / Black / Hispanic drivers (χ² 3,314)</a:t>
            </a:r>
          </a:p>
          <a:p>
            <a:pPr algn="l" marL="155448" indent="-155448">
              <a:spcAft>
                <a:spcPts val="500"/>
              </a:spcAft>
              <a:buChar char="•"/>
            </a:pPr>
            <a:r>
              <a:rPr sz="1100" b="0" i="0">
                <a:solidFill>
                  <a:srgbClr val="222222"/>
                </a:solidFill>
                <a:latin typeface="Arial"/>
              </a:rPr>
              <a:t>Resampling its training context moves AUC by 0.024</a:t>
            </a:r>
          </a:p>
        </p:txBody>
      </p:sp>
      <p:sp>
        <p:nvSpPr>
          <p:cNvPr id="8" name="Rectangle 7"/>
          <p:cNvSpPr/>
          <p:nvPr/>
        </p:nvSpPr>
        <p:spPr>
          <a:xfrm>
            <a:off x="4297680" y="1600200"/>
            <a:ext cx="3593592" cy="301752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62272" y="1737360"/>
            <a:ext cx="3291840" cy="4114800"/>
          </a:xfrm>
          <a:prstGeom prst="rect">
            <a:avLst/>
          </a:prstGeom>
          <a:noFill/>
        </p:spPr>
        <p:txBody>
          <a:bodyPr wrap="square" lIns="0" rIns="0" tIns="0" bIns="0" anchor="t">
            <a:spAutoFit/>
          </a:bodyPr>
          <a:lstStyle/>
          <a:p>
            <a:pPr algn="l">
              <a:spcAft>
                <a:spcPts val="600"/>
              </a:spcAft>
            </a:pPr>
            <a:r>
              <a:rPr sz="1200" b="1" i="0">
                <a:solidFill>
                  <a:srgbClr val="1976D2"/>
                </a:solidFill>
                <a:latin typeface="Arial"/>
              </a:rPr>
              <a:t>Run interactively (Act II), reported as is</a:t>
            </a:r>
          </a:p>
          <a:p>
            <a:pPr algn="l" marL="155448" indent="-155448">
              <a:spcAft>
                <a:spcPts val="500"/>
              </a:spcAft>
              <a:buChar char="•"/>
            </a:pPr>
            <a:r>
              <a:rPr sz="1100" b="0" i="0">
                <a:solidFill>
                  <a:srgbClr val="222222"/>
                </a:solidFill>
                <a:latin typeface="Arial"/>
              </a:rPr>
              <a:t>AUC 0.653 with all 25 officer features (XGBoost on the same 25: 0.646, vs 0.640 with 16)</a:t>
            </a:r>
          </a:p>
          <a:p>
            <a:pPr algn="l" marL="155448" indent="-155448">
              <a:spcAft>
                <a:spcPts val="500"/>
              </a:spcAft>
              <a:buChar char="•"/>
            </a:pPr>
            <a:r>
              <a:rPr sz="1100" b="0" i="0">
                <a:solidFill>
                  <a:srgbClr val="222222"/>
                </a:solidFill>
                <a:latin typeface="Arial"/>
              </a:rPr>
              <a:t>0.650 without driver race but with 8 race-derived officer features: not race-blind</a:t>
            </a:r>
          </a:p>
          <a:p>
            <a:pPr algn="l" marL="155448" indent="-155448">
              <a:spcAft>
                <a:spcPts val="500"/>
              </a:spcAft>
              <a:buChar char="•"/>
            </a:pPr>
            <a:r>
              <a:rPr sz="1100" b="0" i="0">
                <a:solidFill>
                  <a:srgbClr val="222222"/>
                </a:solidFill>
                <a:latin typeface="Arial"/>
              </a:rPr>
              <a:t>Within-officer AUC, economics and fairness not computed (no predictions saved)</a:t>
            </a:r>
          </a:p>
        </p:txBody>
      </p:sp>
      <p:sp>
        <p:nvSpPr>
          <p:cNvPr id="10" name="Rectangle 9"/>
          <p:cNvSpPr/>
          <p:nvPr/>
        </p:nvSpPr>
        <p:spPr>
          <a:xfrm>
            <a:off x="8046720" y="1600200"/>
            <a:ext cx="3593592" cy="301752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737360"/>
            <a:ext cx="3291840" cy="4114800"/>
          </a:xfrm>
          <a:prstGeom prst="rect">
            <a:avLst/>
          </a:prstGeom>
          <a:noFill/>
        </p:spPr>
        <p:txBody>
          <a:bodyPr wrap="square" lIns="0" rIns="0" tIns="0" bIns="0" anchor="t">
            <a:spAutoFit/>
          </a:bodyPr>
          <a:lstStyle/>
          <a:p>
            <a:pPr algn="l">
              <a:spcAft>
                <a:spcPts val="600"/>
              </a:spcAft>
            </a:pPr>
            <a:r>
              <a:rPr sz="1200" b="1" i="0">
                <a:solidFill>
                  <a:srgbClr val="1976D2"/>
                </a:solidFill>
                <a:latin typeface="Arial"/>
              </a:rPr>
              <a:t>Governance</a:t>
            </a:r>
          </a:p>
          <a:p>
            <a:pPr algn="l" marL="155448" indent="-155448">
              <a:spcAft>
                <a:spcPts val="500"/>
              </a:spcAft>
              <a:buChar char="•"/>
            </a:pPr>
            <a:r>
              <a:rPr sz="1100" b="0" i="0">
                <a:solidFill>
                  <a:srgbClr val="222222"/>
                </a:solidFill>
                <a:latin typeface="Arial"/>
              </a:rPr>
              <a:t>209 s on CPU to score 9,113 searches</a:t>
            </a:r>
          </a:p>
          <a:p>
            <a:pPr algn="l" marL="155448" indent="-155448">
              <a:spcAft>
                <a:spcPts val="500"/>
              </a:spcAft>
              <a:buChar char="•"/>
            </a:pPr>
            <a:r>
              <a:rPr sz="1100" b="0" i="0">
                <a:solidFill>
                  <a:srgbClr val="222222"/>
                </a:solidFill>
                <a:latin typeface="Arial"/>
              </a:rPr>
              <a:t>The hosted API sends stop records to a third party</a:t>
            </a:r>
          </a:p>
          <a:p>
            <a:pPr algn="l" marL="155448" indent="-155448">
              <a:spcAft>
                <a:spcPts val="500"/>
              </a:spcAft>
              <a:buChar char="•"/>
            </a:pPr>
            <a:r>
              <a:rPr sz="1100" b="0" i="0">
                <a:solidFill>
                  <a:srgbClr val="222222"/>
                </a:solidFill>
                <a:latin typeface="Arial"/>
              </a:rPr>
              <a:t>No native attribution; occlusion error cannot be bounded</a:t>
            </a:r>
          </a:p>
          <a:p>
            <a:pPr algn="l" marL="155448" indent="-155448">
              <a:spcAft>
                <a:spcPts val="500"/>
              </a:spcAft>
              <a:buChar char="•"/>
            </a:pPr>
            <a:r>
              <a:rPr sz="1100" b="0" i="0">
                <a:solidFill>
                  <a:srgbClr val="222222"/>
                </a:solidFill>
                <a:latin typeface="Arial"/>
              </a:rPr>
              <a:t>No global surrogate, by choice: on XGBoost a depth-3 tree reproduces only 39% of the score (course slide 86: "illusion of interpretability")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lIns="0" rIns="0" tIns="0" bIns="0" anchor="t">
            <a:spAutoFit/>
          </a:bodyPr>
          <a:lstStyle/>
          <a:p>
            <a:pPr algn="l"/>
            <a:r>
              <a:rPr sz="1300" b="1" i="0">
                <a:solidFill>
                  <a:srgbClr val="1976D2"/>
                </a:solidFill>
                <a:latin typeface="Arial"/>
              </a:rPr>
              <a:t>Backup</a:t>
            </a:r>
          </a:p>
        </p:txBody>
      </p:sp>
      <p:sp>
        <p:nvSpPr>
          <p:cNvPr id="3" name="TextBox 2"/>
          <p:cNvSpPr txBox="1"/>
          <p:nvPr/>
        </p:nvSpPr>
        <p:spPr>
          <a:xfrm>
            <a:off x="548640" y="566928"/>
            <a:ext cx="11094415" cy="868680"/>
          </a:xfrm>
          <a:prstGeom prst="rect">
            <a:avLst/>
          </a:prstGeom>
          <a:noFill/>
        </p:spPr>
        <p:txBody>
          <a:bodyPr wrap="square" lIns="0" rIns="0" tIns="0" bIns="0" anchor="t">
            <a:spAutoFit/>
          </a:bodyPr>
          <a:lstStyle/>
          <a:p>
            <a:pPr algn="l"/>
            <a:r>
              <a:rPr sz="2200" b="1" i="0">
                <a:solidFill>
                  <a:srgbClr val="222222"/>
                </a:solidFill>
                <a:latin typeface="Arial"/>
              </a:rPr>
              <a:t>Glossary</a:t>
            </a:r>
          </a:p>
        </p:txBody>
      </p:sp>
      <p:sp>
        <p:nvSpPr>
          <p:cNvPr id="4" name="TextBox 3"/>
          <p:cNvSpPr txBox="1"/>
          <p:nvPr/>
        </p:nvSpPr>
        <p:spPr>
          <a:xfrm>
            <a:off x="548640" y="6473952"/>
            <a:ext cx="10454335" cy="228600"/>
          </a:xfrm>
          <a:prstGeom prst="rect">
            <a:avLst/>
          </a:prstGeom>
          <a:noFill/>
        </p:spPr>
        <p:txBody>
          <a:bodyPr wrap="square" lIns="0" rIns="0" tIns="0" bIns="0" anchor="t">
            <a:spAutoFit/>
          </a:bodyPr>
          <a:lstStyle/>
          <a:p>
            <a:pPr algn="l"/>
            <a:r>
              <a:rPr sz="900" b="0" i="0">
                <a:solidFill>
                  <a:srgbClr val="6B7C85"/>
                </a:solidFill>
                <a:latin typeface="Arial"/>
              </a:rPr>
              <a:t>Source: MASTER §2–§7; course material (XPER, PLTR, global surrogates).</a:t>
            </a:r>
          </a:p>
        </p:txBody>
      </p:sp>
      <p:sp>
        <p:nvSpPr>
          <p:cNvPr id="5" name="TextBox 4"/>
          <p:cNvSpPr txBox="1"/>
          <p:nvPr/>
        </p:nvSpPr>
        <p:spPr>
          <a:xfrm>
            <a:off x="11185855" y="6473952"/>
            <a:ext cx="457200" cy="228600"/>
          </a:xfrm>
          <a:prstGeom prst="rect">
            <a:avLst/>
          </a:prstGeom>
          <a:noFill/>
        </p:spPr>
        <p:txBody>
          <a:bodyPr wrap="square" lIns="0" rIns="0" tIns="0" bIns="0" anchor="t">
            <a:spAutoFit/>
          </a:bodyPr>
          <a:lstStyle/>
          <a:p>
            <a:pPr algn="r"/>
            <a:r>
              <a:rPr sz="900" b="0" i="0">
                <a:solidFill>
                  <a:srgbClr val="6B7C85"/>
                </a:solidFill>
                <a:latin typeface="Arial"/>
              </a:rPr>
              <a:t>22</a:t>
            </a:r>
          </a:p>
        </p:txBody>
      </p:sp>
      <p:graphicFrame>
        <p:nvGraphicFramePr>
          <p:cNvPr id="6" name="Table 5"/>
          <p:cNvGraphicFramePr>
            <a:graphicFrameLocks noGrp="1"/>
          </p:cNvGraphicFramePr>
          <p:nvPr/>
        </p:nvGraphicFramePr>
        <p:xfrm>
          <a:off x="548640" y="1554480"/>
          <a:ext cx="11094415" cy="4206240"/>
        </p:xfrm>
        <a:graphic>
          <a:graphicData uri="http://schemas.openxmlformats.org/drawingml/2006/table">
            <a:tbl>
              <a:tblPr>
                <a:tableStyleId>{2D5ABB26-0587-4C30-8999-92F81FD0307C}</a:tableStyleId>
              </a:tblPr>
              <a:tblGrid>
                <a:gridCol w="2377440"/>
                <a:gridCol w="8716975"/>
              </a:tblGrid>
              <a:tr h="365760">
                <a:tc>
                  <a:txBody>
                    <a:bodyPr wrap="square"/>
                    <a:lstStyle/>
                    <a:p>
                      <a:pPr algn="l"/>
                      <a:r>
                        <a:rPr sz="1100" b="1" i="0">
                          <a:solidFill>
                            <a:srgbClr val="222222"/>
                          </a:solidFill>
                          <a:latin typeface="Arial"/>
                        </a:rPr>
                        <a:t>Term</a:t>
                      </a:r>
                    </a:p>
                  </a:txBody>
                  <a:tcPr marL="64008" marR="64008" marT="36576" marB="36576" anchor="ctr">
                    <a:lnL w="0">
                      <a:noFill/>
                    </a:lnL>
                    <a:lnR w="0">
                      <a:noFill/>
                    </a:lnR>
                    <a:lnT w="0">
                      <a:noFill/>
                    </a:lnT>
                    <a:lnB w="12700">
                      <a:solidFill>
                        <a:srgbClr val="222222"/>
                      </a:solidFill>
                    </a:lnB>
                    <a:noFill/>
                  </a:tcPr>
                </a:tc>
                <a:tc>
                  <a:txBody>
                    <a:bodyPr wrap="square"/>
                    <a:lstStyle/>
                    <a:p>
                      <a:pPr algn="l"/>
                      <a:r>
                        <a:rPr sz="1100" b="1" i="0">
                          <a:solidFill>
                            <a:srgbClr val="222222"/>
                          </a:solidFill>
                          <a:latin typeface="Arial"/>
                        </a:rPr>
                        <a:t>Meaning</a:t>
                      </a:r>
                    </a:p>
                  </a:txBody>
                  <a:tcPr marL="64008" marR="64008" marT="36576" marB="36576" anchor="ctr">
                    <a:lnL w="0">
                      <a:noFill/>
                    </a:lnL>
                    <a:lnR w="0">
                      <a:noFill/>
                    </a:lnR>
                    <a:lnT w="0">
                      <a:noFill/>
                    </a:lnT>
                    <a:lnB w="12700">
                      <a:solidFill>
                        <a:srgbClr val="222222"/>
                      </a:solidFill>
                    </a:lnB>
                    <a:noFill/>
                  </a:tcPr>
                </a:tc>
              </a:tr>
              <a:tr h="384048">
                <a:tc>
                  <a:txBody>
                    <a:bodyPr wrap="square"/>
                    <a:lstStyle/>
                    <a:p>
                      <a:pPr algn="l"/>
                      <a:r>
                        <a:rPr sz="1100" b="1" i="0">
                          <a:solidFill>
                            <a:srgbClr val="222222"/>
                          </a:solidFill>
                          <a:latin typeface="Arial"/>
                        </a:rPr>
                        <a:t>AUC</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Probability that the model ranks a random successful search above a random fruitless one; 0.5 = random</a:t>
                      </a:r>
                    </a:p>
                  </a:txBody>
                  <a:tcPr marL="64008" marR="64008" marT="36576" marB="36576" anchor="ctr">
                    <a:lnL w="0">
                      <a:noFill/>
                    </a:lnL>
                    <a:lnR w="0">
                      <a:noFill/>
                    </a:lnR>
                    <a:lnT w="0">
                      <a:noFill/>
                    </a:lnT>
                    <a:lnB w="9525">
                      <a:solidFill>
                        <a:srgbClr val="D9DEE3"/>
                      </a:solidFill>
                    </a:lnB>
                    <a:noFill/>
                  </a:tcPr>
                </a:tc>
              </a:tr>
              <a:tr h="384048">
                <a:tc>
                  <a:txBody>
                    <a:bodyPr wrap="square"/>
                    <a:lstStyle/>
                    <a:p>
                      <a:pPr algn="l"/>
                      <a:r>
                        <a:rPr sz="1100" b="1" i="0">
                          <a:solidFill>
                            <a:srgbClr val="222222"/>
                          </a:solidFill>
                          <a:latin typeface="Arial"/>
                        </a:rPr>
                        <a:t>Within-officer AUC</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AUC inside each officer's own searches, averaged (weighted by searches): the value of a score for the decision an officer actually faces</a:t>
                      </a:r>
                    </a:p>
                  </a:txBody>
                  <a:tcPr marL="64008" marR="64008" marT="36576" marB="36576" anchor="ctr">
                    <a:lnL w="0">
                      <a:noFill/>
                    </a:lnL>
                    <a:lnR w="0">
                      <a:noFill/>
                    </a:lnR>
                    <a:lnT w="0">
                      <a:noFill/>
                    </a:lnT>
                    <a:lnB w="9525">
                      <a:solidFill>
                        <a:srgbClr val="D9DEE3"/>
                      </a:solidFill>
                    </a:lnB>
                    <a:noFill/>
                  </a:tcPr>
                </a:tc>
              </a:tr>
              <a:tr h="384048">
                <a:tc>
                  <a:txBody>
                    <a:bodyPr wrap="square"/>
                    <a:lstStyle/>
                    <a:p>
                      <a:pPr algn="l"/>
                      <a:r>
                        <a:rPr sz="1100" b="1" i="0">
                          <a:solidFill>
                            <a:srgbClr val="222222"/>
                          </a:solidFill>
                          <a:latin typeface="Arial"/>
                        </a:rPr>
                        <a:t>Break-even cost ratio</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Hit rate / (1 − hit rate) of the searches kept: above this ratio of (cost of a fruitless search / value of a find), searching destroys value</a:t>
                      </a:r>
                    </a:p>
                  </a:txBody>
                  <a:tcPr marL="64008" marR="64008" marT="36576" marB="36576" anchor="ctr">
                    <a:lnL w="0">
                      <a:noFill/>
                    </a:lnL>
                    <a:lnR w="0">
                      <a:noFill/>
                    </a:lnR>
                    <a:lnT w="0">
                      <a:noFill/>
                    </a:lnT>
                    <a:lnB w="9525">
                      <a:solidFill>
                        <a:srgbClr val="D9DEE3"/>
                      </a:solidFill>
                    </a:lnB>
                    <a:noFill/>
                  </a:tcPr>
                </a:tc>
              </a:tr>
              <a:tr h="384048">
                <a:tc>
                  <a:txBody>
                    <a:bodyPr wrap="square"/>
                    <a:lstStyle/>
                    <a:p>
                      <a:pPr algn="l"/>
                      <a:r>
                        <a:rPr sz="1100" b="1" i="0">
                          <a:solidFill>
                            <a:srgbClr val="222222"/>
                          </a:solidFill>
                          <a:latin typeface="Arial"/>
                        </a:rPr>
                        <a:t>Outcome test</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Compare hit rates by group: a lower hit rate is consistent with a lower bar for searching that group</a:t>
                      </a:r>
                    </a:p>
                  </a:txBody>
                  <a:tcPr marL="64008" marR="64008" marT="36576" marB="36576" anchor="ctr">
                    <a:lnL w="0">
                      <a:noFill/>
                    </a:lnL>
                    <a:lnR w="0">
                      <a:noFill/>
                    </a:lnR>
                    <a:lnT w="0">
                      <a:noFill/>
                    </a:lnT>
                    <a:lnB w="9525">
                      <a:solidFill>
                        <a:srgbClr val="D9DEE3"/>
                      </a:solidFill>
                    </a:lnB>
                    <a:noFill/>
                  </a:tcPr>
                </a:tc>
              </a:tr>
              <a:tr h="384048">
                <a:tc>
                  <a:txBody>
                    <a:bodyPr wrap="square"/>
                    <a:lstStyle/>
                    <a:p>
                      <a:pPr algn="l"/>
                      <a:r>
                        <a:rPr sz="1100" b="1" i="0">
                          <a:solidFill>
                            <a:srgbClr val="222222"/>
                          </a:solidFill>
                          <a:latin typeface="Arial"/>
                        </a:rPr>
                        <a:t>Infra-marginality</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Why the outcome test cannot prove intent when groups' risk distributions differ; the threshold test addresses it</a:t>
                      </a:r>
                    </a:p>
                  </a:txBody>
                  <a:tcPr marL="64008" marR="64008" marT="36576" marB="36576" anchor="ctr">
                    <a:lnL w="0">
                      <a:noFill/>
                    </a:lnL>
                    <a:lnR w="0">
                      <a:noFill/>
                    </a:lnR>
                    <a:lnT w="0">
                      <a:noFill/>
                    </a:lnT>
                    <a:lnB w="9525">
                      <a:solidFill>
                        <a:srgbClr val="D9DEE3"/>
                      </a:solidFill>
                    </a:lnB>
                    <a:noFill/>
                  </a:tcPr>
                </a:tc>
              </a:tr>
              <a:tr h="384048">
                <a:tc>
                  <a:txBody>
                    <a:bodyPr wrap="square"/>
                    <a:lstStyle/>
                    <a:p>
                      <a:pPr algn="l"/>
                      <a:r>
                        <a:rPr sz="1100" b="1" i="0">
                          <a:solidFill>
                            <a:srgbClr val="222222"/>
                          </a:solidFill>
                          <a:latin typeface="Arial"/>
                        </a:rPr>
                        <a:t>Selective labels</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The outcome is observed only for the searches officers chose to make</a:t>
                      </a:r>
                    </a:p>
                  </a:txBody>
                  <a:tcPr marL="64008" marR="64008" marT="36576" marB="36576" anchor="ctr">
                    <a:lnL w="0">
                      <a:noFill/>
                    </a:lnL>
                    <a:lnR w="0">
                      <a:noFill/>
                    </a:lnR>
                    <a:lnT w="0">
                      <a:noFill/>
                    </a:lnT>
                    <a:lnB w="9525">
                      <a:solidFill>
                        <a:srgbClr val="D9DEE3"/>
                      </a:solidFill>
                    </a:lnB>
                    <a:noFill/>
                  </a:tcPr>
                </a:tc>
              </a:tr>
              <a:tr h="384048">
                <a:tc>
                  <a:txBody>
                    <a:bodyPr wrap="square"/>
                    <a:lstStyle/>
                    <a:p>
                      <a:pPr algn="l"/>
                      <a:r>
                        <a:rPr sz="1100" b="1" i="0">
                          <a:solidFill>
                            <a:srgbClr val="222222"/>
                          </a:solidFill>
                          <a:latin typeface="Arial"/>
                        </a:rPr>
                        <a:t>Calibration at equal score</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Among drivers with the same score, do groups carry contraband equally often?</a:t>
                      </a:r>
                    </a:p>
                  </a:txBody>
                  <a:tcPr marL="64008" marR="64008" marT="36576" marB="36576" anchor="ctr">
                    <a:lnL w="0">
                      <a:noFill/>
                    </a:lnL>
                    <a:lnR w="0">
                      <a:noFill/>
                    </a:lnR>
                    <a:lnT w="0">
                      <a:noFill/>
                    </a:lnT>
                    <a:lnB w="9525">
                      <a:solidFill>
                        <a:srgbClr val="D9DEE3"/>
                      </a:solidFill>
                    </a:lnB>
                    <a:noFill/>
                  </a:tcPr>
                </a:tc>
              </a:tr>
              <a:tr h="384048">
                <a:tc>
                  <a:txBody>
                    <a:bodyPr wrap="square"/>
                    <a:lstStyle/>
                    <a:p>
                      <a:pPr algn="l"/>
                      <a:r>
                        <a:rPr sz="1100" b="1" i="0">
                          <a:solidFill>
                            <a:srgbClr val="222222"/>
                          </a:solidFill>
                          <a:latin typeface="Arial"/>
                        </a:rPr>
                        <a:t>XPER</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Shapley decomposition of the AUC above 0.5 across features (course method)</a:t>
                      </a:r>
                    </a:p>
                  </a:txBody>
                  <a:tcPr marL="64008" marR="64008" marT="36576" marB="36576" anchor="ctr">
                    <a:lnL w="0">
                      <a:noFill/>
                    </a:lnL>
                    <a:lnR w="0">
                      <a:noFill/>
                    </a:lnR>
                    <a:lnT w="0">
                      <a:noFill/>
                    </a:lnT>
                    <a:lnB w="9525">
                      <a:solidFill>
                        <a:srgbClr val="D9DEE3"/>
                      </a:solidFill>
                    </a:lnB>
                    <a:noFill/>
                  </a:tcPr>
                </a:tc>
              </a:tr>
              <a:tr h="384048">
                <a:tc>
                  <a:txBody>
                    <a:bodyPr wrap="square"/>
                    <a:lstStyle/>
                    <a:p>
                      <a:pPr algn="l"/>
                      <a:r>
                        <a:rPr sz="1100" b="1" i="0">
                          <a:solidFill>
                            <a:srgbClr val="222222"/>
                          </a:solidFill>
                          <a:latin typeface="Arial"/>
                        </a:rPr>
                        <a:t>PLTR</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Penalised logistic tree regression: a logistic regression on data-driven threshold rules</a:t>
                      </a:r>
                    </a:p>
                  </a:txBody>
                  <a:tcPr marL="64008" marR="64008" marT="36576" marB="36576" anchor="ctr">
                    <a:lnL w="0">
                      <a:noFill/>
                    </a:lnL>
                    <a:lnR w="0">
                      <a:noFill/>
                    </a:lnR>
                    <a:lnT w="0">
                      <a:noFill/>
                    </a:lnT>
                    <a:lnB w="9525">
                      <a:solidFill>
                        <a:srgbClr val="D9DEE3"/>
                      </a:solidFill>
                    </a:lnB>
                    <a:noFill/>
                  </a:tcPr>
                </a:tc>
              </a:tr>
              <a:tr h="384048">
                <a:tc>
                  <a:txBody>
                    <a:bodyPr wrap="square"/>
                    <a:lstStyle/>
                    <a:p>
                      <a:pPr algn="l"/>
                      <a:r>
                        <a:rPr sz="1100" b="1" i="0">
                          <a:solidFill>
                            <a:srgbClr val="222222"/>
                          </a:solidFill>
                          <a:latin typeface="Arial"/>
                        </a:rPr>
                        <a:t>χ² (selection)</a:t>
                      </a:r>
                    </a:p>
                  </a:txBody>
                  <a:tcPr marL="64008" marR="64008" marT="36576" marB="36576" anchor="ctr">
                    <a:lnL w="0">
                      <a:noFill/>
                    </a:lnL>
                    <a:lnR w="0">
                      <a:noFill/>
                    </a:lnR>
                    <a:lnT w="0">
                      <a:noFill/>
                    </a:lnT>
                    <a:lnB w="9525">
                      <a:solidFill>
                        <a:srgbClr val="D9DEE3"/>
                      </a:solidFill>
                    </a:lnB>
                    <a:noFill/>
                  </a:tcPr>
                </a:tc>
                <a:tc>
                  <a:txBody>
                    <a:bodyPr wrap="square"/>
                    <a:lstStyle/>
                    <a:p>
                      <a:pPr algn="l"/>
                      <a:r>
                        <a:rPr sz="1100" b="0" i="0">
                          <a:solidFill>
                            <a:srgbClr val="222222"/>
                          </a:solidFill>
                          <a:latin typeface="Arial"/>
                        </a:rPr>
                        <a:t>Test that the share flagged is independent of the driver's race</a:t>
                      </a:r>
                    </a:p>
                  </a:txBody>
                  <a:tcPr marL="64008" marR="64008" marT="36576" marB="36576" anchor="ctr">
                    <a:lnL w="0">
                      <a:noFill/>
                    </a:lnL>
                    <a:lnR w="0">
                      <a:noFill/>
                    </a:lnR>
                    <a:lnT w="0">
                      <a:noFill/>
                    </a:lnT>
                    <a:lnB w="9525">
                      <a:solidFill>
                        <a:srgbClr val="D9DEE3"/>
                      </a:solidFill>
                    </a:lnB>
                    <a:no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